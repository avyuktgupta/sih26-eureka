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9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821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42" y="97104"/>
            <a:ext cx="4134357" cy="3331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492488"/>
            <a:ext cx="3349751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73880" y="0"/>
            <a:ext cx="78181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6644" y="6338703"/>
            <a:ext cx="219669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383669" y="6338703"/>
            <a:ext cx="1392578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776247" y="6342301"/>
            <a:ext cx="429207" cy="365125"/>
          </a:xfrm>
        </p:spPr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1118749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09862"/>
            <a:ext cx="10963656" cy="451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2219474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88841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88841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424272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343955"/>
            <a:ext cx="210048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67853" y="6343955"/>
            <a:ext cx="14751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D8BD707-D9CF-40AE-B4C6-C98DA3205C0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066" y="6343955"/>
            <a:ext cx="429207" cy="365125"/>
          </a:xfrm>
        </p:spPr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1573691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1143000"/>
            <a:ext cx="8683753" cy="30951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498848"/>
            <a:ext cx="6881457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6343955"/>
            <a:ext cx="2875064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18999672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58" y="1869103"/>
            <a:ext cx="9337042" cy="4906929"/>
          </a:xfrm>
        </p:spPr>
        <p:txBody>
          <a:bodyPr>
            <a:normAutofit/>
          </a:bodyPr>
          <a:lstStyle>
            <a:lvl1pPr>
              <a:defRPr sz="7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3055483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11" y="105196"/>
            <a:ext cx="9023561" cy="2113392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3654734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1011" y="73742"/>
            <a:ext cx="6863496" cy="2220726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4565591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8000" y="2726267"/>
            <a:ext cx="5916507" cy="343678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88000" y="6343955"/>
            <a:ext cx="29854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1299489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388700"/>
            <a:ext cx="3923455" cy="408358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1389134"/>
            <a:ext cx="6045390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1849752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3186123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11" y="612648"/>
            <a:ext cx="6426389" cy="1143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368" y="1978488"/>
            <a:ext cx="6418935" cy="4285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010" y="6343955"/>
            <a:ext cx="336490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275765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8" y="474177"/>
            <a:ext cx="6950232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1627632"/>
            <a:ext cx="6950232" cy="4686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8" y="6343955"/>
            <a:ext cx="342290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3437554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75488"/>
            <a:ext cx="6858000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627632"/>
            <a:ext cx="6858000" cy="4535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44534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20623"/>
            <a:ext cx="4494189" cy="13258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975104"/>
            <a:ext cx="4494063" cy="4156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3651" y="6343955"/>
            <a:ext cx="1573037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6658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959483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429768"/>
            <a:ext cx="3657600" cy="166722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3" y="2315569"/>
            <a:ext cx="3657600" cy="3814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3447" y="6343955"/>
            <a:ext cx="949766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53213" y="6343955"/>
            <a:ext cx="429207" cy="365125"/>
          </a:xfrm>
        </p:spPr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95088" y="0"/>
            <a:ext cx="729691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198964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929554"/>
            <a:ext cx="2699254" cy="185894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343955"/>
            <a:ext cx="140446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D8BD707-D9CF-40AE-B4C6-C98DA3205C0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23929754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162318"/>
            <a:ext cx="3044954" cy="1892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4162318"/>
            <a:ext cx="7460029" cy="20915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8932059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12398"/>
            <a:ext cx="4637269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37221" y="1912938"/>
            <a:ext cx="5741992" cy="422433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25148620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6802"/>
            <a:ext cx="4672584" cy="12694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0468" y="2173850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3" y="732155"/>
            <a:ext cx="5676838" cy="5405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34542714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484094"/>
            <a:ext cx="10543032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41835727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264" y="42335"/>
            <a:ext cx="11517039" cy="61722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/>
            </a:lvl1pPr>
            <a:lvl2pPr marL="228600" indent="0">
              <a:lnSpc>
                <a:spcPct val="90000"/>
              </a:lnSpc>
              <a:buNone/>
              <a:defRPr sz="72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54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33155105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9200"/>
            <a:ext cx="9198864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3324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36601311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741152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8563" y="1825625"/>
            <a:ext cx="507523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31416825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12064"/>
            <a:ext cx="10745788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87600"/>
            <a:ext cx="5075238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0468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832" y="2387600"/>
            <a:ext cx="5075556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33422887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963656" cy="96926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34036448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38695356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" y="89808"/>
            <a:ext cx="11462003" cy="2514600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118757"/>
            <a:ext cx="10963528" cy="2620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235581512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60800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14123123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rgbClr val="1F487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1198995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10963655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09862"/>
            <a:ext cx="10963656" cy="4513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24337753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  <p:sldLayoutId id="2147483810" r:id="rId12"/>
    <p:sldLayoutId id="2147483811" r:id="rId13"/>
    <p:sldLayoutId id="2147483812" r:id="rId14"/>
    <p:sldLayoutId id="2147483813" r:id="rId15"/>
    <p:sldLayoutId id="2147483814" r:id="rId16"/>
    <p:sldLayoutId id="2147483815" r:id="rId17"/>
    <p:sldLayoutId id="2147483816" r:id="rId18"/>
    <p:sldLayoutId id="2147483817" r:id="rId19"/>
    <p:sldLayoutId id="2147483818" r:id="rId20"/>
    <p:sldLayoutId id="2147483819" r:id="rId21"/>
    <p:sldLayoutId id="2147483820" r:id="rId22"/>
    <p:sldLayoutId id="2147483821" r:id="rId23"/>
    <p:sldLayoutId id="2147483822" r:id="rId24"/>
    <p:sldLayoutId id="2147483823" r:id="rId25"/>
    <p:sldLayoutId id="2147483824" r:id="rId26"/>
    <p:sldLayoutId id="2147483825" r:id="rId27"/>
    <p:sldLayoutId id="2147483826" r:id="rId28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3386137" y="456988"/>
            <a:ext cx="5419725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4000" spc="-85" dirty="0">
                <a:solidFill>
                  <a:schemeClr val="bg2">
                    <a:lumMod val="10000"/>
                    <a:lumOff val="90000"/>
                  </a:schemeClr>
                </a:solidFill>
              </a:rPr>
              <a:t>Project Based Learning - III</a:t>
            </a:r>
            <a:endParaRPr sz="4000" spc="-20" dirty="0">
              <a:solidFill>
                <a:schemeClr val="bg2">
                  <a:lumMod val="10000"/>
                  <a:lumOff val="90000"/>
                </a:schemeClr>
              </a:solidFill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1013" y="2607203"/>
            <a:ext cx="5767074" cy="3029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0" indent="-190500">
              <a:lnSpc>
                <a:spcPct val="100000"/>
              </a:lnSpc>
              <a:buChar char="•"/>
              <a:tabLst>
                <a:tab pos="203200" algn="l"/>
              </a:tabLst>
            </a:pPr>
            <a:r>
              <a:rPr lang="en-US" sz="2800" b="1" dirty="0">
                <a:solidFill>
                  <a:schemeClr val="bg2">
                    <a:lumMod val="10000"/>
                    <a:lumOff val="90000"/>
                  </a:schemeClr>
                </a:solidFill>
                <a:cs typeface="Arial"/>
              </a:rPr>
              <a:t>Name</a:t>
            </a:r>
            <a:r>
              <a:rPr lang="en-IN" sz="2800" b="1" spc="25" dirty="0">
                <a:solidFill>
                  <a:schemeClr val="bg2">
                    <a:lumMod val="10000"/>
                    <a:lumOff val="90000"/>
                  </a:schemeClr>
                </a:solidFill>
                <a:cs typeface="Arial"/>
              </a:rPr>
              <a:t> </a:t>
            </a:r>
            <a:r>
              <a:rPr lang="en-IN" sz="2800" b="1" dirty="0">
                <a:solidFill>
                  <a:schemeClr val="bg2">
                    <a:lumMod val="10000"/>
                    <a:lumOff val="90000"/>
                  </a:schemeClr>
                </a:solidFill>
                <a:cs typeface="Arial"/>
              </a:rPr>
              <a:t>–</a:t>
            </a:r>
            <a:r>
              <a:rPr lang="en-US" sz="2800" dirty="0">
                <a:solidFill>
                  <a:schemeClr val="bg2">
                    <a:lumMod val="10000"/>
                    <a:lumOff val="90000"/>
                  </a:schemeClr>
                </a:solidFill>
              </a:rPr>
              <a:t>Sat-Nav Hazard Rerouting System</a:t>
            </a:r>
          </a:p>
          <a:p>
            <a:pPr marL="203200" indent="-190500">
              <a:lnSpc>
                <a:spcPct val="100000"/>
              </a:lnSpc>
              <a:buChar char="•"/>
              <a:tabLst>
                <a:tab pos="203200" algn="l"/>
              </a:tabLst>
            </a:pPr>
            <a:endParaRPr lang="en-US" sz="2800" dirty="0">
              <a:solidFill>
                <a:schemeClr val="bg2">
                  <a:lumMod val="10000"/>
                  <a:lumOff val="90000"/>
                </a:schemeClr>
              </a:solidFill>
            </a:endParaRPr>
          </a:p>
          <a:p>
            <a:pPr marL="203200" indent="-190500">
              <a:lnSpc>
                <a:spcPct val="100000"/>
              </a:lnSpc>
              <a:buChar char="•"/>
              <a:tabLst>
                <a:tab pos="203200" algn="l"/>
              </a:tabLst>
            </a:pPr>
            <a:r>
              <a:rPr sz="2800" b="1" dirty="0">
                <a:solidFill>
                  <a:schemeClr val="bg2">
                    <a:lumMod val="10000"/>
                    <a:lumOff val="90000"/>
                  </a:schemeClr>
                </a:solidFill>
                <a:cs typeface="Arial"/>
              </a:rPr>
              <a:t>Problem</a:t>
            </a:r>
            <a:r>
              <a:rPr sz="2800" b="1" spc="20" dirty="0">
                <a:solidFill>
                  <a:schemeClr val="bg2">
                    <a:lumMod val="10000"/>
                    <a:lumOff val="90000"/>
                  </a:schemeClr>
                </a:solidFill>
                <a:cs typeface="Arial"/>
              </a:rPr>
              <a:t> </a:t>
            </a:r>
            <a:r>
              <a:rPr sz="2800" b="1" dirty="0">
                <a:solidFill>
                  <a:schemeClr val="bg2">
                    <a:lumMod val="10000"/>
                    <a:lumOff val="90000"/>
                  </a:schemeClr>
                </a:solidFill>
                <a:cs typeface="Arial"/>
              </a:rPr>
              <a:t>Statement</a:t>
            </a:r>
            <a:r>
              <a:rPr sz="2800" b="1" spc="25" dirty="0">
                <a:solidFill>
                  <a:schemeClr val="bg2">
                    <a:lumMod val="10000"/>
                    <a:lumOff val="90000"/>
                  </a:schemeClr>
                </a:solidFill>
                <a:cs typeface="Arial"/>
              </a:rPr>
              <a:t> </a:t>
            </a:r>
            <a:r>
              <a:rPr sz="2800" b="1" dirty="0">
                <a:solidFill>
                  <a:schemeClr val="bg2">
                    <a:lumMod val="10000"/>
                    <a:lumOff val="90000"/>
                  </a:schemeClr>
                </a:solidFill>
                <a:cs typeface="Arial"/>
              </a:rPr>
              <a:t>–</a:t>
            </a:r>
            <a:r>
              <a:rPr sz="2800" b="1" spc="20" dirty="0">
                <a:solidFill>
                  <a:schemeClr val="bg2">
                    <a:lumMod val="10000"/>
                    <a:lumOff val="90000"/>
                  </a:schemeClr>
                </a:solidFill>
                <a:cs typeface="Arial"/>
              </a:rPr>
              <a:t> </a:t>
            </a:r>
            <a:r>
              <a:rPr lang="en-US" sz="2800" dirty="0">
                <a:solidFill>
                  <a:schemeClr val="bg2">
                    <a:lumMod val="10000"/>
                    <a:lumOff val="90000"/>
                  </a:schemeClr>
                </a:solidFill>
                <a:cs typeface="Arial MT"/>
              </a:rPr>
              <a:t>Adaptive Path Planning and Collision Avoidance for Autonomous Vehicles on Unstructured Indian Roads</a:t>
            </a:r>
            <a:endParaRPr sz="2800" dirty="0">
              <a:solidFill>
                <a:schemeClr val="bg2">
                  <a:lumMod val="10000"/>
                  <a:lumOff val="90000"/>
                </a:schemeClr>
              </a:solidFill>
              <a:cs typeface="Arial MT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/>
          <p:nvPr/>
        </p:nvSpPr>
        <p:spPr>
          <a:xfrm>
            <a:off x="459902" y="2233146"/>
            <a:ext cx="38608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47465" algn="l"/>
              </a:tabLst>
            </a:pPr>
            <a:r>
              <a:rPr sz="2500" b="1" dirty="0">
                <a:solidFill>
                  <a:schemeClr val="bg2">
                    <a:lumMod val="10000"/>
                    <a:lumOff val="90000"/>
                  </a:schemeClr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PROPOSED</a:t>
            </a:r>
            <a:r>
              <a:rPr sz="2500" b="1" spc="-10" dirty="0">
                <a:solidFill>
                  <a:schemeClr val="bg2">
                    <a:lumMod val="10000"/>
                    <a:lumOff val="90000"/>
                  </a:schemeClr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SOLUTION</a:t>
            </a:r>
            <a:r>
              <a:rPr lang="en-US" sz="2500" b="1" spc="-10" dirty="0">
                <a:solidFill>
                  <a:schemeClr val="bg2">
                    <a:lumMod val="10000"/>
                    <a:lumOff val="90000"/>
                  </a:schemeClr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-</a:t>
            </a:r>
            <a:r>
              <a:rPr sz="2500" b="1" dirty="0">
                <a:solidFill>
                  <a:schemeClr val="bg2">
                    <a:lumMod val="10000"/>
                    <a:lumOff val="90000"/>
                  </a:schemeClr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2500" dirty="0">
              <a:solidFill>
                <a:schemeClr val="bg2">
                  <a:lumMod val="10000"/>
                  <a:lumOff val="9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08000" y="2857500"/>
            <a:ext cx="3492500" cy="1841500"/>
          </a:xfrm>
          <a:custGeom>
            <a:avLst/>
            <a:gdLst/>
            <a:ahLst/>
            <a:cxnLst/>
            <a:rect l="l" t="t" r="r" b="b"/>
            <a:pathLst>
              <a:path w="3492500" h="1841500">
                <a:moveTo>
                  <a:pt x="3365500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1714500"/>
                </a:lnTo>
                <a:lnTo>
                  <a:pt x="9971" y="1763961"/>
                </a:lnTo>
                <a:lnTo>
                  <a:pt x="37172" y="1804327"/>
                </a:lnTo>
                <a:lnTo>
                  <a:pt x="77538" y="1831528"/>
                </a:lnTo>
                <a:lnTo>
                  <a:pt x="127000" y="1841500"/>
                </a:lnTo>
                <a:lnTo>
                  <a:pt x="3365500" y="1841500"/>
                </a:lnTo>
                <a:lnTo>
                  <a:pt x="3414961" y="1831528"/>
                </a:lnTo>
                <a:lnTo>
                  <a:pt x="3455327" y="1804327"/>
                </a:lnTo>
                <a:lnTo>
                  <a:pt x="3482528" y="1763961"/>
                </a:lnTo>
                <a:lnTo>
                  <a:pt x="3492500" y="1714500"/>
                </a:lnTo>
                <a:lnTo>
                  <a:pt x="3492500" y="127000"/>
                </a:lnTo>
                <a:lnTo>
                  <a:pt x="3482528" y="77538"/>
                </a:lnTo>
                <a:lnTo>
                  <a:pt x="3455327" y="37172"/>
                </a:lnTo>
                <a:lnTo>
                  <a:pt x="3414961" y="9971"/>
                </a:lnTo>
                <a:lnTo>
                  <a:pt x="3365500" y="0"/>
                </a:lnTo>
                <a:close/>
              </a:path>
            </a:pathLst>
          </a:custGeom>
          <a:solidFill>
            <a:srgbClr val="E9F2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73100" y="2946400"/>
            <a:ext cx="99949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235289"/>
                </a:solidFill>
                <a:latin typeface="Arial"/>
                <a:cs typeface="Arial"/>
              </a:rPr>
              <a:t>1</a:t>
            </a:r>
            <a:r>
              <a:rPr sz="1500" b="1" spc="400" dirty="0">
                <a:solidFill>
                  <a:srgbClr val="235289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235289"/>
                </a:solidFill>
                <a:latin typeface="Arial"/>
                <a:cs typeface="Arial"/>
              </a:rPr>
              <a:t>DETECT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0400" y="3246120"/>
            <a:ext cx="2910205" cy="914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0" marR="5080" indent="-177800">
              <a:lnSpc>
                <a:spcPct val="109000"/>
              </a:lnSpc>
              <a:spcBef>
                <a:spcPts val="100"/>
              </a:spcBef>
              <a:buFont typeface="Arial"/>
              <a:buChar char="•"/>
              <a:tabLst>
                <a:tab pos="190500" algn="l"/>
              </a:tabLst>
            </a:pP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Ingest</a:t>
            </a:r>
            <a:r>
              <a:rPr sz="1300" spc="-5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weather,</a:t>
            </a:r>
            <a:r>
              <a:rPr sz="1300" spc="-5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terrain/DEM,</a:t>
            </a:r>
            <a:r>
              <a:rPr sz="1300" spc="-5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12121"/>
                </a:solidFill>
                <a:latin typeface="Arial MT"/>
                <a:cs typeface="Arial MT"/>
              </a:rPr>
              <a:t>satellite </a:t>
            </a: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sz="1300" spc="-3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12121"/>
                </a:solidFill>
                <a:latin typeface="Arial MT"/>
                <a:cs typeface="Arial MT"/>
              </a:rPr>
              <a:t>on-</a:t>
            </a: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road</a:t>
            </a:r>
            <a:r>
              <a:rPr sz="1300" spc="-3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perception</a:t>
            </a:r>
            <a:r>
              <a:rPr sz="1300" spc="-3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12121"/>
                </a:solidFill>
                <a:latin typeface="Arial MT"/>
                <a:cs typeface="Arial MT"/>
              </a:rPr>
              <a:t>data.</a:t>
            </a:r>
            <a:endParaRPr sz="1300">
              <a:latin typeface="Arial MT"/>
              <a:cs typeface="Arial MT"/>
            </a:endParaRPr>
          </a:p>
          <a:p>
            <a:pPr marL="190500" marR="187960" indent="-177800">
              <a:lnSpc>
                <a:spcPct val="109000"/>
              </a:lnSpc>
              <a:spcBef>
                <a:spcPts val="200"/>
              </a:spcBef>
              <a:buFont typeface="Arial"/>
              <a:buChar char="•"/>
              <a:tabLst>
                <a:tab pos="190500" algn="l"/>
              </a:tabLst>
            </a:pP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Analyse</a:t>
            </a:r>
            <a:r>
              <a:rPr sz="1300" spc="-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a</a:t>
            </a:r>
            <a:r>
              <a:rPr sz="1300" spc="-10" dirty="0">
                <a:solidFill>
                  <a:srgbClr val="212121"/>
                </a:solidFill>
                <a:latin typeface="Arial MT"/>
                <a:cs typeface="Arial MT"/>
              </a:rPr>
              <a:t> 10–</a:t>
            </a: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20</a:t>
            </a:r>
            <a:r>
              <a:rPr sz="1300" spc="-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km</a:t>
            </a:r>
            <a:r>
              <a:rPr sz="1300" spc="-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route</a:t>
            </a:r>
            <a:r>
              <a:rPr sz="1300" spc="-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12121"/>
                </a:solidFill>
                <a:latin typeface="Arial MT"/>
                <a:cs typeface="Arial MT"/>
              </a:rPr>
              <a:t>corridor </a:t>
            </a: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using</a:t>
            </a:r>
            <a:r>
              <a:rPr sz="1300" spc="-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12121"/>
                </a:solidFill>
                <a:latin typeface="Arial MT"/>
                <a:cs typeface="Arial MT"/>
              </a:rPr>
              <a:t>H3</a:t>
            </a:r>
            <a:r>
              <a:rPr sz="1300" spc="-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12121"/>
                </a:solidFill>
                <a:latin typeface="Arial MT"/>
                <a:cs typeface="Arial MT"/>
              </a:rPr>
              <a:t>tiles.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343400" y="2857500"/>
            <a:ext cx="3492500" cy="1841500"/>
          </a:xfrm>
          <a:custGeom>
            <a:avLst/>
            <a:gdLst/>
            <a:ahLst/>
            <a:cxnLst/>
            <a:rect l="l" t="t" r="r" b="b"/>
            <a:pathLst>
              <a:path w="3492500" h="1841500">
                <a:moveTo>
                  <a:pt x="3365500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1714500"/>
                </a:lnTo>
                <a:lnTo>
                  <a:pt x="9971" y="1763961"/>
                </a:lnTo>
                <a:lnTo>
                  <a:pt x="37172" y="1804327"/>
                </a:lnTo>
                <a:lnTo>
                  <a:pt x="77538" y="1831528"/>
                </a:lnTo>
                <a:lnTo>
                  <a:pt x="127000" y="1841500"/>
                </a:lnTo>
                <a:lnTo>
                  <a:pt x="3365500" y="1841500"/>
                </a:lnTo>
                <a:lnTo>
                  <a:pt x="3414961" y="1831528"/>
                </a:lnTo>
                <a:lnTo>
                  <a:pt x="3455327" y="1804327"/>
                </a:lnTo>
                <a:lnTo>
                  <a:pt x="3482528" y="1763961"/>
                </a:lnTo>
                <a:lnTo>
                  <a:pt x="3492500" y="1714500"/>
                </a:lnTo>
                <a:lnTo>
                  <a:pt x="3492500" y="127000"/>
                </a:lnTo>
                <a:lnTo>
                  <a:pt x="3482528" y="77538"/>
                </a:lnTo>
                <a:lnTo>
                  <a:pt x="3455327" y="37172"/>
                </a:lnTo>
                <a:lnTo>
                  <a:pt x="3414961" y="9971"/>
                </a:lnTo>
                <a:lnTo>
                  <a:pt x="3365500" y="0"/>
                </a:lnTo>
                <a:close/>
              </a:path>
            </a:pathLst>
          </a:custGeom>
          <a:solidFill>
            <a:srgbClr val="EDF6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508500" y="2946400"/>
            <a:ext cx="101028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6725B"/>
                </a:solidFill>
                <a:latin typeface="Arial"/>
                <a:cs typeface="Arial"/>
              </a:rPr>
              <a:t>2</a:t>
            </a:r>
            <a:r>
              <a:rPr sz="1500" b="1" spc="400" dirty="0">
                <a:solidFill>
                  <a:srgbClr val="16725B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16725B"/>
                </a:solidFill>
                <a:latin typeface="Arial"/>
                <a:cs typeface="Arial"/>
              </a:rPr>
              <a:t>ASSESS</a:t>
            </a:r>
            <a:endParaRPr sz="15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95800" y="3266440"/>
            <a:ext cx="3134995" cy="1234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0" marR="5080" indent="-177800">
              <a:lnSpc>
                <a:spcPct val="105600"/>
              </a:lnSpc>
              <a:spcBef>
                <a:spcPts val="100"/>
              </a:spcBef>
              <a:buFont typeface="Arial"/>
              <a:buChar char="•"/>
              <a:tabLst>
                <a:tab pos="190500" algn="l"/>
              </a:tabLst>
            </a:pP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GBMs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score</a:t>
            </a:r>
            <a:r>
              <a:rPr sz="120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landslide,</a:t>
            </a:r>
            <a:r>
              <a:rPr sz="120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flood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sz="120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avalanche risk.</a:t>
            </a:r>
            <a:endParaRPr sz="1200">
              <a:latin typeface="Arial MT"/>
              <a:cs typeface="Arial MT"/>
            </a:endParaRPr>
          </a:p>
          <a:p>
            <a:pPr marL="190500" marR="200025" indent="-177800">
              <a:lnSpc>
                <a:spcPct val="105600"/>
              </a:lnSpc>
              <a:spcBef>
                <a:spcPts val="195"/>
              </a:spcBef>
              <a:buFont typeface="Arial"/>
              <a:buChar char="•"/>
              <a:tabLst>
                <a:tab pos="190500" algn="l"/>
              </a:tabLst>
            </a:pP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CNN handles glacier/GLOF imagery </a:t>
            </a:r>
            <a:r>
              <a:rPr sz="1200" spc="-25" dirty="0">
                <a:solidFill>
                  <a:srgbClr val="212121"/>
                </a:solidFill>
                <a:latin typeface="Arial MT"/>
                <a:cs typeface="Arial MT"/>
              </a:rPr>
              <a:t>and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obstacle/lane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perception.</a:t>
            </a:r>
            <a:endParaRPr sz="1200">
              <a:latin typeface="Arial MT"/>
              <a:cs typeface="Arial MT"/>
            </a:endParaRPr>
          </a:p>
          <a:p>
            <a:pPr marL="190500" marR="241935" indent="-177800">
              <a:lnSpc>
                <a:spcPct val="105600"/>
              </a:lnSpc>
              <a:spcBef>
                <a:spcPts val="200"/>
              </a:spcBef>
              <a:buFont typeface="Arial"/>
              <a:buChar char="•"/>
              <a:tabLst>
                <a:tab pos="190500" algn="l"/>
              </a:tabLst>
            </a:pP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Fuse probability, severity, exposure </a:t>
            </a:r>
            <a:r>
              <a:rPr sz="1200" spc="-25" dirty="0">
                <a:solidFill>
                  <a:srgbClr val="212121"/>
                </a:solidFill>
                <a:latin typeface="Arial MT"/>
                <a:cs typeface="Arial MT"/>
              </a:rPr>
              <a:t>and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confidence; hysteresis filters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noise.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178800" y="2857500"/>
            <a:ext cx="3492500" cy="1841500"/>
          </a:xfrm>
          <a:custGeom>
            <a:avLst/>
            <a:gdLst/>
            <a:ahLst/>
            <a:cxnLst/>
            <a:rect l="l" t="t" r="r" b="b"/>
            <a:pathLst>
              <a:path w="3492500" h="1841500">
                <a:moveTo>
                  <a:pt x="3365500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1714500"/>
                </a:lnTo>
                <a:lnTo>
                  <a:pt x="9971" y="1763961"/>
                </a:lnTo>
                <a:lnTo>
                  <a:pt x="37172" y="1804327"/>
                </a:lnTo>
                <a:lnTo>
                  <a:pt x="77538" y="1831528"/>
                </a:lnTo>
                <a:lnTo>
                  <a:pt x="127000" y="1841500"/>
                </a:lnTo>
                <a:lnTo>
                  <a:pt x="3365500" y="1841500"/>
                </a:lnTo>
                <a:lnTo>
                  <a:pt x="3414961" y="1831528"/>
                </a:lnTo>
                <a:lnTo>
                  <a:pt x="3455327" y="1804327"/>
                </a:lnTo>
                <a:lnTo>
                  <a:pt x="3482528" y="1763961"/>
                </a:lnTo>
                <a:lnTo>
                  <a:pt x="3492500" y="1714500"/>
                </a:lnTo>
                <a:lnTo>
                  <a:pt x="3492500" y="127000"/>
                </a:lnTo>
                <a:lnTo>
                  <a:pt x="3482528" y="77538"/>
                </a:lnTo>
                <a:lnTo>
                  <a:pt x="3455327" y="37172"/>
                </a:lnTo>
                <a:lnTo>
                  <a:pt x="3414961" y="9971"/>
                </a:lnTo>
                <a:lnTo>
                  <a:pt x="3365500" y="0"/>
                </a:lnTo>
                <a:close/>
              </a:path>
            </a:pathLst>
          </a:custGeom>
          <a:solidFill>
            <a:srgbClr val="FFF2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8343900" y="2946400"/>
            <a:ext cx="202120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A05900"/>
                </a:solidFill>
                <a:latin typeface="Arial"/>
                <a:cs typeface="Arial"/>
              </a:rPr>
              <a:t>3</a:t>
            </a:r>
            <a:r>
              <a:rPr sz="1500" b="1" spc="370" dirty="0">
                <a:solidFill>
                  <a:srgbClr val="A05900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A05900"/>
                </a:solidFill>
                <a:latin typeface="Arial"/>
                <a:cs typeface="Arial"/>
              </a:rPr>
              <a:t>REROUTE</a:t>
            </a:r>
            <a:r>
              <a:rPr sz="1500" b="1" spc="-20" dirty="0">
                <a:solidFill>
                  <a:srgbClr val="A05900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A05900"/>
                </a:solidFill>
                <a:latin typeface="Arial"/>
                <a:cs typeface="Arial"/>
              </a:rPr>
              <a:t>+</a:t>
            </a:r>
            <a:r>
              <a:rPr sz="1500" b="1" spc="-20" dirty="0">
                <a:solidFill>
                  <a:srgbClr val="A05900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A05900"/>
                </a:solidFill>
                <a:latin typeface="Arial"/>
                <a:cs typeface="Arial"/>
              </a:rPr>
              <a:t>ALERT</a:t>
            </a:r>
            <a:endParaRPr sz="15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331200" y="3266440"/>
            <a:ext cx="2990850" cy="1234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0" marR="216535" indent="-177800">
              <a:lnSpc>
                <a:spcPct val="105600"/>
              </a:lnSpc>
              <a:spcBef>
                <a:spcPts val="100"/>
              </a:spcBef>
              <a:buFont typeface="Arial"/>
              <a:buChar char="•"/>
              <a:tabLst>
                <a:tab pos="190500" algn="l"/>
              </a:tabLst>
            </a:pP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OSRM/Valhalla treats fused risk as </a:t>
            </a:r>
            <a:r>
              <a:rPr sz="1200" spc="-25" dirty="0">
                <a:solidFill>
                  <a:srgbClr val="212121"/>
                </a:solidFill>
                <a:latin typeface="Arial MT"/>
                <a:cs typeface="Arial MT"/>
              </a:rPr>
              <a:t>an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edge-weight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penalty.</a:t>
            </a:r>
            <a:endParaRPr sz="1200">
              <a:latin typeface="Arial MT"/>
              <a:cs typeface="Arial MT"/>
            </a:endParaRPr>
          </a:p>
          <a:p>
            <a:pPr marL="190500" marR="51435" indent="-177800">
              <a:lnSpc>
                <a:spcPct val="105600"/>
              </a:lnSpc>
              <a:spcBef>
                <a:spcPts val="195"/>
              </a:spcBef>
              <a:buFont typeface="Arial"/>
              <a:buChar char="•"/>
              <a:tabLst>
                <a:tab pos="190500" algn="l"/>
              </a:tabLst>
            </a:pP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Reroute only after threshold +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hysteresis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confirm a real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transition.</a:t>
            </a:r>
            <a:endParaRPr sz="1200">
              <a:latin typeface="Arial MT"/>
              <a:cs typeface="Arial MT"/>
            </a:endParaRPr>
          </a:p>
          <a:p>
            <a:pPr marL="190500" marR="5080" indent="-177800">
              <a:lnSpc>
                <a:spcPct val="105600"/>
              </a:lnSpc>
              <a:spcBef>
                <a:spcPts val="200"/>
              </a:spcBef>
              <a:buFont typeface="Arial"/>
              <a:buChar char="•"/>
              <a:tabLst>
                <a:tab pos="190500" algn="l"/>
              </a:tabLst>
            </a:pP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Local LLM produces schema-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constrained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JSON alerts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only.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8000" y="5334000"/>
            <a:ext cx="10312400" cy="661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3200"/>
              </a:lnSpc>
              <a:spcBef>
                <a:spcPts val="100"/>
              </a:spcBef>
            </a:pPr>
            <a:r>
              <a:rPr dirty="0">
                <a:solidFill>
                  <a:schemeClr val="bg2">
                    <a:lumMod val="10000"/>
                    <a:lumOff val="90000"/>
                  </a:schemeClr>
                </a:solidFill>
                <a:latin typeface="Arial MT"/>
                <a:cs typeface="Arial MT"/>
              </a:rPr>
              <a:t>Innovation:</a:t>
            </a:r>
            <a:r>
              <a:rPr spc="-20" dirty="0">
                <a:solidFill>
                  <a:schemeClr val="bg2">
                    <a:lumMod val="10000"/>
                    <a:lumOff val="90000"/>
                  </a:schemeClr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chemeClr val="bg2">
                    <a:lumMod val="10000"/>
                    <a:lumOff val="90000"/>
                  </a:schemeClr>
                </a:solidFill>
                <a:latin typeface="Arial MT"/>
                <a:cs typeface="Arial MT"/>
              </a:rPr>
              <a:t>routing</a:t>
            </a:r>
            <a:r>
              <a:rPr spc="-15" dirty="0">
                <a:solidFill>
                  <a:schemeClr val="bg2">
                    <a:lumMod val="10000"/>
                    <a:lumOff val="90000"/>
                  </a:schemeClr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chemeClr val="bg2">
                    <a:lumMod val="10000"/>
                    <a:lumOff val="90000"/>
                  </a:schemeClr>
                </a:solidFill>
                <a:latin typeface="Arial MT"/>
                <a:cs typeface="Arial MT"/>
              </a:rPr>
              <a:t>remains</a:t>
            </a:r>
            <a:r>
              <a:rPr spc="-15" dirty="0">
                <a:solidFill>
                  <a:schemeClr val="bg2">
                    <a:lumMod val="10000"/>
                    <a:lumOff val="90000"/>
                  </a:schemeClr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chemeClr val="bg2">
                    <a:lumMod val="10000"/>
                    <a:lumOff val="90000"/>
                  </a:schemeClr>
                </a:solidFill>
                <a:latin typeface="Arial MT"/>
                <a:cs typeface="Arial MT"/>
              </a:rPr>
              <a:t>deterministic</a:t>
            </a:r>
            <a:r>
              <a:rPr lang="en-US" dirty="0">
                <a:solidFill>
                  <a:schemeClr val="bg2">
                    <a:lumMod val="10000"/>
                    <a:lumOff val="90000"/>
                  </a:schemeClr>
                </a:solidFill>
                <a:latin typeface="Arial MT"/>
                <a:cs typeface="Arial MT"/>
              </a:rPr>
              <a:t>,</a:t>
            </a:r>
            <a:r>
              <a:rPr spc="-20" dirty="0">
                <a:solidFill>
                  <a:schemeClr val="bg2">
                    <a:lumMod val="10000"/>
                    <a:lumOff val="90000"/>
                  </a:schemeClr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chemeClr val="bg2">
                    <a:lumMod val="10000"/>
                    <a:lumOff val="90000"/>
                  </a:schemeClr>
                </a:solidFill>
                <a:latin typeface="Arial MT"/>
                <a:cs typeface="Arial MT"/>
              </a:rPr>
              <a:t>the</a:t>
            </a:r>
            <a:r>
              <a:rPr spc="-15" dirty="0">
                <a:solidFill>
                  <a:schemeClr val="bg2">
                    <a:lumMod val="10000"/>
                    <a:lumOff val="90000"/>
                  </a:schemeClr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chemeClr val="bg2">
                    <a:lumMod val="10000"/>
                    <a:lumOff val="90000"/>
                  </a:schemeClr>
                </a:solidFill>
                <a:latin typeface="Arial MT"/>
                <a:cs typeface="Arial MT"/>
              </a:rPr>
              <a:t>gated</a:t>
            </a:r>
            <a:r>
              <a:rPr spc="-15" dirty="0">
                <a:solidFill>
                  <a:schemeClr val="bg2">
                    <a:lumMod val="10000"/>
                    <a:lumOff val="90000"/>
                  </a:schemeClr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chemeClr val="bg2">
                    <a:lumMod val="10000"/>
                    <a:lumOff val="90000"/>
                  </a:schemeClr>
                </a:solidFill>
                <a:latin typeface="Arial MT"/>
                <a:cs typeface="Arial MT"/>
              </a:rPr>
              <a:t>LLM</a:t>
            </a:r>
            <a:r>
              <a:rPr spc="-20" dirty="0">
                <a:solidFill>
                  <a:schemeClr val="bg2">
                    <a:lumMod val="10000"/>
                    <a:lumOff val="90000"/>
                  </a:schemeClr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chemeClr val="bg2">
                    <a:lumMod val="10000"/>
                    <a:lumOff val="90000"/>
                  </a:schemeClr>
                </a:solidFill>
                <a:latin typeface="Arial MT"/>
                <a:cs typeface="Arial MT"/>
              </a:rPr>
              <a:t>only</a:t>
            </a:r>
            <a:r>
              <a:rPr spc="-15" dirty="0">
                <a:solidFill>
                  <a:schemeClr val="bg2">
                    <a:lumMod val="10000"/>
                    <a:lumOff val="90000"/>
                  </a:schemeClr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chemeClr val="bg2">
                    <a:lumMod val="10000"/>
                    <a:lumOff val="90000"/>
                  </a:schemeClr>
                </a:solidFill>
                <a:latin typeface="Arial MT"/>
                <a:cs typeface="Arial MT"/>
              </a:rPr>
              <a:t>explains</a:t>
            </a:r>
            <a:r>
              <a:rPr spc="-15" dirty="0">
                <a:solidFill>
                  <a:schemeClr val="bg2">
                    <a:lumMod val="10000"/>
                    <a:lumOff val="90000"/>
                  </a:schemeClr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chemeClr val="bg2">
                    <a:lumMod val="10000"/>
                    <a:lumOff val="90000"/>
                  </a:schemeClr>
                </a:solidFill>
                <a:latin typeface="Arial MT"/>
                <a:cs typeface="Arial MT"/>
              </a:rPr>
              <a:t>confirmed</a:t>
            </a:r>
            <a:r>
              <a:rPr spc="-20" dirty="0">
                <a:solidFill>
                  <a:schemeClr val="bg2">
                    <a:lumMod val="10000"/>
                    <a:lumOff val="90000"/>
                  </a:schemeClr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chemeClr val="bg2">
                    <a:lumMod val="10000"/>
                    <a:lumOff val="90000"/>
                  </a:schemeClr>
                </a:solidFill>
                <a:latin typeface="Arial MT"/>
                <a:cs typeface="Arial MT"/>
              </a:rPr>
              <a:t>state</a:t>
            </a:r>
            <a:r>
              <a:rPr spc="-15" dirty="0">
                <a:solidFill>
                  <a:schemeClr val="bg2">
                    <a:lumMod val="10000"/>
                    <a:lumOff val="90000"/>
                  </a:schemeClr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chemeClr val="bg2">
                    <a:lumMod val="10000"/>
                    <a:lumOff val="90000"/>
                  </a:schemeClr>
                </a:solidFill>
                <a:latin typeface="Arial MT"/>
                <a:cs typeface="Arial MT"/>
              </a:rPr>
              <a:t>changes. </a:t>
            </a:r>
            <a:r>
              <a:rPr dirty="0">
                <a:solidFill>
                  <a:schemeClr val="bg2">
                    <a:lumMod val="10000"/>
                    <a:lumOff val="90000"/>
                  </a:schemeClr>
                </a:solidFill>
                <a:latin typeface="Arial MT"/>
                <a:cs typeface="Arial MT"/>
              </a:rPr>
              <a:t>Connectivity</a:t>
            </a:r>
            <a:r>
              <a:rPr spc="-10" dirty="0">
                <a:solidFill>
                  <a:schemeClr val="bg2">
                    <a:lumMod val="10000"/>
                    <a:lumOff val="90000"/>
                  </a:schemeClr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chemeClr val="bg2">
                    <a:lumMod val="10000"/>
                    <a:lumOff val="90000"/>
                  </a:schemeClr>
                </a:solidFill>
                <a:latin typeface="Arial MT"/>
                <a:cs typeface="Arial MT"/>
              </a:rPr>
              <a:t>loss</a:t>
            </a:r>
            <a:r>
              <a:rPr spc="-10" dirty="0">
                <a:solidFill>
                  <a:schemeClr val="bg2">
                    <a:lumMod val="10000"/>
                    <a:lumOff val="90000"/>
                  </a:schemeClr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chemeClr val="bg2">
                    <a:lumMod val="10000"/>
                    <a:lumOff val="90000"/>
                  </a:schemeClr>
                </a:solidFill>
                <a:latin typeface="Arial MT"/>
                <a:cs typeface="Arial MT"/>
              </a:rPr>
              <a:t>triggers</a:t>
            </a:r>
            <a:r>
              <a:rPr spc="-10" dirty="0">
                <a:solidFill>
                  <a:schemeClr val="bg2">
                    <a:lumMod val="10000"/>
                    <a:lumOff val="90000"/>
                  </a:schemeClr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chemeClr val="bg2">
                    <a:lumMod val="10000"/>
                    <a:lumOff val="90000"/>
                  </a:schemeClr>
                </a:solidFill>
                <a:latin typeface="Arial MT"/>
                <a:cs typeface="Arial MT"/>
              </a:rPr>
              <a:t>last-known</a:t>
            </a:r>
            <a:r>
              <a:rPr spc="-10" dirty="0">
                <a:solidFill>
                  <a:schemeClr val="bg2">
                    <a:lumMod val="10000"/>
                    <a:lumOff val="90000"/>
                  </a:schemeClr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chemeClr val="bg2">
                    <a:lumMod val="10000"/>
                    <a:lumOff val="90000"/>
                  </a:schemeClr>
                </a:solidFill>
                <a:latin typeface="Arial MT"/>
                <a:cs typeface="Arial MT"/>
              </a:rPr>
              <a:t>risk</a:t>
            </a:r>
            <a:r>
              <a:rPr spc="-5" dirty="0">
                <a:solidFill>
                  <a:schemeClr val="bg2">
                    <a:lumMod val="10000"/>
                    <a:lumOff val="90000"/>
                  </a:schemeClr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chemeClr val="bg2">
                    <a:lumMod val="10000"/>
                    <a:lumOff val="90000"/>
                  </a:schemeClr>
                </a:solidFill>
                <a:latin typeface="Arial MT"/>
                <a:cs typeface="Arial MT"/>
              </a:rPr>
              <a:t>+</a:t>
            </a:r>
            <a:r>
              <a:rPr spc="-10" dirty="0">
                <a:solidFill>
                  <a:schemeClr val="bg2">
                    <a:lumMod val="10000"/>
                    <a:lumOff val="90000"/>
                  </a:schemeClr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chemeClr val="bg2">
                    <a:lumMod val="10000"/>
                    <a:lumOff val="90000"/>
                  </a:schemeClr>
                </a:solidFill>
                <a:latin typeface="Arial MT"/>
                <a:cs typeface="Arial MT"/>
              </a:rPr>
              <a:t>static</a:t>
            </a:r>
            <a:r>
              <a:rPr spc="-10" dirty="0">
                <a:solidFill>
                  <a:schemeClr val="bg2">
                    <a:lumMod val="10000"/>
                    <a:lumOff val="90000"/>
                  </a:schemeClr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chemeClr val="bg2">
                    <a:lumMod val="10000"/>
                    <a:lumOff val="90000"/>
                  </a:schemeClr>
                </a:solidFill>
                <a:latin typeface="Arial MT"/>
                <a:cs typeface="Arial MT"/>
              </a:rPr>
              <a:t>terrain/obstacle</a:t>
            </a:r>
            <a:r>
              <a:rPr spc="-10" dirty="0">
                <a:solidFill>
                  <a:schemeClr val="bg2">
                    <a:lumMod val="10000"/>
                    <a:lumOff val="90000"/>
                  </a:schemeClr>
                </a:solidFill>
                <a:latin typeface="Arial MT"/>
                <a:cs typeface="Arial MT"/>
              </a:rPr>
              <a:t> fallback.</a:t>
            </a:r>
            <a:endParaRPr dirty="0">
              <a:solidFill>
                <a:schemeClr val="bg2">
                  <a:lumMod val="10000"/>
                  <a:lumOff val="90000"/>
                </a:schemeClr>
              </a:solidFill>
              <a:latin typeface="Arial MT"/>
              <a:cs typeface="Arial MT"/>
            </a:endParaRPr>
          </a:p>
        </p:txBody>
      </p:sp>
      <p:sp>
        <p:nvSpPr>
          <p:cNvPr id="29" name="object 29" descr="$PPTXTitle"/>
          <p:cNvSpPr txBox="1">
            <a:spLocks noGrp="1"/>
          </p:cNvSpPr>
          <p:nvPr>
            <p:ph type="title"/>
          </p:nvPr>
        </p:nvSpPr>
        <p:spPr>
          <a:xfrm>
            <a:off x="762000" y="501099"/>
            <a:ext cx="11212479" cy="632224"/>
          </a:xfrm>
          <a:prstGeom prst="rect">
            <a:avLst/>
          </a:prstGeom>
        </p:spPr>
        <p:txBody>
          <a:bodyPr vert="horz" wrap="square" lIns="0" tIns="16510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000" spc="-85" dirty="0">
                <a:solidFill>
                  <a:schemeClr val="bg2">
                    <a:lumMod val="10000"/>
                    <a:lumOff val="90000"/>
                  </a:schemeClr>
                </a:solidFill>
              </a:rPr>
              <a:t>Vehicle Sat-Nav Hazard Detection &amp; Rerouting System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b="1" spc="-50" dirty="0">
                <a:solidFill>
                  <a:schemeClr val="bg2">
                    <a:lumMod val="10000"/>
                    <a:lumOff val="90000"/>
                  </a:schemeClr>
                </a:solidFill>
                <a:latin typeface="Calibri"/>
                <a:cs typeface="Calibri"/>
              </a:rPr>
              <a:pPr marL="38100">
                <a:lnSpc>
                  <a:spcPts val="1240"/>
                </a:lnSpc>
              </a:pPr>
              <a:t>2</a:t>
            </a:fld>
            <a:endParaRPr sz="1200" b="1" spc="-50" dirty="0">
              <a:solidFill>
                <a:schemeClr val="bg2">
                  <a:lumMod val="10000"/>
                  <a:lumOff val="90000"/>
                </a:schemeClr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417819" y="1854472"/>
            <a:ext cx="4724094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12700">
              <a:lnSpc>
                <a:spcPct val="100000"/>
              </a:lnSpc>
              <a:spcBef>
                <a:spcPts val="100"/>
              </a:spcBef>
              <a:tabLst>
                <a:tab pos="3847465" algn="l"/>
              </a:tabLst>
              <a:defRPr sz="2500" b="1">
                <a:solidFill>
                  <a:schemeClr val="bg2">
                    <a:lumMod val="10000"/>
                    <a:lumOff val="90000"/>
                  </a:schemeClr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defRPr>
            </a:lvl1pPr>
          </a:lstStyle>
          <a:p>
            <a:r>
              <a:rPr dirty="0"/>
              <a:t>TECHNOLOGY STACK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71500" y="2378018"/>
            <a:ext cx="3880485" cy="14179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12700" marR="5080">
              <a:lnSpc>
                <a:spcPct val="123200"/>
              </a:lnSpc>
              <a:spcBef>
                <a:spcPts val="100"/>
              </a:spcBef>
              <a:defRPr>
                <a:solidFill>
                  <a:schemeClr val="bg2">
                    <a:lumMod val="10000"/>
                    <a:lumOff val="90000"/>
                  </a:schemeClr>
                </a:solidFill>
                <a:latin typeface="Arial MT"/>
                <a:cs typeface="Arial MT"/>
              </a:defRPr>
            </a:lvl1pPr>
          </a:lstStyle>
          <a:p>
            <a:r>
              <a:rPr sz="1200" dirty="0"/>
              <a:t>Android mobile / in-vehicle client</a:t>
            </a:r>
          </a:p>
          <a:p>
            <a:r>
              <a:rPr sz="1200" dirty="0"/>
              <a:t>OSRM or Valhalla + OpenStreetMap</a:t>
            </a:r>
          </a:p>
          <a:p>
            <a:r>
              <a:rPr sz="1200" dirty="0"/>
              <a:t>H3 + RoadSegmentRisk geospatial store</a:t>
            </a:r>
          </a:p>
          <a:p>
            <a:r>
              <a:rPr sz="1200" dirty="0"/>
              <a:t>XGBoost/LightGBM GBMs; CNN for glacier/GLOF</a:t>
            </a:r>
          </a:p>
          <a:p>
            <a:r>
              <a:rPr sz="1200" dirty="0"/>
              <a:t>Shared time-series risk state</a:t>
            </a:r>
          </a:p>
          <a:p>
            <a:r>
              <a:rPr sz="1200" dirty="0"/>
              <a:t>Local 3–8B quantized LLM (e.g., Ollama), JSON-only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41313" y="4050369"/>
            <a:ext cx="480060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12700">
              <a:lnSpc>
                <a:spcPct val="100000"/>
              </a:lnSpc>
              <a:spcBef>
                <a:spcPts val="100"/>
              </a:spcBef>
              <a:tabLst>
                <a:tab pos="3847465" algn="l"/>
              </a:tabLst>
              <a:defRPr sz="2500" b="1">
                <a:solidFill>
                  <a:schemeClr val="bg2">
                    <a:lumMod val="10000"/>
                    <a:lumOff val="90000"/>
                  </a:schemeClr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defRPr>
            </a:lvl1pPr>
          </a:lstStyle>
          <a:p>
            <a:r>
              <a:rPr dirty="0"/>
              <a:t>IMPLEMENTATION METHOD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71500" y="4555352"/>
            <a:ext cx="3463925" cy="14467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12700" marR="5080">
              <a:lnSpc>
                <a:spcPct val="123200"/>
              </a:lnSpc>
              <a:spcBef>
                <a:spcPts val="100"/>
              </a:spcBef>
              <a:defRPr sz="1200">
                <a:solidFill>
                  <a:schemeClr val="bg2">
                    <a:lumMod val="10000"/>
                    <a:lumOff val="90000"/>
                  </a:schemeClr>
                </a:solidFill>
                <a:latin typeface="Arial MT"/>
                <a:cs typeface="Arial MT"/>
              </a:defRPr>
            </a:lvl1pPr>
          </a:lstStyle>
          <a:p>
            <a:r>
              <a:rPr dirty="0"/>
              <a:t>1. Routing core + corridor/H3 tiling</a:t>
            </a:r>
          </a:p>
          <a:p>
            <a:r>
              <a:rPr dirty="0"/>
              <a:t>2. Landslide GBM end-to-end pipeline</a:t>
            </a:r>
          </a:p>
          <a:p>
            <a:r>
              <a:rPr dirty="0"/>
              <a:t>3. Risk fusion + hysteresis state</a:t>
            </a:r>
          </a:p>
          <a:p>
            <a:r>
              <a:rPr dirty="0"/>
              <a:t>4. Risk-weighted alternate routing</a:t>
            </a:r>
          </a:p>
          <a:p>
            <a:r>
              <a:rPr dirty="0"/>
              <a:t>5. Gated local LLM + structured JSON</a:t>
            </a:r>
          </a:p>
          <a:p>
            <a:r>
              <a:rPr dirty="0"/>
              <a:t>6. Flood, avalanche, glacier CNN + offline fallback</a:t>
            </a:r>
          </a:p>
        </p:txBody>
      </p:sp>
      <p:pic>
        <p:nvPicPr>
          <p:cNvPr id="14" name="object 14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6248400" y="1091479"/>
            <a:ext cx="4735173" cy="5549817"/>
          </a:xfrm>
          <a:prstGeom prst="rect">
            <a:avLst/>
          </a:prstGeom>
        </p:spPr>
      </p:pic>
      <p:sp>
        <p:nvSpPr>
          <p:cNvPr id="22" name="object 2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b="1" spc="-50" dirty="0">
                <a:solidFill>
                  <a:schemeClr val="bg2">
                    <a:lumMod val="10000"/>
                    <a:lumOff val="90000"/>
                  </a:schemeClr>
                </a:solidFill>
                <a:latin typeface="Calibri"/>
                <a:cs typeface="Calibri"/>
              </a:rPr>
              <a:pPr marL="38100">
                <a:lnSpc>
                  <a:spcPts val="1240"/>
                </a:lnSpc>
              </a:pPr>
              <a:t>3</a:t>
            </a:fld>
            <a:endParaRPr sz="1200" b="1" spc="-50" dirty="0">
              <a:solidFill>
                <a:schemeClr val="bg2">
                  <a:lumMod val="10000"/>
                  <a:lumOff val="90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37" name="object 29" descr="$PPTXTitle">
            <a:extLst>
              <a:ext uri="{FF2B5EF4-FFF2-40B4-BE49-F238E27FC236}">
                <a16:creationId xmlns:a16="http://schemas.microsoft.com/office/drawing/2014/main" id="{C8D4B42C-3D12-243C-87A1-B105DB694273}"/>
              </a:ext>
            </a:extLst>
          </p:cNvPr>
          <p:cNvSpPr txBox="1">
            <a:spLocks/>
          </p:cNvSpPr>
          <p:nvPr/>
        </p:nvSpPr>
        <p:spPr>
          <a:xfrm>
            <a:off x="762000" y="501099"/>
            <a:ext cx="11212479" cy="632224"/>
          </a:xfrm>
          <a:prstGeom prst="rect">
            <a:avLst/>
          </a:prstGeom>
        </p:spPr>
        <p:txBody>
          <a:bodyPr vert="horz" wrap="square" lIns="0" tIns="16510" rIns="0" bIns="0" rtlCol="0" anchor="b">
            <a:sp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lang="en-US" sz="2800" b="1" kern="1200" spc="-3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4000" spc="-85">
                <a:solidFill>
                  <a:schemeClr val="bg2">
                    <a:lumMod val="10000"/>
                    <a:lumOff val="90000"/>
                  </a:schemeClr>
                </a:solidFill>
              </a:rPr>
              <a:t>Vehicle Sat-Nav Hazard Detection &amp; Rerouting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533400" y="2413000"/>
            <a:ext cx="3492500" cy="1701800"/>
          </a:xfrm>
          <a:custGeom>
            <a:avLst/>
            <a:gdLst/>
            <a:ahLst/>
            <a:cxnLst/>
            <a:rect l="l" t="t" r="r" b="b"/>
            <a:pathLst>
              <a:path w="3492500" h="1587500">
                <a:moveTo>
                  <a:pt x="3365500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1460500"/>
                </a:lnTo>
                <a:lnTo>
                  <a:pt x="9971" y="1509961"/>
                </a:lnTo>
                <a:lnTo>
                  <a:pt x="37172" y="1550327"/>
                </a:lnTo>
                <a:lnTo>
                  <a:pt x="77538" y="1577528"/>
                </a:lnTo>
                <a:lnTo>
                  <a:pt x="127000" y="1587500"/>
                </a:lnTo>
                <a:lnTo>
                  <a:pt x="3365500" y="1587500"/>
                </a:lnTo>
                <a:lnTo>
                  <a:pt x="3414961" y="1577528"/>
                </a:lnTo>
                <a:lnTo>
                  <a:pt x="3455327" y="1550327"/>
                </a:lnTo>
                <a:lnTo>
                  <a:pt x="3482528" y="1509961"/>
                </a:lnTo>
                <a:lnTo>
                  <a:pt x="3492500" y="1460500"/>
                </a:lnTo>
                <a:lnTo>
                  <a:pt x="3492500" y="127000"/>
                </a:lnTo>
                <a:lnTo>
                  <a:pt x="3482528" y="77538"/>
                </a:lnTo>
                <a:lnTo>
                  <a:pt x="3455327" y="37172"/>
                </a:lnTo>
                <a:lnTo>
                  <a:pt x="3414961" y="9971"/>
                </a:lnTo>
                <a:lnTo>
                  <a:pt x="3365500" y="0"/>
                </a:lnTo>
                <a:close/>
              </a:path>
            </a:pathLst>
          </a:custGeom>
          <a:solidFill>
            <a:srgbClr val="E9F2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98500" y="2501900"/>
            <a:ext cx="9677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235289"/>
                </a:solidFill>
                <a:latin typeface="Arial"/>
                <a:cs typeface="Arial"/>
              </a:rPr>
              <a:t>FEASIBLE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5800" y="2821939"/>
            <a:ext cx="3037205" cy="1041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0" marR="5080" indent="-177800">
              <a:lnSpc>
                <a:spcPct val="105600"/>
              </a:lnSpc>
              <a:spcBef>
                <a:spcPts val="100"/>
              </a:spcBef>
              <a:buFont typeface="Arial"/>
              <a:buChar char="•"/>
              <a:tabLst>
                <a:tab pos="190500" algn="l"/>
              </a:tabLst>
            </a:pP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OpenStreetMap + OSRM/Valhalla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provide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an accessible routing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base.</a:t>
            </a:r>
            <a:endParaRPr sz="1200">
              <a:latin typeface="Arial MT"/>
              <a:cs typeface="Arial MT"/>
            </a:endParaRPr>
          </a:p>
          <a:p>
            <a:pPr marL="190500" marR="85725" indent="-177800">
              <a:lnSpc>
                <a:spcPct val="105600"/>
              </a:lnSpc>
              <a:spcBef>
                <a:spcPts val="195"/>
              </a:spcBef>
              <a:buFont typeface="Arial"/>
              <a:buChar char="•"/>
              <a:tabLst>
                <a:tab pos="190500" algn="l"/>
              </a:tabLst>
            </a:pP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GBMs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support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millisecond</a:t>
            </a:r>
            <a:r>
              <a:rPr sz="120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inference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212121"/>
                </a:solidFill>
                <a:latin typeface="Arial MT"/>
                <a:cs typeface="Arial MT"/>
              </a:rPr>
              <a:t>with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smaller labelled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datasets.</a:t>
            </a:r>
            <a:endParaRPr sz="1200">
              <a:latin typeface="Arial MT"/>
              <a:cs typeface="Arial MT"/>
            </a:endParaRPr>
          </a:p>
          <a:p>
            <a:pPr marL="191135" indent="-178435">
              <a:lnSpc>
                <a:spcPct val="100000"/>
              </a:lnSpc>
              <a:spcBef>
                <a:spcPts val="280"/>
              </a:spcBef>
              <a:buFont typeface="Arial"/>
              <a:buChar char="•"/>
              <a:tabLst>
                <a:tab pos="191135" algn="l"/>
              </a:tabLst>
            </a:pP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Scope</a:t>
            </a:r>
            <a:r>
              <a:rPr sz="120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is bounded</a:t>
            </a:r>
            <a:r>
              <a:rPr sz="120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to a</a:t>
            </a:r>
            <a:r>
              <a:rPr sz="120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10–20 km</a:t>
            </a:r>
            <a:r>
              <a:rPr sz="120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corridor.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343400" y="2413000"/>
            <a:ext cx="3492500" cy="1701800"/>
          </a:xfrm>
          <a:custGeom>
            <a:avLst/>
            <a:gdLst/>
            <a:ahLst/>
            <a:cxnLst/>
            <a:rect l="l" t="t" r="r" b="b"/>
            <a:pathLst>
              <a:path w="3492500" h="1587500">
                <a:moveTo>
                  <a:pt x="3365500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1460500"/>
                </a:lnTo>
                <a:lnTo>
                  <a:pt x="9971" y="1509961"/>
                </a:lnTo>
                <a:lnTo>
                  <a:pt x="37172" y="1550327"/>
                </a:lnTo>
                <a:lnTo>
                  <a:pt x="77538" y="1577528"/>
                </a:lnTo>
                <a:lnTo>
                  <a:pt x="127000" y="1587500"/>
                </a:lnTo>
                <a:lnTo>
                  <a:pt x="3365500" y="1587500"/>
                </a:lnTo>
                <a:lnTo>
                  <a:pt x="3414961" y="1577528"/>
                </a:lnTo>
                <a:lnTo>
                  <a:pt x="3455327" y="1550327"/>
                </a:lnTo>
                <a:lnTo>
                  <a:pt x="3482528" y="1509961"/>
                </a:lnTo>
                <a:lnTo>
                  <a:pt x="3492500" y="1460500"/>
                </a:lnTo>
                <a:lnTo>
                  <a:pt x="3492500" y="127000"/>
                </a:lnTo>
                <a:lnTo>
                  <a:pt x="3482528" y="77538"/>
                </a:lnTo>
                <a:lnTo>
                  <a:pt x="3455327" y="37172"/>
                </a:lnTo>
                <a:lnTo>
                  <a:pt x="3414961" y="9971"/>
                </a:lnTo>
                <a:lnTo>
                  <a:pt x="3365500" y="0"/>
                </a:lnTo>
                <a:close/>
              </a:path>
            </a:pathLst>
          </a:custGeom>
          <a:solidFill>
            <a:srgbClr val="FFF2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508500" y="2501900"/>
            <a:ext cx="13379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A05900"/>
                </a:solidFill>
                <a:latin typeface="Arial"/>
                <a:cs typeface="Arial"/>
              </a:rPr>
              <a:t>CHALLENGES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95800" y="2796539"/>
            <a:ext cx="3032760" cy="68072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91135" indent="-1784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191135" algn="l"/>
              </a:tabLst>
            </a:pP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API</a:t>
            </a:r>
            <a:r>
              <a:rPr sz="120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rate</a:t>
            </a:r>
            <a:r>
              <a:rPr sz="120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limits</a:t>
            </a:r>
            <a:r>
              <a:rPr sz="120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sz="120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data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availability.</a:t>
            </a:r>
            <a:endParaRPr sz="1200">
              <a:latin typeface="Arial MT"/>
              <a:cs typeface="Arial MT"/>
            </a:endParaRPr>
          </a:p>
          <a:p>
            <a:pPr marL="191135" indent="-178435">
              <a:lnSpc>
                <a:spcPct val="100000"/>
              </a:lnSpc>
              <a:spcBef>
                <a:spcPts val="280"/>
              </a:spcBef>
              <a:buFont typeface="Arial"/>
              <a:buChar char="•"/>
              <a:tabLst>
                <a:tab pos="191135" algn="l"/>
              </a:tabLst>
            </a:pP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Noisy readings may cause false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reroutes.</a:t>
            </a:r>
            <a:endParaRPr sz="1200">
              <a:latin typeface="Arial MT"/>
              <a:cs typeface="Arial MT"/>
            </a:endParaRPr>
          </a:p>
          <a:p>
            <a:pPr marL="191135" indent="-178435">
              <a:lnSpc>
                <a:spcPct val="100000"/>
              </a:lnSpc>
              <a:spcBef>
                <a:spcPts val="280"/>
              </a:spcBef>
              <a:buFont typeface="Arial"/>
              <a:buChar char="•"/>
              <a:tabLst>
                <a:tab pos="191135" algn="l"/>
              </a:tabLst>
            </a:pP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Connectivity loss and slow satellite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revisit.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153400" y="2413000"/>
            <a:ext cx="3492500" cy="1701800"/>
          </a:xfrm>
          <a:custGeom>
            <a:avLst/>
            <a:gdLst/>
            <a:ahLst/>
            <a:cxnLst/>
            <a:rect l="l" t="t" r="r" b="b"/>
            <a:pathLst>
              <a:path w="3492500" h="1587500">
                <a:moveTo>
                  <a:pt x="3365500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1460500"/>
                </a:lnTo>
                <a:lnTo>
                  <a:pt x="9971" y="1509961"/>
                </a:lnTo>
                <a:lnTo>
                  <a:pt x="37172" y="1550327"/>
                </a:lnTo>
                <a:lnTo>
                  <a:pt x="77538" y="1577528"/>
                </a:lnTo>
                <a:lnTo>
                  <a:pt x="127000" y="1587500"/>
                </a:lnTo>
                <a:lnTo>
                  <a:pt x="3365500" y="1587500"/>
                </a:lnTo>
                <a:lnTo>
                  <a:pt x="3414961" y="1577528"/>
                </a:lnTo>
                <a:lnTo>
                  <a:pt x="3455327" y="1550327"/>
                </a:lnTo>
                <a:lnTo>
                  <a:pt x="3482528" y="1509961"/>
                </a:lnTo>
                <a:lnTo>
                  <a:pt x="3492500" y="1460500"/>
                </a:lnTo>
                <a:lnTo>
                  <a:pt x="3492500" y="127000"/>
                </a:lnTo>
                <a:lnTo>
                  <a:pt x="3482528" y="77538"/>
                </a:lnTo>
                <a:lnTo>
                  <a:pt x="3455327" y="37172"/>
                </a:lnTo>
                <a:lnTo>
                  <a:pt x="3414961" y="9971"/>
                </a:lnTo>
                <a:lnTo>
                  <a:pt x="3365500" y="0"/>
                </a:lnTo>
                <a:close/>
              </a:path>
            </a:pathLst>
          </a:custGeom>
          <a:solidFill>
            <a:srgbClr val="EDF6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318500" y="2501900"/>
            <a:ext cx="11474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16725B"/>
                </a:solidFill>
                <a:latin typeface="Arial"/>
                <a:cs typeface="Arial"/>
              </a:rPr>
              <a:t>MITIGATION</a:t>
            </a:r>
            <a:endParaRPr sz="15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305800" y="2807715"/>
            <a:ext cx="3156585" cy="84836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89865" indent="-177165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189865" algn="l"/>
              </a:tabLst>
            </a:pP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Aggressive</a:t>
            </a:r>
            <a:r>
              <a:rPr sz="1150" spc="-5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caching</a:t>
            </a:r>
            <a:r>
              <a:rPr sz="1150" spc="-4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+</a:t>
            </a:r>
            <a:r>
              <a:rPr sz="1150" spc="-4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scheduled</a:t>
            </a:r>
            <a:r>
              <a:rPr sz="1150" spc="-4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212121"/>
                </a:solidFill>
                <a:latin typeface="Arial MT"/>
                <a:cs typeface="Arial MT"/>
              </a:rPr>
              <a:t>polling.</a:t>
            </a:r>
            <a:endParaRPr sz="1150">
              <a:latin typeface="Arial MT"/>
              <a:cs typeface="Arial MT"/>
            </a:endParaRPr>
          </a:p>
          <a:p>
            <a:pPr marL="189865" indent="-17716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189865" algn="l"/>
              </a:tabLst>
            </a:pP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Threshold</a:t>
            </a:r>
            <a:r>
              <a:rPr sz="1150" spc="-4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+</a:t>
            </a:r>
            <a:r>
              <a:rPr sz="1150" spc="-4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hysteresis</a:t>
            </a:r>
            <a:r>
              <a:rPr sz="1150" spc="-4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before</a:t>
            </a:r>
            <a:r>
              <a:rPr sz="1150" spc="-4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212121"/>
                </a:solidFill>
                <a:latin typeface="Arial MT"/>
                <a:cs typeface="Arial MT"/>
              </a:rPr>
              <a:t>rerouting.</a:t>
            </a:r>
            <a:endParaRPr sz="1150">
              <a:latin typeface="Arial MT"/>
              <a:cs typeface="Arial MT"/>
            </a:endParaRPr>
          </a:p>
          <a:p>
            <a:pPr marL="189865" indent="-17716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189865" algn="l"/>
              </a:tabLst>
            </a:pPr>
            <a:r>
              <a:rPr sz="1150" spc="-10" dirty="0">
                <a:solidFill>
                  <a:srgbClr val="212121"/>
                </a:solidFill>
                <a:latin typeface="Arial MT"/>
                <a:cs typeface="Arial MT"/>
              </a:rPr>
              <a:t>Last-known-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state</a:t>
            </a:r>
            <a:r>
              <a:rPr sz="1150" spc="-3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fallback;</a:t>
            </a:r>
            <a:r>
              <a:rPr sz="1150" spc="-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async</a:t>
            </a:r>
            <a:r>
              <a:rPr sz="1150" spc="-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glacier</a:t>
            </a:r>
            <a:r>
              <a:rPr sz="1150" spc="-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spc="-20" dirty="0">
                <a:solidFill>
                  <a:srgbClr val="212121"/>
                </a:solidFill>
                <a:latin typeface="Arial MT"/>
                <a:cs typeface="Arial MT"/>
              </a:rPr>
              <a:t>CNN.</a:t>
            </a:r>
            <a:endParaRPr sz="1150">
              <a:latin typeface="Arial MT"/>
              <a:cs typeface="Arial MT"/>
            </a:endParaRPr>
          </a:p>
          <a:p>
            <a:pPr marL="189865" indent="-17716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189865" algn="l"/>
              </a:tabLst>
            </a:pP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Test</a:t>
            </a:r>
            <a:r>
              <a:rPr sz="1150" spc="-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every</a:t>
            </a:r>
            <a:r>
              <a:rPr sz="1150" spc="-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phase</a:t>
            </a:r>
            <a:r>
              <a:rPr sz="1150" spc="-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on</a:t>
            </a:r>
            <a:r>
              <a:rPr sz="1150" spc="-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a</a:t>
            </a:r>
            <a:r>
              <a:rPr sz="1150" spc="-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real</a:t>
            </a:r>
            <a:r>
              <a:rPr sz="1150" spc="-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212121"/>
                </a:solidFill>
                <a:latin typeface="Arial MT"/>
                <a:cs typeface="Arial MT"/>
              </a:rPr>
              <a:t>route.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3400" y="4409439"/>
            <a:ext cx="8175625" cy="13619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12700">
              <a:lnSpc>
                <a:spcPct val="100000"/>
              </a:lnSpc>
              <a:spcBef>
                <a:spcPts val="100"/>
              </a:spcBef>
              <a:tabLst>
                <a:tab pos="3847465" algn="l"/>
              </a:tabLst>
              <a:defRPr sz="2500" b="1">
                <a:solidFill>
                  <a:schemeClr val="bg2">
                    <a:lumMod val="10000"/>
                    <a:lumOff val="90000"/>
                  </a:schemeClr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defRPr>
            </a:lvl1pPr>
          </a:lstStyle>
          <a:p>
            <a:r>
              <a:rPr dirty="0"/>
              <a:t>SCOPE CONTROL</a:t>
            </a:r>
            <a:r>
              <a:rPr lang="en-US" dirty="0"/>
              <a:t> – </a:t>
            </a:r>
          </a:p>
          <a:p>
            <a:endParaRPr dirty="0"/>
          </a:p>
          <a:p>
            <a:r>
              <a:rPr sz="1800" dirty="0">
                <a:latin typeface="Arial MT"/>
              </a:rPr>
              <a:t>Full Level 4/5 autonomous control and heavier Physics-GNN / ConvLSTM+ResNet models are deferred from the SIH MVP.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b="1" spc="-50" dirty="0">
                <a:solidFill>
                  <a:schemeClr val="bg2">
                    <a:lumMod val="10000"/>
                    <a:lumOff val="90000"/>
                  </a:schemeClr>
                </a:solidFill>
                <a:latin typeface="Calibri"/>
                <a:cs typeface="Calibri"/>
              </a:rPr>
              <a:pPr marL="38100">
                <a:lnSpc>
                  <a:spcPts val="1240"/>
                </a:lnSpc>
              </a:pPr>
              <a:t>4</a:t>
            </a:fld>
            <a:endParaRPr sz="1200" b="1" spc="-50" dirty="0">
              <a:solidFill>
                <a:schemeClr val="bg2">
                  <a:lumMod val="10000"/>
                  <a:lumOff val="90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41" name="object 29" descr="$PPTXTitle">
            <a:extLst>
              <a:ext uri="{FF2B5EF4-FFF2-40B4-BE49-F238E27FC236}">
                <a16:creationId xmlns:a16="http://schemas.microsoft.com/office/drawing/2014/main" id="{C47B2F2E-94AD-DCCF-6B52-9ACCA41F82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0" y="501099"/>
            <a:ext cx="11212479" cy="632224"/>
          </a:xfrm>
          <a:prstGeom prst="rect">
            <a:avLst/>
          </a:prstGeom>
        </p:spPr>
        <p:txBody>
          <a:bodyPr vert="horz" wrap="square" lIns="0" tIns="16510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000" spc="-85" dirty="0">
                <a:solidFill>
                  <a:schemeClr val="bg2">
                    <a:lumMod val="10000"/>
                    <a:lumOff val="90000"/>
                  </a:schemeClr>
                </a:solidFill>
              </a:rPr>
              <a:t>Vehicle Sat-Nav Hazard Detection &amp; Rerouting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695256" y="2438400"/>
            <a:ext cx="5016500" cy="2142350"/>
          </a:xfrm>
          <a:custGeom>
            <a:avLst/>
            <a:gdLst/>
            <a:ahLst/>
            <a:cxnLst/>
            <a:rect l="l" t="t" r="r" b="b"/>
            <a:pathLst>
              <a:path w="5016500" h="2032000">
                <a:moveTo>
                  <a:pt x="4889500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1905000"/>
                </a:lnTo>
                <a:lnTo>
                  <a:pt x="9971" y="1954461"/>
                </a:lnTo>
                <a:lnTo>
                  <a:pt x="37172" y="1994827"/>
                </a:lnTo>
                <a:lnTo>
                  <a:pt x="77538" y="2022028"/>
                </a:lnTo>
                <a:lnTo>
                  <a:pt x="127000" y="2032000"/>
                </a:lnTo>
                <a:lnTo>
                  <a:pt x="4889500" y="2032000"/>
                </a:lnTo>
                <a:lnTo>
                  <a:pt x="4938961" y="2022028"/>
                </a:lnTo>
                <a:lnTo>
                  <a:pt x="4979327" y="1994827"/>
                </a:lnTo>
                <a:lnTo>
                  <a:pt x="5006528" y="1954461"/>
                </a:lnTo>
                <a:lnTo>
                  <a:pt x="5016500" y="1905000"/>
                </a:lnTo>
                <a:lnTo>
                  <a:pt x="5016500" y="127000"/>
                </a:lnTo>
                <a:lnTo>
                  <a:pt x="5006528" y="77538"/>
                </a:lnTo>
                <a:lnTo>
                  <a:pt x="4979327" y="37172"/>
                </a:lnTo>
                <a:lnTo>
                  <a:pt x="4938961" y="9971"/>
                </a:lnTo>
                <a:lnTo>
                  <a:pt x="4889500" y="0"/>
                </a:lnTo>
                <a:close/>
              </a:path>
            </a:pathLst>
          </a:custGeom>
          <a:solidFill>
            <a:srgbClr val="E9F2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60356" y="2637650"/>
            <a:ext cx="151828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235289"/>
                </a:solidFill>
                <a:latin typeface="Arial"/>
                <a:cs typeface="Arial"/>
              </a:rPr>
              <a:t>TARGET </a:t>
            </a:r>
            <a:r>
              <a:rPr sz="1500" b="1" spc="-10" dirty="0">
                <a:solidFill>
                  <a:srgbClr val="235289"/>
                </a:solidFill>
                <a:latin typeface="Arial"/>
                <a:cs typeface="Arial"/>
              </a:rPr>
              <a:t>USERS</a:t>
            </a:r>
            <a:endParaRPr sz="15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47656" y="2957689"/>
            <a:ext cx="4675505" cy="1234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0" marR="5080" indent="-177800">
              <a:lnSpc>
                <a:spcPct val="105600"/>
              </a:lnSpc>
              <a:spcBef>
                <a:spcPts val="100"/>
              </a:spcBef>
              <a:buFont typeface="Arial"/>
              <a:buChar char="•"/>
              <a:tabLst>
                <a:tab pos="190500" algn="l"/>
              </a:tabLst>
            </a:pP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Drivers</a:t>
            </a:r>
            <a:r>
              <a:rPr sz="120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/ travellers: route maps, hazard overlays</a:t>
            </a:r>
            <a:r>
              <a:rPr sz="120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and reroute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alerts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via a low-distraction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interface.</a:t>
            </a:r>
            <a:endParaRPr sz="1200">
              <a:latin typeface="Arial MT"/>
              <a:cs typeface="Arial MT"/>
            </a:endParaRPr>
          </a:p>
          <a:p>
            <a:pPr marL="190500" marR="461645" indent="-177800">
              <a:lnSpc>
                <a:spcPct val="105600"/>
              </a:lnSpc>
              <a:spcBef>
                <a:spcPts val="195"/>
              </a:spcBef>
              <a:buFont typeface="Arial"/>
              <a:buChar char="•"/>
              <a:tabLst>
                <a:tab pos="190500" algn="l"/>
              </a:tabLst>
            </a:pP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Local</a:t>
            </a:r>
            <a:r>
              <a:rPr sz="120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authority / disaster-management</a:t>
            </a:r>
            <a:r>
              <a:rPr sz="120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officials: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aggregated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hazard and road-condition review in future dashboard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work.</a:t>
            </a:r>
            <a:endParaRPr sz="1200">
              <a:latin typeface="Arial MT"/>
              <a:cs typeface="Arial MT"/>
            </a:endParaRPr>
          </a:p>
          <a:p>
            <a:pPr marL="190500" marR="927735" indent="-177800">
              <a:lnSpc>
                <a:spcPct val="105600"/>
              </a:lnSpc>
              <a:spcBef>
                <a:spcPts val="200"/>
              </a:spcBef>
              <a:buFont typeface="Arial"/>
              <a:buChar char="•"/>
              <a:tabLst>
                <a:tab pos="190500" algn="l"/>
              </a:tabLst>
            </a:pP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Administrators: data-source, threshold and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retraining configuration.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346756" y="2438400"/>
            <a:ext cx="5016500" cy="2555100"/>
          </a:xfrm>
          <a:custGeom>
            <a:avLst/>
            <a:gdLst/>
            <a:ahLst/>
            <a:cxnLst/>
            <a:rect l="l" t="t" r="r" b="b"/>
            <a:pathLst>
              <a:path w="5016500" h="2032000">
                <a:moveTo>
                  <a:pt x="4889500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1905000"/>
                </a:lnTo>
                <a:lnTo>
                  <a:pt x="9971" y="1954461"/>
                </a:lnTo>
                <a:lnTo>
                  <a:pt x="37172" y="1994827"/>
                </a:lnTo>
                <a:lnTo>
                  <a:pt x="77538" y="2022028"/>
                </a:lnTo>
                <a:lnTo>
                  <a:pt x="127000" y="2032000"/>
                </a:lnTo>
                <a:lnTo>
                  <a:pt x="4889500" y="2032000"/>
                </a:lnTo>
                <a:lnTo>
                  <a:pt x="4938961" y="2022028"/>
                </a:lnTo>
                <a:lnTo>
                  <a:pt x="4979327" y="1994827"/>
                </a:lnTo>
                <a:lnTo>
                  <a:pt x="5006528" y="1954461"/>
                </a:lnTo>
                <a:lnTo>
                  <a:pt x="5016500" y="1905000"/>
                </a:lnTo>
                <a:lnTo>
                  <a:pt x="5016500" y="127000"/>
                </a:lnTo>
                <a:lnTo>
                  <a:pt x="5006528" y="77538"/>
                </a:lnTo>
                <a:lnTo>
                  <a:pt x="4979327" y="37172"/>
                </a:lnTo>
                <a:lnTo>
                  <a:pt x="4938961" y="9971"/>
                </a:lnTo>
                <a:lnTo>
                  <a:pt x="4889500" y="0"/>
                </a:lnTo>
                <a:close/>
              </a:path>
            </a:pathLst>
          </a:custGeom>
          <a:solidFill>
            <a:srgbClr val="EDF6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511856" y="2637650"/>
            <a:ext cx="9677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16725B"/>
                </a:solidFill>
                <a:latin typeface="Arial"/>
                <a:cs typeface="Arial"/>
              </a:rPr>
              <a:t>BENEFITS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99156" y="2957689"/>
            <a:ext cx="4667885" cy="1864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0" marR="563245" indent="-177800">
              <a:lnSpc>
                <a:spcPct val="105600"/>
              </a:lnSpc>
              <a:spcBef>
                <a:spcPts val="100"/>
              </a:spcBef>
              <a:buFont typeface="Arial"/>
              <a:buChar char="•"/>
              <a:tabLst>
                <a:tab pos="190500" algn="l"/>
              </a:tabLst>
            </a:pP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Reduces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risk exposure by adapting routes around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flagged segments.</a:t>
            </a:r>
            <a:endParaRPr sz="1200">
              <a:latin typeface="Arial MT"/>
              <a:cs typeface="Arial MT"/>
            </a:endParaRPr>
          </a:p>
          <a:p>
            <a:pPr marL="190500" marR="5080" indent="-177800">
              <a:lnSpc>
                <a:spcPct val="105600"/>
              </a:lnSpc>
              <a:spcBef>
                <a:spcPts val="195"/>
              </a:spcBef>
              <a:buFont typeface="Arial"/>
              <a:buChar char="•"/>
              <a:tabLst>
                <a:tab pos="190500" algn="l"/>
              </a:tabLst>
            </a:pP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Supports collision avoidance for dynamic obstacles and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unmarked </a:t>
            </a: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lane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conditions.</a:t>
            </a:r>
            <a:endParaRPr sz="1200">
              <a:latin typeface="Arial MT"/>
              <a:cs typeface="Arial MT"/>
            </a:endParaRPr>
          </a:p>
          <a:p>
            <a:pPr marL="191135" indent="-178435">
              <a:lnSpc>
                <a:spcPct val="100000"/>
              </a:lnSpc>
              <a:spcBef>
                <a:spcPts val="280"/>
              </a:spcBef>
              <a:buFont typeface="Arial"/>
              <a:buChar char="•"/>
              <a:tabLst>
                <a:tab pos="191135" algn="l"/>
              </a:tabLst>
            </a:pP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Concise structured alerts instead of raw model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output.</a:t>
            </a:r>
            <a:endParaRPr sz="1200">
              <a:latin typeface="Arial MT"/>
              <a:cs typeface="Arial MT"/>
            </a:endParaRPr>
          </a:p>
          <a:p>
            <a:pPr marL="190500" marR="179070" indent="-177800">
              <a:lnSpc>
                <a:spcPct val="105600"/>
              </a:lnSpc>
              <a:spcBef>
                <a:spcPts val="200"/>
              </a:spcBef>
              <a:buFont typeface="Arial"/>
              <a:buChar char="•"/>
              <a:tabLst>
                <a:tab pos="190500" algn="l"/>
              </a:tabLst>
            </a:pP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Warnings persist during connectivity loss via last-known +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static risk.</a:t>
            </a:r>
            <a:endParaRPr sz="1200">
              <a:latin typeface="Arial MT"/>
              <a:cs typeface="Arial MT"/>
            </a:endParaRPr>
          </a:p>
          <a:p>
            <a:pPr marL="190500" marR="309880" indent="-177800">
              <a:lnSpc>
                <a:spcPct val="105600"/>
              </a:lnSpc>
              <a:spcBef>
                <a:spcPts val="200"/>
              </a:spcBef>
              <a:buFont typeface="Arial"/>
              <a:buChar char="•"/>
              <a:tabLst>
                <a:tab pos="190500" algn="l"/>
              </a:tabLst>
            </a:pPr>
            <a:r>
              <a:rPr sz="1200" dirty="0">
                <a:solidFill>
                  <a:srgbClr val="212121"/>
                </a:solidFill>
                <a:latin typeface="Arial MT"/>
                <a:cs typeface="Arial MT"/>
              </a:rPr>
              <a:t>Lightweight design limits compute and LLM use to </a:t>
            </a:r>
            <a:r>
              <a:rPr sz="1200" spc="-10" dirty="0">
                <a:solidFill>
                  <a:srgbClr val="212121"/>
                </a:solidFill>
                <a:latin typeface="Arial MT"/>
                <a:cs typeface="Arial MT"/>
              </a:rPr>
              <a:t>meaningful transitions.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95256" y="5369705"/>
            <a:ext cx="1081094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chemeClr val="bg2">
                    <a:lumMod val="10000"/>
                    <a:lumOff val="90000"/>
                  </a:schemeClr>
                </a:solidFill>
                <a:uFill>
                  <a:solidFill>
                    <a:srgbClr val="000000"/>
                  </a:solidFill>
                </a:uFill>
                <a:latin typeface="Arial MT"/>
                <a:cs typeface="Arial"/>
              </a:rPr>
              <a:t>Prototype scope: decision support and alerts; no assumption of full vehicle actuation control</a:t>
            </a:r>
            <a:r>
              <a:rPr sz="1150" spc="-10" dirty="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1150" dirty="0">
              <a:latin typeface="Arial MT"/>
              <a:cs typeface="Arial MT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xfrm>
            <a:off x="11147096" y="6448483"/>
            <a:ext cx="429207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>
                <a:solidFill>
                  <a:schemeClr val="bg2">
                    <a:lumMod val="10000"/>
                    <a:lumOff val="90000"/>
                  </a:schemeClr>
                </a:solidFill>
              </a:rPr>
              <a:t>5</a:t>
            </a:fld>
            <a:endParaRPr spc="-50" dirty="0">
              <a:solidFill>
                <a:schemeClr val="bg2">
                  <a:lumMod val="10000"/>
                  <a:lumOff val="90000"/>
                </a:schemeClr>
              </a:solidFill>
            </a:endParaRPr>
          </a:p>
        </p:txBody>
      </p:sp>
      <p:sp>
        <p:nvSpPr>
          <p:cNvPr id="41" name="object 29" descr="$PPTXTitle">
            <a:extLst>
              <a:ext uri="{FF2B5EF4-FFF2-40B4-BE49-F238E27FC236}">
                <a16:creationId xmlns:a16="http://schemas.microsoft.com/office/drawing/2014/main" id="{BFBDE3F5-4DE0-EDC9-FB48-6A65074CAD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0" y="-114454"/>
            <a:ext cx="11212479" cy="1247777"/>
          </a:xfrm>
          <a:prstGeom prst="rect">
            <a:avLst/>
          </a:prstGeom>
        </p:spPr>
        <p:txBody>
          <a:bodyPr vert="horz" wrap="square" lIns="0" tIns="16510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4000" spc="-85" dirty="0">
                <a:solidFill>
                  <a:schemeClr val="bg2">
                    <a:lumMod val="10000"/>
                    <a:lumOff val="90000"/>
                  </a:schemeClr>
                </a:solidFill>
                <a:latin typeface="+mj-lt"/>
                <a:cs typeface="+mj-cs"/>
              </a:rPr>
              <a:t>Vehicle Sat-Nav Hazard Detection &amp; Rerouting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/>
          <p:nvPr/>
        </p:nvSpPr>
        <p:spPr>
          <a:xfrm>
            <a:off x="609600" y="1922354"/>
            <a:ext cx="10966703" cy="44345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3847465" algn="l"/>
              </a:tabLst>
            </a:pPr>
            <a:r>
              <a:rPr sz="2500" b="1" dirty="0">
                <a:solidFill>
                  <a:schemeClr val="bg2">
                    <a:lumMod val="10000"/>
                    <a:lumOff val="90000"/>
                  </a:schemeClr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REFERENCE BASE</a:t>
            </a:r>
          </a:p>
          <a:p>
            <a:pPr marL="361950" indent="-285750">
              <a:lnSpc>
                <a:spcPct val="100000"/>
              </a:lnSpc>
              <a:spcBef>
                <a:spcPts val="1920"/>
              </a:spcBef>
              <a:buClr>
                <a:schemeClr val="tx1">
                  <a:lumMod val="95000"/>
                </a:schemeClr>
              </a:buClr>
              <a:buSzPct val="130769"/>
              <a:buFont typeface="Arial" panose="020B0604020202020204" pitchFamily="34" charset="0"/>
              <a:buChar char="•"/>
              <a:tabLst>
                <a:tab pos="647065" algn="l"/>
              </a:tabLst>
            </a:pPr>
            <a:r>
              <a:rPr sz="1600" b="1" dirty="0">
                <a:solidFill>
                  <a:schemeClr val="bg2">
                    <a:lumMod val="10000"/>
                    <a:lumOff val="90000"/>
                  </a:schemeClr>
                </a:solidFill>
                <a:uFill>
                  <a:solidFill>
                    <a:srgbClr val="000000"/>
                  </a:solidFill>
                </a:uFill>
                <a:latin typeface="Arial MT"/>
                <a:cs typeface="Arial"/>
              </a:rPr>
              <a:t>Smart India Hackathon 2026 problem statement documentation — SIH 26037.</a:t>
            </a:r>
          </a:p>
          <a:p>
            <a:pPr marL="285750" indent="-285750">
              <a:lnSpc>
                <a:spcPct val="100000"/>
              </a:lnSpc>
              <a:spcBef>
                <a:spcPts val="265"/>
              </a:spcBef>
              <a:buClr>
                <a:schemeClr val="tx1">
                  <a:lumMod val="95000"/>
                </a:schemeClr>
              </a:buClr>
              <a:buFont typeface="Arial" panose="020B0604020202020204" pitchFamily="34" charset="0"/>
              <a:buChar char="•"/>
            </a:pPr>
            <a:endParaRPr sz="1600" b="1" dirty="0">
              <a:solidFill>
                <a:schemeClr val="bg2">
                  <a:lumMod val="10000"/>
                  <a:lumOff val="90000"/>
                </a:schemeClr>
              </a:solidFill>
              <a:uFill>
                <a:solidFill>
                  <a:srgbClr val="000000"/>
                </a:solidFill>
              </a:uFill>
              <a:latin typeface="Arial MT"/>
              <a:cs typeface="Arial"/>
            </a:endParaRPr>
          </a:p>
          <a:p>
            <a:pPr marL="361950" indent="-285750">
              <a:lnSpc>
                <a:spcPct val="100000"/>
              </a:lnSpc>
              <a:buClr>
                <a:schemeClr val="tx1">
                  <a:lumMod val="95000"/>
                </a:schemeClr>
              </a:buClr>
              <a:buSzPct val="130769"/>
              <a:buFont typeface="Arial" panose="020B0604020202020204" pitchFamily="34" charset="0"/>
              <a:buChar char="•"/>
              <a:tabLst>
                <a:tab pos="647065" algn="l"/>
              </a:tabLst>
            </a:pPr>
            <a:r>
              <a:rPr sz="1600" b="1" dirty="0">
                <a:solidFill>
                  <a:schemeClr val="bg2">
                    <a:lumMod val="10000"/>
                    <a:lumOff val="90000"/>
                  </a:schemeClr>
                </a:solidFill>
                <a:uFill>
                  <a:solidFill>
                    <a:srgbClr val="000000"/>
                  </a:solidFill>
                </a:uFill>
                <a:latin typeface="Arial MT"/>
                <a:cs typeface="Arial"/>
              </a:rPr>
              <a:t>IEEE Std 830-1998 — Recommended Practice for Software Requirements Specifications.</a:t>
            </a:r>
          </a:p>
          <a:p>
            <a:pPr marL="285750" indent="-285750">
              <a:lnSpc>
                <a:spcPct val="100000"/>
              </a:lnSpc>
              <a:spcBef>
                <a:spcPts val="265"/>
              </a:spcBef>
              <a:buClr>
                <a:schemeClr val="tx1">
                  <a:lumMod val="95000"/>
                </a:schemeClr>
              </a:buClr>
              <a:buFont typeface="Arial" panose="020B0604020202020204" pitchFamily="34" charset="0"/>
              <a:buChar char="•"/>
            </a:pPr>
            <a:endParaRPr sz="1600" b="1" dirty="0">
              <a:solidFill>
                <a:schemeClr val="bg2">
                  <a:lumMod val="10000"/>
                  <a:lumOff val="90000"/>
                </a:schemeClr>
              </a:solidFill>
              <a:uFill>
                <a:solidFill>
                  <a:srgbClr val="000000"/>
                </a:solidFill>
              </a:uFill>
              <a:latin typeface="Arial MT"/>
              <a:cs typeface="Arial"/>
            </a:endParaRPr>
          </a:p>
          <a:p>
            <a:pPr marL="361950" indent="-285750">
              <a:lnSpc>
                <a:spcPct val="100000"/>
              </a:lnSpc>
              <a:buClr>
                <a:schemeClr val="tx1">
                  <a:lumMod val="95000"/>
                </a:schemeClr>
              </a:buClr>
              <a:buSzPct val="130769"/>
              <a:buFont typeface="Arial" panose="020B0604020202020204" pitchFamily="34" charset="0"/>
              <a:buChar char="•"/>
              <a:tabLst>
                <a:tab pos="647065" algn="l"/>
              </a:tabLst>
            </a:pPr>
            <a:r>
              <a:rPr sz="1600" b="1" dirty="0">
                <a:solidFill>
                  <a:schemeClr val="bg2">
                    <a:lumMod val="10000"/>
                    <a:lumOff val="90000"/>
                  </a:schemeClr>
                </a:solidFill>
                <a:uFill>
                  <a:solidFill>
                    <a:srgbClr val="000000"/>
                  </a:solidFill>
                </a:uFill>
                <a:latin typeface="Arial MT"/>
                <a:cs typeface="Arial"/>
              </a:rPr>
              <a:t>Team architecture design — six-layer architecture, UML class model, runtime flow and execution plan</a:t>
            </a:r>
            <a:r>
              <a:rPr sz="1600" spc="-10" dirty="0">
                <a:solidFill>
                  <a:srgbClr val="212121"/>
                </a:solidFill>
                <a:latin typeface="Arial MT"/>
                <a:cs typeface="Arial MT"/>
              </a:rPr>
              <a:t>.</a:t>
            </a:r>
            <a:endParaRPr lang="en-US" sz="1600" spc="-10" dirty="0">
              <a:solidFill>
                <a:srgbClr val="212121"/>
              </a:solidFill>
              <a:latin typeface="Arial MT"/>
              <a:cs typeface="Arial MT"/>
            </a:endParaRPr>
          </a:p>
          <a:p>
            <a:pPr marL="76200">
              <a:lnSpc>
                <a:spcPct val="100000"/>
              </a:lnSpc>
              <a:buClr>
                <a:srgbClr val="235289"/>
              </a:buClr>
              <a:buSzPct val="130769"/>
              <a:tabLst>
                <a:tab pos="647065" algn="l"/>
              </a:tabLst>
            </a:pPr>
            <a:endParaRPr sz="16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47465" algn="l"/>
              </a:tabLst>
            </a:pPr>
            <a:r>
              <a:rPr sz="2500" b="1" dirty="0">
                <a:solidFill>
                  <a:schemeClr val="bg2">
                    <a:lumMod val="10000"/>
                    <a:lumOff val="90000"/>
                  </a:schemeClr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DESIGN EVIDENCE</a:t>
            </a:r>
          </a:p>
          <a:p>
            <a:pPr marL="361950" lvl="1" indent="-285750">
              <a:lnSpc>
                <a:spcPct val="100000"/>
              </a:lnSpc>
              <a:spcBef>
                <a:spcPts val="919"/>
              </a:spcBef>
              <a:buFont typeface="Arial" panose="020B0604020202020204" pitchFamily="34" charset="0"/>
              <a:buChar char="•"/>
              <a:tabLst>
                <a:tab pos="304165" algn="l"/>
              </a:tabLst>
            </a:pPr>
            <a:r>
              <a:rPr sz="1600" b="1" dirty="0">
                <a:solidFill>
                  <a:schemeClr val="bg2">
                    <a:lumMod val="10000"/>
                    <a:lumOff val="90000"/>
                  </a:schemeClr>
                </a:solidFill>
                <a:uFill>
                  <a:solidFill>
                    <a:srgbClr val="000000"/>
                  </a:solidFill>
                </a:uFill>
                <a:latin typeface="Arial MT"/>
                <a:cs typeface="Arial"/>
              </a:rPr>
              <a:t>Six ordered layers from data ingestion to driver output.</a:t>
            </a:r>
          </a:p>
          <a:p>
            <a:pPr marL="361950" lvl="1" indent="-285750">
              <a:lnSpc>
                <a:spcPct val="100000"/>
              </a:lnSpc>
              <a:spcBef>
                <a:spcPts val="660"/>
              </a:spcBef>
              <a:buFont typeface="Arial" panose="020B0604020202020204" pitchFamily="34" charset="0"/>
              <a:buChar char="•"/>
              <a:tabLst>
                <a:tab pos="304165" algn="l"/>
              </a:tabLst>
            </a:pPr>
            <a:r>
              <a:rPr sz="1600" b="1" dirty="0">
                <a:solidFill>
                  <a:schemeClr val="bg2">
                    <a:lumMod val="10000"/>
                    <a:lumOff val="90000"/>
                  </a:schemeClr>
                </a:solidFill>
                <a:uFill>
                  <a:solidFill>
                    <a:srgbClr val="000000"/>
                  </a:solidFill>
                </a:uFill>
                <a:latin typeface="Arial MT"/>
                <a:cs typeface="Arial"/>
              </a:rPr>
              <a:t>Shared time-series state supports rising/falling risk trends.</a:t>
            </a:r>
          </a:p>
          <a:p>
            <a:pPr marL="361950" lvl="1" indent="-285750">
              <a:lnSpc>
                <a:spcPct val="100000"/>
              </a:lnSpc>
              <a:spcBef>
                <a:spcPts val="660"/>
              </a:spcBef>
              <a:buFont typeface="Arial" panose="020B0604020202020204" pitchFamily="34" charset="0"/>
              <a:buChar char="•"/>
              <a:tabLst>
                <a:tab pos="304165" algn="l"/>
              </a:tabLst>
            </a:pPr>
            <a:r>
              <a:rPr sz="1600" b="1" dirty="0">
                <a:solidFill>
                  <a:schemeClr val="bg2">
                    <a:lumMod val="10000"/>
                    <a:lumOff val="90000"/>
                  </a:schemeClr>
                </a:solidFill>
                <a:uFill>
                  <a:solidFill>
                    <a:srgbClr val="000000"/>
                  </a:solidFill>
                </a:uFill>
                <a:latin typeface="Arial MT"/>
                <a:cs typeface="Arial"/>
              </a:rPr>
              <a:t>Routing remains a graph-search responsibility; LLM is gated and JSON-only.</a:t>
            </a:r>
          </a:p>
          <a:p>
            <a:pPr marL="361950" lvl="1" indent="-285750">
              <a:lnSpc>
                <a:spcPct val="100000"/>
              </a:lnSpc>
              <a:spcBef>
                <a:spcPts val="660"/>
              </a:spcBef>
              <a:buFont typeface="Arial" panose="020B0604020202020204" pitchFamily="34" charset="0"/>
              <a:buChar char="•"/>
              <a:tabLst>
                <a:tab pos="304165" algn="l"/>
              </a:tabLst>
            </a:pPr>
            <a:r>
              <a:rPr sz="1600" b="1" dirty="0">
                <a:solidFill>
                  <a:schemeClr val="bg2">
                    <a:lumMod val="10000"/>
                    <a:lumOff val="90000"/>
                  </a:schemeClr>
                </a:solidFill>
                <a:uFill>
                  <a:solidFill>
                    <a:srgbClr val="000000"/>
                  </a:solidFill>
                </a:uFill>
                <a:latin typeface="Arial MT"/>
                <a:cs typeface="Arial"/>
              </a:rPr>
              <a:t>Offline fallback prevents connectivity loss from becoming a false 'no warning' state.</a:t>
            </a: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6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050" dirty="0">
                <a:solidFill>
                  <a:schemeClr val="bg2">
                    <a:lumMod val="90000"/>
                    <a:lumOff val="10000"/>
                  </a:schemeClr>
                </a:solidFill>
                <a:latin typeface="Arial MT"/>
                <a:cs typeface="Arial MT"/>
              </a:rPr>
              <a:t>Content</a:t>
            </a:r>
            <a:r>
              <a:rPr sz="1050" spc="75" dirty="0">
                <a:solidFill>
                  <a:schemeClr val="bg2">
                    <a:lumMod val="90000"/>
                    <a:lumOff val="10000"/>
                  </a:schemeClr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chemeClr val="bg2">
                    <a:lumMod val="90000"/>
                    <a:lumOff val="10000"/>
                  </a:schemeClr>
                </a:solidFill>
                <a:latin typeface="Arial MT"/>
                <a:cs typeface="Arial MT"/>
              </a:rPr>
              <a:t>source:</a:t>
            </a:r>
            <a:r>
              <a:rPr sz="1050" spc="75" dirty="0">
                <a:solidFill>
                  <a:schemeClr val="bg2">
                    <a:lumMod val="90000"/>
                    <a:lumOff val="10000"/>
                  </a:schemeClr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chemeClr val="bg2">
                    <a:lumMod val="90000"/>
                    <a:lumOff val="10000"/>
                  </a:schemeClr>
                </a:solidFill>
                <a:latin typeface="Arial MT"/>
                <a:cs typeface="Arial MT"/>
              </a:rPr>
              <a:t>supplied</a:t>
            </a:r>
            <a:r>
              <a:rPr sz="1050" spc="75" dirty="0">
                <a:solidFill>
                  <a:schemeClr val="bg2">
                    <a:lumMod val="90000"/>
                    <a:lumOff val="10000"/>
                  </a:schemeClr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chemeClr val="bg2">
                    <a:lumMod val="90000"/>
                    <a:lumOff val="10000"/>
                  </a:schemeClr>
                </a:solidFill>
                <a:latin typeface="Arial MT"/>
                <a:cs typeface="Arial MT"/>
              </a:rPr>
              <a:t>SRS</a:t>
            </a:r>
            <a:r>
              <a:rPr sz="1050" spc="75" dirty="0">
                <a:solidFill>
                  <a:schemeClr val="bg2">
                    <a:lumMod val="90000"/>
                    <a:lumOff val="10000"/>
                  </a:schemeClr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chemeClr val="bg2">
                    <a:lumMod val="90000"/>
                    <a:lumOff val="10000"/>
                  </a:schemeClr>
                </a:solidFill>
                <a:latin typeface="Arial MT"/>
                <a:cs typeface="Arial MT"/>
              </a:rPr>
              <a:t>+</a:t>
            </a:r>
            <a:r>
              <a:rPr sz="1050" spc="75" dirty="0">
                <a:solidFill>
                  <a:schemeClr val="bg2">
                    <a:lumMod val="90000"/>
                    <a:lumOff val="10000"/>
                  </a:schemeClr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chemeClr val="bg2">
                    <a:lumMod val="90000"/>
                    <a:lumOff val="10000"/>
                  </a:schemeClr>
                </a:solidFill>
                <a:latin typeface="Arial MT"/>
                <a:cs typeface="Arial MT"/>
              </a:rPr>
              <a:t>architecture</a:t>
            </a:r>
            <a:r>
              <a:rPr sz="1050" spc="75" dirty="0">
                <a:solidFill>
                  <a:schemeClr val="bg2">
                    <a:lumMod val="90000"/>
                    <a:lumOff val="10000"/>
                  </a:schemeClr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chemeClr val="bg2">
                    <a:lumMod val="90000"/>
                    <a:lumOff val="10000"/>
                  </a:schemeClr>
                </a:solidFill>
                <a:latin typeface="Arial MT"/>
                <a:cs typeface="Arial MT"/>
              </a:rPr>
              <a:t>documents.</a:t>
            </a:r>
            <a:r>
              <a:rPr sz="1050" spc="75" dirty="0">
                <a:solidFill>
                  <a:schemeClr val="bg2">
                    <a:lumMod val="90000"/>
                    <a:lumOff val="10000"/>
                  </a:schemeClr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chemeClr val="bg2">
                    <a:lumMod val="90000"/>
                    <a:lumOff val="10000"/>
                  </a:schemeClr>
                </a:solidFill>
                <a:latin typeface="Arial MT"/>
                <a:cs typeface="Arial MT"/>
              </a:rPr>
              <a:t>Layout:</a:t>
            </a:r>
            <a:r>
              <a:rPr sz="1050" spc="75" dirty="0">
                <a:solidFill>
                  <a:schemeClr val="bg2">
                    <a:lumMod val="90000"/>
                    <a:lumOff val="10000"/>
                  </a:schemeClr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chemeClr val="bg2">
                    <a:lumMod val="90000"/>
                    <a:lumOff val="10000"/>
                  </a:schemeClr>
                </a:solidFill>
                <a:latin typeface="Arial MT"/>
                <a:cs typeface="Arial MT"/>
              </a:rPr>
              <a:t>supplied</a:t>
            </a:r>
            <a:r>
              <a:rPr sz="1050" spc="75" dirty="0">
                <a:solidFill>
                  <a:schemeClr val="bg2">
                    <a:lumMod val="90000"/>
                    <a:lumOff val="10000"/>
                  </a:schemeClr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chemeClr val="bg2">
                    <a:lumMod val="90000"/>
                    <a:lumOff val="10000"/>
                  </a:schemeClr>
                </a:solidFill>
                <a:latin typeface="Arial MT"/>
                <a:cs typeface="Arial MT"/>
              </a:rPr>
              <a:t>SIH</a:t>
            </a:r>
            <a:r>
              <a:rPr sz="1050" spc="75" dirty="0">
                <a:solidFill>
                  <a:schemeClr val="bg2">
                    <a:lumMod val="90000"/>
                    <a:lumOff val="10000"/>
                  </a:schemeClr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chemeClr val="bg2">
                    <a:lumMod val="90000"/>
                    <a:lumOff val="10000"/>
                  </a:schemeClr>
                </a:solidFill>
                <a:latin typeface="Arial MT"/>
                <a:cs typeface="Arial MT"/>
              </a:rPr>
              <a:t>2026</a:t>
            </a:r>
            <a:r>
              <a:rPr sz="1050" spc="75" dirty="0">
                <a:solidFill>
                  <a:schemeClr val="bg2">
                    <a:lumMod val="90000"/>
                    <a:lumOff val="10000"/>
                  </a:schemeClr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chemeClr val="bg2">
                    <a:lumMod val="90000"/>
                    <a:lumOff val="10000"/>
                  </a:schemeClr>
                </a:solidFill>
                <a:latin typeface="Arial MT"/>
                <a:cs typeface="Arial MT"/>
              </a:rPr>
              <a:t>presentation</a:t>
            </a:r>
            <a:r>
              <a:rPr sz="1050" spc="75" dirty="0">
                <a:solidFill>
                  <a:schemeClr val="bg2">
                    <a:lumMod val="90000"/>
                    <a:lumOff val="10000"/>
                  </a:schemeClr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chemeClr val="bg2">
                    <a:lumMod val="90000"/>
                    <a:lumOff val="10000"/>
                  </a:schemeClr>
                </a:solidFill>
                <a:latin typeface="Arial MT"/>
                <a:cs typeface="Arial MT"/>
              </a:rPr>
              <a:t>template.</a:t>
            </a:r>
            <a:endParaRPr sz="1050" dirty="0">
              <a:solidFill>
                <a:schemeClr val="bg2">
                  <a:lumMod val="90000"/>
                  <a:lumOff val="10000"/>
                </a:schemeClr>
              </a:solidFill>
              <a:latin typeface="Arial MT"/>
              <a:cs typeface="Arial MT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b="1" spc="-50" dirty="0">
                <a:solidFill>
                  <a:schemeClr val="bg2">
                    <a:lumMod val="10000"/>
                    <a:lumOff val="90000"/>
                  </a:schemeClr>
                </a:solidFill>
                <a:latin typeface="Calibri"/>
                <a:cs typeface="Calibri"/>
              </a:rPr>
              <a:pPr marL="38100">
                <a:lnSpc>
                  <a:spcPts val="1240"/>
                </a:lnSpc>
              </a:pPr>
              <a:t>6</a:t>
            </a:fld>
            <a:endParaRPr sz="1200" b="1" spc="-50" dirty="0">
              <a:solidFill>
                <a:schemeClr val="bg2">
                  <a:lumMod val="10000"/>
                  <a:lumOff val="90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29" name="object 29" descr="$PPTXTitle">
            <a:extLst>
              <a:ext uri="{FF2B5EF4-FFF2-40B4-BE49-F238E27FC236}">
                <a16:creationId xmlns:a16="http://schemas.microsoft.com/office/drawing/2014/main" id="{E028924E-2A7F-D64E-6ACC-4032BCF502FD}"/>
              </a:ext>
            </a:extLst>
          </p:cNvPr>
          <p:cNvSpPr txBox="1">
            <a:spLocks/>
          </p:cNvSpPr>
          <p:nvPr/>
        </p:nvSpPr>
        <p:spPr>
          <a:xfrm>
            <a:off x="762000" y="501099"/>
            <a:ext cx="11212479" cy="632224"/>
          </a:xfrm>
          <a:prstGeom prst="rect">
            <a:avLst/>
          </a:prstGeom>
        </p:spPr>
        <p:txBody>
          <a:bodyPr vert="horz" wrap="square" lIns="0" tIns="16510" rIns="0" bIns="0" rtlCol="0" anchor="b">
            <a:sp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lang="en-US" sz="2800" b="1" kern="1200" spc="-3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4000" spc="-85">
                <a:solidFill>
                  <a:schemeClr val="bg2">
                    <a:lumMod val="10000"/>
                    <a:lumOff val="90000"/>
                  </a:schemeClr>
                </a:solidFill>
              </a:rPr>
              <a:t>Vehicle Sat-Nav Hazard Detection &amp; Rerouting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B93026-B8A4-4FE9-8E48-8009734911E7}" vid="{E43B60F7-EC4F-4A08-AFF5-BDC94162E533}"/>
    </a:ext>
  </a:extLst>
</a:theme>
</file>

<file path=ppt/theme/themeOverride1.xml><?xml version="1.0" encoding="utf-8"?>
<a:themeOverride xmlns:a="http://schemas.openxmlformats.org/drawingml/2006/main">
  <a:clrScheme name="Helena">
    <a:dk1>
      <a:sysClr val="windowText" lastClr="000000"/>
    </a:dk1>
    <a:lt1>
      <a:sysClr val="window" lastClr="FFFFFF"/>
    </a:lt1>
    <a:dk2>
      <a:srgbClr val="2C3932"/>
    </a:dk2>
    <a:lt2>
      <a:srgbClr val="FDF6EA"/>
    </a:lt2>
    <a:accent1>
      <a:srgbClr val="169C9A"/>
    </a:accent1>
    <a:accent2>
      <a:srgbClr val="FA9A42"/>
    </a:accent2>
    <a:accent3>
      <a:srgbClr val="E15C3D"/>
    </a:accent3>
    <a:accent4>
      <a:srgbClr val="E78A67"/>
    </a:accent4>
    <a:accent5>
      <a:srgbClr val="A74B40"/>
    </a:accent5>
    <a:accent6>
      <a:srgbClr val="3D9072"/>
    </a:accent6>
    <a:hlink>
      <a:srgbClr val="169C9A"/>
    </a:hlink>
    <a:folHlink>
      <a:srgbClr val="E15C3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</TotalTime>
  <Words>606</Words>
  <Application>Microsoft Office PowerPoint</Application>
  <PresentationFormat>Widescreen</PresentationFormat>
  <Paragraphs>82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MT</vt:lpstr>
      <vt:lpstr>Calibri</vt:lpstr>
      <vt:lpstr>Times New Roman</vt:lpstr>
      <vt:lpstr>Helena</vt:lpstr>
      <vt:lpstr>Project Based Learning - III</vt:lpstr>
      <vt:lpstr>Vehicle Sat-Nav Hazard Detection &amp; Rerouting System</vt:lpstr>
      <vt:lpstr>PowerPoint Presentation</vt:lpstr>
      <vt:lpstr>Vehicle Sat-Nav Hazard Detection &amp; Rerouting System</vt:lpstr>
      <vt:lpstr>Vehicle Sat-Nav Hazard Detection &amp; Rerouting System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Avyukt Gupta</cp:lastModifiedBy>
  <cp:revision>3</cp:revision>
  <dcterms:created xsi:type="dcterms:W3CDTF">2026-09-08T06:05:34Z</dcterms:created>
  <dcterms:modified xsi:type="dcterms:W3CDTF">2026-10-07T01:04:22Z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2026-09-08T00:00:00Z</vt:filetime>
  </property>
  <property fmtid="{D5CDD505-2E9C-101B-9397-08002B2CF9AE}" pid="4" name="LastSaved">
    <vt:filetime>2026-09-08T00:00:00Z</vt:filetime>
  </property>
</Properties>
</file>