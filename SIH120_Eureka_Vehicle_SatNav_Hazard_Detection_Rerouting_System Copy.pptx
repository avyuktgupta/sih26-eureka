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79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12192000" cy="6858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9" d="100"/>
          <a:sy n="79" d="100"/>
        </p:scale>
        <p:origin x="821" y="7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642" y="97104"/>
            <a:ext cx="4134357" cy="3331896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8" y="4492488"/>
            <a:ext cx="3349751" cy="1411356"/>
          </a:xfr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373880" y="0"/>
            <a:ext cx="781812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A6E6A4C-6C55-068A-43AA-78DB4D1D643B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6644" y="6338703"/>
            <a:ext cx="2196699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991F941-2D53-CC10-7947-62237A245FE0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2383669" y="6338703"/>
            <a:ext cx="1392578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1A2CCFF-14A7-08A8-4465-732CD8928728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3776247" y="6342301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11187495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2647" y="1709862"/>
            <a:ext cx="10963656" cy="45137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22194748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846390" y="1411358"/>
            <a:ext cx="3888410" cy="284556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4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846388" y="4403039"/>
            <a:ext cx="3888410" cy="1123122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6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51A639AF-317A-79DF-3175-64C726EA3189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7424272" cy="6858000"/>
          </a:xfrm>
          <a:custGeom>
            <a:avLst/>
            <a:gdLst>
              <a:gd name="connsiteX0" fmla="*/ 0 w 7195675"/>
              <a:gd name="connsiteY0" fmla="*/ 0 h 6858000"/>
              <a:gd name="connsiteX1" fmla="*/ 7195675 w 7195675"/>
              <a:gd name="connsiteY1" fmla="*/ 0 h 6858000"/>
              <a:gd name="connsiteX2" fmla="*/ 7195675 w 7195675"/>
              <a:gd name="connsiteY2" fmla="*/ 6858000 h 6858000"/>
              <a:gd name="connsiteX3" fmla="*/ 0 w 7195675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95675" h="6858000">
                <a:moveTo>
                  <a:pt x="0" y="0"/>
                </a:moveTo>
                <a:lnTo>
                  <a:pt x="7195675" y="0"/>
                </a:lnTo>
                <a:lnTo>
                  <a:pt x="7195675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846388" y="6343955"/>
            <a:ext cx="210048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767853" y="6343955"/>
            <a:ext cx="147516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066" y="6343955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157369131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12647" y="1143000"/>
            <a:ext cx="8683753" cy="3095149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60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12647" y="4498848"/>
            <a:ext cx="6881457" cy="1014984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sz="1800" dirty="0"/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6343955"/>
            <a:ext cx="2805405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221509" y="6343955"/>
            <a:ext cx="2875064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18999672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AC53C90-8C33-0C80-CBD4-B3BEE604E2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1758" y="1869103"/>
            <a:ext cx="9337042" cy="4906929"/>
          </a:xfrm>
        </p:spPr>
        <p:txBody>
          <a:bodyPr>
            <a:normAutofit/>
          </a:bodyPr>
          <a:lstStyle>
            <a:lvl1pPr>
              <a:defRPr sz="7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647" y="137388"/>
            <a:ext cx="2805405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93929" y="137388"/>
            <a:ext cx="2202644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137388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0554831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111" y="105196"/>
            <a:ext cx="9023561" cy="2113392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647" y="2484255"/>
            <a:ext cx="8467558" cy="3539514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1800"/>
            </a:lvl1pPr>
            <a:lvl2pPr marL="685800" indent="-457200">
              <a:buFont typeface="+mj-lt"/>
              <a:buAutoNum type="arabicPeriod"/>
              <a:defRPr sz="1600"/>
            </a:lvl2pPr>
            <a:lvl3pPr marL="800100" indent="-342900">
              <a:buFont typeface="+mj-lt"/>
              <a:buAutoNum type="arabicPeriod"/>
              <a:defRPr sz="1400"/>
            </a:lvl3pPr>
            <a:lvl4pPr marL="1028700" indent="-342900">
              <a:buFont typeface="+mj-lt"/>
              <a:buAutoNum type="arabicPeriod"/>
              <a:defRPr sz="1400"/>
            </a:lvl4pPr>
            <a:lvl5pPr marL="1257300" indent="-342900"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6547340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641011" y="73742"/>
            <a:ext cx="6863496" cy="2220726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D26684C-23E4-F6A1-5A03-70AE7BEA72CA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1" y="0"/>
            <a:ext cx="4565591" cy="6858000"/>
          </a:xfrm>
          <a:custGeom>
            <a:avLst/>
            <a:gdLst>
              <a:gd name="connsiteX0" fmla="*/ 0 w 4565591"/>
              <a:gd name="connsiteY0" fmla="*/ 0 h 6858000"/>
              <a:gd name="connsiteX1" fmla="*/ 4565591 w 4565591"/>
              <a:gd name="connsiteY1" fmla="*/ 0 h 6858000"/>
              <a:gd name="connsiteX2" fmla="*/ 4565591 w 4565591"/>
              <a:gd name="connsiteY2" fmla="*/ 6858000 h 6858000"/>
              <a:gd name="connsiteX3" fmla="*/ 0 w 4565591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5591" h="6858000">
                <a:moveTo>
                  <a:pt x="0" y="0"/>
                </a:moveTo>
                <a:lnTo>
                  <a:pt x="4565591" y="0"/>
                </a:lnTo>
                <a:lnTo>
                  <a:pt x="4565591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588000" y="2726267"/>
            <a:ext cx="5916507" cy="3436789"/>
          </a:xfrm>
        </p:spPr>
        <p:txBody>
          <a:bodyPr>
            <a:normAutofit/>
          </a:bodyPr>
          <a:lstStyle>
            <a:lvl1pPr marL="457200" indent="-457200">
              <a:buFont typeface="+mj-lt"/>
              <a:buAutoNum type="arabicPeriod"/>
              <a:defRPr sz="2000"/>
            </a:lvl1pPr>
            <a:lvl2pPr marL="571500" indent="-342900">
              <a:buFont typeface="+mj-lt"/>
              <a:buAutoNum type="arabicPeriod"/>
              <a:defRPr sz="1800"/>
            </a:lvl2pPr>
            <a:lvl3pPr marL="800100" indent="-342900">
              <a:buFont typeface="+mj-lt"/>
              <a:buAutoNum type="arabicPeriod"/>
              <a:defRPr sz="1600"/>
            </a:lvl3pPr>
            <a:lvl4pPr marL="1028700" indent="-342900">
              <a:buFont typeface="+mj-lt"/>
              <a:buAutoNum type="arabicPeriod"/>
              <a:defRPr sz="1400"/>
            </a:lvl4pPr>
            <a:lvl5pPr>
              <a:buFont typeface="+mj-lt"/>
              <a:buAutoNum type="arabicPeriod"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88000" y="6343955"/>
            <a:ext cx="298540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535886" y="6343955"/>
            <a:ext cx="1553108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1299489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4678" y="1388700"/>
            <a:ext cx="3923455" cy="408358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56011" y="1389134"/>
            <a:ext cx="6045390" cy="40835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18497522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707549"/>
            <a:ext cx="3349754" cy="2721451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648200" y="708184"/>
            <a:ext cx="6928103" cy="551481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1861233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56011" y="612648"/>
            <a:ext cx="6426389" cy="11430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Picture Placeholder 13">
            <a:extLst>
              <a:ext uri="{FF2B5EF4-FFF2-40B4-BE49-F238E27FC236}">
                <a16:creationId xmlns:a16="http://schemas.microsoft.com/office/drawing/2014/main" id="{0F6718FE-EF5C-5023-A98D-91BFEF2C0337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560454" cy="6858000"/>
          </a:xfrm>
          <a:custGeom>
            <a:avLst/>
            <a:gdLst>
              <a:gd name="connsiteX0" fmla="*/ 0 w 4560454"/>
              <a:gd name="connsiteY0" fmla="*/ 0 h 6858000"/>
              <a:gd name="connsiteX1" fmla="*/ 4560454 w 4560454"/>
              <a:gd name="connsiteY1" fmla="*/ 0 h 6858000"/>
              <a:gd name="connsiteX2" fmla="*/ 4560454 w 4560454"/>
              <a:gd name="connsiteY2" fmla="*/ 6858000 h 6858000"/>
              <a:gd name="connsiteX3" fmla="*/ 0 w 4560454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560454" h="6858000">
                <a:moveTo>
                  <a:pt x="0" y="0"/>
                </a:moveTo>
                <a:lnTo>
                  <a:pt x="4560454" y="0"/>
                </a:lnTo>
                <a:lnTo>
                  <a:pt x="4560454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57368" y="1978488"/>
            <a:ext cx="6418935" cy="428558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156010" y="6343955"/>
            <a:ext cx="3364903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030713" y="6343955"/>
            <a:ext cx="2060808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2757658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8" y="474177"/>
            <a:ext cx="6950232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4023360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1627632"/>
            <a:ext cx="6950232" cy="468622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8" y="6343955"/>
            <a:ext cx="3422906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8945699" y="6343955"/>
            <a:ext cx="2150873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43755442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475488"/>
            <a:ext cx="6858000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627632"/>
            <a:ext cx="6858000" cy="453537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6870"/>
            <a:ext cx="2805405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4115853" y="6346870"/>
            <a:ext cx="2925587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7041440" y="6346870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1732" y="0"/>
            <a:ext cx="4100267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445342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9" y="420623"/>
            <a:ext cx="4494189" cy="132588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1975104"/>
            <a:ext cx="4494063" cy="41569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2776" y="6343955"/>
            <a:ext cx="209862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213651" y="6343955"/>
            <a:ext cx="1573037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796658" y="6343955"/>
            <a:ext cx="429207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959483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697" y="429768"/>
            <a:ext cx="3657600" cy="166722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5823" y="2315569"/>
            <a:ext cx="3657600" cy="38148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5697" y="6343955"/>
            <a:ext cx="1637337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703447" y="6343955"/>
            <a:ext cx="949766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653213" y="6343955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895088" y="0"/>
            <a:ext cx="7296912" cy="685800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98964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1" y="929554"/>
            <a:ext cx="2699254" cy="1858941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693346" cy="2656250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343955"/>
            <a:ext cx="1404460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343955"/>
            <a:ext cx="854573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47096" y="6343955"/>
            <a:ext cx="429207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239297549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6" y="4162318"/>
            <a:ext cx="3044954" cy="189280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2500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778270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122370" y="4162318"/>
            <a:ext cx="7460029" cy="2091525"/>
          </a:xfr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/>
            </a:lvl1pPr>
            <a:lvl2pPr marL="228600" indent="0">
              <a:buNone/>
              <a:defRPr lang="en-US" dirty="0"/>
            </a:lvl2pPr>
            <a:lvl3pPr marL="457200" indent="0">
              <a:buNone/>
              <a:defRPr lang="en-US" dirty="0"/>
            </a:lvl3pPr>
            <a:lvl4pPr marL="685800" indent="0">
              <a:buNone/>
              <a:defRPr lang="en-US" dirty="0"/>
            </a:lvl4pPr>
            <a:lvl5pPr marL="914400" indent="0">
              <a:buNone/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89320597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559341"/>
            <a:ext cx="10969753" cy="93268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647" y="1912398"/>
            <a:ext cx="4637269" cy="42076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12647" y="6343955"/>
            <a:ext cx="2642932" cy="365125"/>
          </a:xfrm>
        </p:spPr>
        <p:txBody>
          <a:bodyPr/>
          <a:lstStyle/>
          <a:p>
            <a:endParaRPr lang="en-IN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EC8422D5-19BC-1CA0-FD0B-D86260BAA322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5737221" y="1912938"/>
            <a:ext cx="5741992" cy="4224337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86595" y="6343955"/>
            <a:ext cx="1449697" cy="365125"/>
          </a:xfrm>
        </p:spPr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136293" y="6343955"/>
            <a:ext cx="443060" cy="365125"/>
          </a:xfrm>
        </p:spPr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251486200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706802"/>
            <a:ext cx="4672584" cy="126948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720468" y="2173850"/>
            <a:ext cx="4564763" cy="3963682"/>
          </a:xfr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905563" y="732155"/>
            <a:ext cx="5676838" cy="54053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45427143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6306E-B77F-CE22-FA8C-F08F17B5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9199" y="4893733"/>
            <a:ext cx="9762068" cy="1059806"/>
          </a:xfrm>
        </p:spPr>
        <p:txBody>
          <a:bodyPr anchor="ctr">
            <a:normAutofit/>
          </a:bodyPr>
          <a:lstStyle>
            <a:lvl1pPr algn="ctr">
              <a:lnSpc>
                <a:spcPct val="110000"/>
              </a:lnSpc>
              <a:defRPr sz="2600" b="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E418DF0B-1F85-2BB3-D241-A3A14BF7290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22960" y="484094"/>
            <a:ext cx="10543032" cy="4536141"/>
          </a:xfrm>
        </p:spPr>
        <p:txBody>
          <a:bodyPr anchor="b">
            <a:normAutofit/>
          </a:bodyPr>
          <a:lstStyle>
            <a:lvl1pPr marL="0" indent="0" algn="ctr">
              <a:lnSpc>
                <a:spcPct val="90000"/>
              </a:lnSpc>
              <a:buNone/>
              <a:defRPr sz="27000" b="1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4183572739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9264" y="42335"/>
            <a:ext cx="11517039" cy="6172200"/>
          </a:xfr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8000" b="1"/>
            </a:lvl1pPr>
            <a:lvl2pPr marL="228600" indent="0">
              <a:lnSpc>
                <a:spcPct val="90000"/>
              </a:lnSpc>
              <a:buNone/>
              <a:defRPr sz="7200" b="1"/>
            </a:lvl2pPr>
            <a:lvl3pPr marL="457200" indent="0">
              <a:lnSpc>
                <a:spcPct val="90000"/>
              </a:lnSpc>
              <a:buNone/>
              <a:defRPr sz="6600" b="1"/>
            </a:lvl3pPr>
            <a:lvl4pPr marL="685800" indent="0">
              <a:lnSpc>
                <a:spcPct val="90000"/>
              </a:lnSpc>
              <a:buNone/>
              <a:defRPr sz="6000" b="1"/>
            </a:lvl4pPr>
            <a:lvl5pPr marL="914400" indent="0">
              <a:lnSpc>
                <a:spcPct val="90000"/>
              </a:lnSpc>
              <a:buNone/>
              <a:defRPr sz="5400" b="1"/>
            </a:lvl5pPr>
          </a:lstStyle>
          <a:p>
            <a:pPr lvl="0"/>
            <a:r>
              <a:rPr lang="en-US" dirty="0"/>
              <a:t>Click to edit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31551054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499616" y="5029200"/>
            <a:ext cx="9198864" cy="640080"/>
          </a:xfrm>
        </p:spPr>
        <p:txBody>
          <a:bodyPr anchor="ctr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accent1">
                    <a:lumMod val="7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99616" y="1188720"/>
            <a:ext cx="9198864" cy="3332480"/>
          </a:xfrm>
        </p:spPr>
        <p:txBody>
          <a:bodyPr anchor="ctr">
            <a:normAutofit/>
          </a:bodyPr>
          <a:lstStyle>
            <a:lvl1pPr marL="164592" indent="-164592">
              <a:lnSpc>
                <a:spcPct val="100000"/>
              </a:lnSpc>
              <a:spcBef>
                <a:spcPts val="0"/>
              </a:spcBef>
              <a:buNone/>
              <a:defRPr sz="4800">
                <a:latin typeface="+mj-lt"/>
              </a:defRPr>
            </a:lvl1pPr>
          </a:lstStyle>
          <a:p>
            <a:pPr lvl="0"/>
            <a:r>
              <a:rPr lang="en-US" dirty="0"/>
              <a:t>Click to edit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66013116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741152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27D5A5-84C3-7EDE-A8EB-2DE057DE46A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2775" y="1825625"/>
            <a:ext cx="507492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D54150AE-A7C6-D328-35D7-F5B840930E3B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8563" y="1825625"/>
            <a:ext cx="5075237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14168256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512064"/>
            <a:ext cx="10745788" cy="969264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600" y="2387600"/>
            <a:ext cx="5075238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0468" y="1685735"/>
            <a:ext cx="5074920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832" y="2387600"/>
            <a:ext cx="5075556" cy="37861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34228878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2064"/>
            <a:ext cx="10963656" cy="969264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4036448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386953560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99" y="89808"/>
            <a:ext cx="11462003" cy="2514600"/>
          </a:xfrm>
        </p:spPr>
        <p:txBody>
          <a:bodyPr anchor="t">
            <a:norm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12775" y="3118757"/>
            <a:ext cx="10963528" cy="2620736"/>
          </a:xfrm>
        </p:spPr>
        <p:txBody>
          <a:bodyPr/>
          <a:lstStyle>
            <a:lvl1pPr marL="0" indent="0">
              <a:buNone/>
              <a:defRPr/>
            </a:lvl1pPr>
            <a:lvl2pPr marL="228600" indent="0">
              <a:buNone/>
              <a:defRPr/>
            </a:lvl2pPr>
            <a:lvl3pPr marL="457200" indent="0">
              <a:buNone/>
              <a:defRPr/>
            </a:lvl3pPr>
            <a:lvl4pPr marL="685800" indent="0">
              <a:buNone/>
              <a:defRPr/>
            </a:lvl4pPr>
            <a:lvl5pPr marL="91440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2355815121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7" y="1627318"/>
            <a:ext cx="8430767" cy="1842020"/>
          </a:xfrm>
        </p:spPr>
        <p:txBody>
          <a:bodyPr anchor="b">
            <a:noAutofit/>
          </a:bodyPr>
          <a:lstStyle>
            <a:lvl1pPr>
              <a:defRPr sz="7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12775" y="3622674"/>
            <a:ext cx="8430639" cy="1608008"/>
          </a:xfrm>
        </p:spPr>
        <p:txBody>
          <a:bodyPr>
            <a:normAutofit/>
          </a:bodyPr>
          <a:lstStyle>
            <a:lvl1pPr marL="0" indent="0">
              <a:buNone/>
              <a:defRPr sz="1800"/>
            </a:lvl1pPr>
            <a:lvl2pPr marL="228600" indent="0">
              <a:buNone/>
              <a:defRPr sz="1600"/>
            </a:lvl2pPr>
            <a:lvl3pPr marL="457200" indent="0">
              <a:buNone/>
              <a:defRPr sz="1400"/>
            </a:lvl3pPr>
            <a:lvl4pPr marL="685800" indent="0">
              <a:buNone/>
              <a:defRPr sz="1400"/>
            </a:lvl4pPr>
            <a:lvl5pPr marL="914400" indent="0">
              <a:buNone/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141231234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3950" b="1" i="0">
                <a:solidFill>
                  <a:srgbClr val="1F487C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1200" b="1" i="0">
                <a:solidFill>
                  <a:schemeClr val="bg1"/>
                </a:solidFill>
                <a:latin typeface="Calibri"/>
                <a:cs typeface="Calibri"/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/>
              <a:t>‹#›</a:t>
            </a:fld>
            <a:endParaRPr spc="-50" dirty="0"/>
          </a:p>
        </p:txBody>
      </p:sp>
    </p:spTree>
    <p:extLst>
      <p:ext uri="{BB962C8B-B14F-4D97-AF65-F5344CB8AC3E}">
        <p14:creationId xmlns:p14="http://schemas.microsoft.com/office/powerpoint/2010/main" val="11989958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514649"/>
            <a:ext cx="10963655" cy="97237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12647" y="1709862"/>
            <a:ext cx="10963656" cy="45137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12647" y="6343955"/>
            <a:ext cx="280540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93929" y="6343955"/>
            <a:ext cx="220264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1D8BD707-D9CF-40AE-B4C6-C98DA3205C09}" type="datetimeFigureOut">
              <a:rPr lang="en-US" smtClean="0"/>
              <a:t>10/7/2026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47096" y="6343955"/>
            <a:ext cx="42920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pPr marL="38100">
              <a:lnSpc>
                <a:spcPts val="1240"/>
              </a:lnSpc>
            </a:pPr>
            <a:fld id="{81D60167-4931-47E6-BA6A-407CBD079E47}" type="slidenum">
              <a:rPr lang="en-IN" spc="-50" smtClean="0"/>
              <a:t>‹#›</a:t>
            </a:fld>
            <a:endParaRPr lang="en-IN" spc="-50" dirty="0"/>
          </a:p>
        </p:txBody>
      </p:sp>
    </p:spTree>
    <p:extLst>
      <p:ext uri="{BB962C8B-B14F-4D97-AF65-F5344CB8AC3E}">
        <p14:creationId xmlns:p14="http://schemas.microsoft.com/office/powerpoint/2010/main" val="243377530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9" r:id="rId1"/>
    <p:sldLayoutId id="2147483800" r:id="rId2"/>
    <p:sldLayoutId id="2147483801" r:id="rId3"/>
    <p:sldLayoutId id="2147483802" r:id="rId4"/>
    <p:sldLayoutId id="2147483803" r:id="rId5"/>
    <p:sldLayoutId id="2147483804" r:id="rId6"/>
    <p:sldLayoutId id="2147483805" r:id="rId7"/>
    <p:sldLayoutId id="2147483806" r:id="rId8"/>
    <p:sldLayoutId id="2147483807" r:id="rId9"/>
    <p:sldLayoutId id="2147483808" r:id="rId10"/>
    <p:sldLayoutId id="2147483809" r:id="rId11"/>
    <p:sldLayoutId id="2147483810" r:id="rId12"/>
    <p:sldLayoutId id="2147483811" r:id="rId13"/>
    <p:sldLayoutId id="2147483812" r:id="rId14"/>
    <p:sldLayoutId id="2147483813" r:id="rId15"/>
    <p:sldLayoutId id="2147483814" r:id="rId16"/>
    <p:sldLayoutId id="2147483815" r:id="rId17"/>
    <p:sldLayoutId id="2147483816" r:id="rId18"/>
    <p:sldLayoutId id="2147483817" r:id="rId19"/>
    <p:sldLayoutId id="2147483818" r:id="rId20"/>
    <p:sldLayoutId id="2147483819" r:id="rId21"/>
    <p:sldLayoutId id="2147483820" r:id="rId22"/>
    <p:sldLayoutId id="2147483821" r:id="rId23"/>
    <p:sldLayoutId id="2147483822" r:id="rId24"/>
    <p:sldLayoutId id="2147483823" r:id="rId25"/>
    <p:sldLayoutId id="2147483824" r:id="rId26"/>
    <p:sldLayoutId id="2147483825" r:id="rId27"/>
    <p:sldLayoutId id="2147483826" r:id="rId28"/>
  </p:sldLayoutIdLst>
  <p:txStyles>
    <p:titleStyle>
      <a:lvl1pPr algn="l" defTabSz="914400" rtl="0" eaLnBrk="1" latinLnBrk="0" hangingPunct="1">
        <a:lnSpc>
          <a:spcPct val="95000"/>
        </a:lnSpc>
        <a:spcBef>
          <a:spcPct val="0"/>
        </a:spcBef>
        <a:buNone/>
        <a:defRPr sz="2800" b="1" kern="1200" spc="-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7" orient="horz" pos="2160">
          <p15:clr>
            <a:srgbClr val="F26B43"/>
          </p15:clr>
        </p15:guide>
        <p15:guide id="8" pos="3840">
          <p15:clr>
            <a:srgbClr val="F26B43"/>
          </p15:clr>
        </p15:guide>
        <p15:guide id="9" pos="7296">
          <p15:clr>
            <a:srgbClr val="F26B43"/>
          </p15:clr>
        </p15:guide>
        <p15:guide id="10" pos="38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6" descr="$PPTXTitle"/>
          <p:cNvSpPr txBox="1">
            <a:spLocks noGrp="1"/>
          </p:cNvSpPr>
          <p:nvPr>
            <p:ph type="title"/>
          </p:nvPr>
        </p:nvSpPr>
        <p:spPr>
          <a:xfrm>
            <a:off x="3386137" y="456988"/>
            <a:ext cx="5419725" cy="632460"/>
          </a:xfrm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4000" spc="-85" dirty="0">
                <a:solidFill>
                  <a:schemeClr val="bg2">
                    <a:lumMod val="10000"/>
                    <a:lumOff val="90000"/>
                  </a:schemeClr>
                </a:solidFill>
              </a:rPr>
              <a:t>Project Based Learning - III</a:t>
            </a:r>
            <a:endParaRPr sz="4000" spc="-20" dirty="0">
              <a:solidFill>
                <a:schemeClr val="bg2">
                  <a:lumMod val="10000"/>
                  <a:lumOff val="90000"/>
                </a:schemeClr>
              </a:solidFill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431013" y="2607203"/>
            <a:ext cx="5767074" cy="302903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03200" indent="-190500">
              <a:lnSpc>
                <a:spcPct val="100000"/>
              </a:lnSpc>
              <a:buChar char="•"/>
              <a:tabLst>
                <a:tab pos="203200" algn="l"/>
              </a:tabLst>
            </a:pPr>
            <a:r>
              <a:rPr lang="en-US" sz="2800" b="1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Name</a:t>
            </a:r>
            <a:r>
              <a:rPr lang="en-IN" sz="2800" b="1" spc="25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 </a:t>
            </a:r>
            <a:r>
              <a:rPr lang="en-IN" sz="2800" b="1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–</a:t>
            </a:r>
            <a:r>
              <a:rPr lang="en-US" sz="2800" dirty="0">
                <a:solidFill>
                  <a:schemeClr val="bg2">
                    <a:lumMod val="10000"/>
                    <a:lumOff val="90000"/>
                  </a:schemeClr>
                </a:solidFill>
              </a:rPr>
              <a:t>Sat-Nav Hazard Rerouting System</a:t>
            </a:r>
          </a:p>
          <a:p>
            <a:pPr marL="203200" indent="-190500">
              <a:lnSpc>
                <a:spcPct val="100000"/>
              </a:lnSpc>
              <a:buChar char="•"/>
              <a:tabLst>
                <a:tab pos="203200" algn="l"/>
              </a:tabLst>
            </a:pPr>
            <a:endParaRPr lang="en-US" sz="2800" dirty="0">
              <a:solidFill>
                <a:schemeClr val="bg2">
                  <a:lumMod val="10000"/>
                  <a:lumOff val="90000"/>
                </a:schemeClr>
              </a:solidFill>
            </a:endParaRPr>
          </a:p>
          <a:p>
            <a:pPr marL="203200" indent="-190500">
              <a:lnSpc>
                <a:spcPct val="100000"/>
              </a:lnSpc>
              <a:buChar char="•"/>
              <a:tabLst>
                <a:tab pos="203200" algn="l"/>
              </a:tabLst>
            </a:pPr>
            <a:r>
              <a:rPr sz="2800" b="1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Problem</a:t>
            </a:r>
            <a:r>
              <a:rPr sz="2800" b="1" spc="20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 </a:t>
            </a:r>
            <a:r>
              <a:rPr sz="2800" b="1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Statement</a:t>
            </a:r>
            <a:r>
              <a:rPr sz="2800" b="1" spc="25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 </a:t>
            </a:r>
            <a:r>
              <a:rPr sz="2800" b="1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–</a:t>
            </a:r>
            <a:r>
              <a:rPr sz="2800" b="1" spc="20" dirty="0">
                <a:solidFill>
                  <a:schemeClr val="bg2">
                    <a:lumMod val="10000"/>
                    <a:lumOff val="90000"/>
                  </a:schemeClr>
                </a:solidFill>
                <a:cs typeface="Arial"/>
              </a:rPr>
              <a:t> </a:t>
            </a:r>
            <a:r>
              <a:rPr lang="en-US" sz="2800" dirty="0">
                <a:solidFill>
                  <a:schemeClr val="bg2">
                    <a:lumMod val="10000"/>
                    <a:lumOff val="90000"/>
                  </a:schemeClr>
                </a:solidFill>
                <a:cs typeface="Arial MT"/>
              </a:rPr>
              <a:t>Adaptive Path Planning and Collision Avoidance for Autonomous Vehicles on Unstructured Indian Roads</a:t>
            </a:r>
            <a:endParaRPr sz="2800" dirty="0">
              <a:solidFill>
                <a:schemeClr val="bg2">
                  <a:lumMod val="10000"/>
                  <a:lumOff val="90000"/>
                </a:schemeClr>
              </a:solidFill>
              <a:cs typeface="Arial MT"/>
            </a:endParaRPr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12"/>
          <p:cNvSpPr txBox="1"/>
          <p:nvPr/>
        </p:nvSpPr>
        <p:spPr>
          <a:xfrm>
            <a:off x="459902" y="2233146"/>
            <a:ext cx="3860800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47465" algn="l"/>
              </a:tabLst>
            </a:pPr>
            <a:r>
              <a:rPr sz="25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PROPOSED</a:t>
            </a:r>
            <a:r>
              <a:rPr sz="2500" b="1" spc="-10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SOLUTION</a:t>
            </a:r>
            <a:r>
              <a:rPr lang="en-US" sz="2500" b="1" spc="-10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 -</a:t>
            </a:r>
            <a:r>
              <a:rPr sz="25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	</a:t>
            </a:r>
            <a:endParaRPr sz="2500" dirty="0">
              <a:solidFill>
                <a:schemeClr val="bg2">
                  <a:lumMod val="10000"/>
                  <a:lumOff val="90000"/>
                </a:schemeClr>
              </a:solidFill>
              <a:latin typeface="Arial"/>
              <a:cs typeface="Arial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508000" y="2857500"/>
            <a:ext cx="3492500" cy="1841500"/>
          </a:xfrm>
          <a:custGeom>
            <a:avLst/>
            <a:gdLst/>
            <a:ahLst/>
            <a:cxnLst/>
            <a:rect l="l" t="t" r="r" b="b"/>
            <a:pathLst>
              <a:path w="3492500" h="1841500">
                <a:moveTo>
                  <a:pt x="3365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714500"/>
                </a:lnTo>
                <a:lnTo>
                  <a:pt x="9971" y="1763961"/>
                </a:lnTo>
                <a:lnTo>
                  <a:pt x="37172" y="1804327"/>
                </a:lnTo>
                <a:lnTo>
                  <a:pt x="77538" y="1831528"/>
                </a:lnTo>
                <a:lnTo>
                  <a:pt x="127000" y="1841500"/>
                </a:lnTo>
                <a:lnTo>
                  <a:pt x="3365500" y="1841500"/>
                </a:lnTo>
                <a:lnTo>
                  <a:pt x="3414961" y="1831528"/>
                </a:lnTo>
                <a:lnTo>
                  <a:pt x="3455327" y="1804327"/>
                </a:lnTo>
                <a:lnTo>
                  <a:pt x="3482528" y="1763961"/>
                </a:lnTo>
                <a:lnTo>
                  <a:pt x="3492500" y="1714500"/>
                </a:lnTo>
                <a:lnTo>
                  <a:pt x="3492500" y="127000"/>
                </a:lnTo>
                <a:lnTo>
                  <a:pt x="3482528" y="77538"/>
                </a:lnTo>
                <a:lnTo>
                  <a:pt x="3455327" y="37172"/>
                </a:lnTo>
                <a:lnTo>
                  <a:pt x="3414961" y="9971"/>
                </a:lnTo>
                <a:lnTo>
                  <a:pt x="3365500" y="0"/>
                </a:lnTo>
                <a:close/>
              </a:path>
            </a:pathLst>
          </a:custGeom>
          <a:solidFill>
            <a:srgbClr val="E9F2F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73100" y="2946400"/>
            <a:ext cx="99949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35289"/>
                </a:solidFill>
                <a:latin typeface="Arial"/>
                <a:cs typeface="Arial"/>
              </a:rPr>
              <a:t>1</a:t>
            </a:r>
            <a:r>
              <a:rPr sz="1500" b="1" spc="400" dirty="0">
                <a:solidFill>
                  <a:srgbClr val="235289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235289"/>
                </a:solidFill>
                <a:latin typeface="Arial"/>
                <a:cs typeface="Arial"/>
              </a:rPr>
              <a:t>DETECT</a:t>
            </a:r>
            <a:endParaRPr sz="15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60400" y="3246120"/>
            <a:ext cx="2910205" cy="914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" marR="5080" indent="-177800">
              <a:lnSpc>
                <a:spcPct val="109000"/>
              </a:lnSpc>
              <a:spcBef>
                <a:spcPts val="100"/>
              </a:spcBef>
              <a:buFont typeface="Arial"/>
              <a:buChar char="•"/>
              <a:tabLst>
                <a:tab pos="190500" algn="l"/>
              </a:tabLst>
            </a:pP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Ingest</a:t>
            </a:r>
            <a:r>
              <a:rPr sz="1300" spc="-5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weather,</a:t>
            </a:r>
            <a:r>
              <a:rPr sz="1300" spc="-5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terrain/DEM,</a:t>
            </a:r>
            <a:r>
              <a:rPr sz="1300" spc="-5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212121"/>
                </a:solidFill>
                <a:latin typeface="Arial MT"/>
                <a:cs typeface="Arial MT"/>
              </a:rPr>
              <a:t>satellite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and</a:t>
            </a:r>
            <a:r>
              <a:rPr sz="1300" spc="-3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212121"/>
                </a:solidFill>
                <a:latin typeface="Arial MT"/>
                <a:cs typeface="Arial MT"/>
              </a:rPr>
              <a:t>on-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road</a:t>
            </a:r>
            <a:r>
              <a:rPr sz="1300" spc="-3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perception</a:t>
            </a:r>
            <a:r>
              <a:rPr sz="1300" spc="-3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212121"/>
                </a:solidFill>
                <a:latin typeface="Arial MT"/>
                <a:cs typeface="Arial MT"/>
              </a:rPr>
              <a:t>data.</a:t>
            </a:r>
            <a:endParaRPr sz="1300">
              <a:latin typeface="Arial MT"/>
              <a:cs typeface="Arial MT"/>
            </a:endParaRPr>
          </a:p>
          <a:p>
            <a:pPr marL="190500" marR="187960" indent="-177800">
              <a:lnSpc>
                <a:spcPct val="109000"/>
              </a:lnSpc>
              <a:spcBef>
                <a:spcPts val="200"/>
              </a:spcBef>
              <a:buFont typeface="Arial"/>
              <a:buChar char="•"/>
              <a:tabLst>
                <a:tab pos="190500" algn="l"/>
              </a:tabLst>
            </a:pP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Analyse</a:t>
            </a:r>
            <a:r>
              <a:rPr sz="1300" spc="-1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a</a:t>
            </a:r>
            <a:r>
              <a:rPr sz="1300" spc="-10" dirty="0">
                <a:solidFill>
                  <a:srgbClr val="212121"/>
                </a:solidFill>
                <a:latin typeface="Arial MT"/>
                <a:cs typeface="Arial MT"/>
              </a:rPr>
              <a:t> 10–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20</a:t>
            </a:r>
            <a:r>
              <a:rPr sz="1300" spc="-1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km</a:t>
            </a:r>
            <a:r>
              <a:rPr sz="1300" spc="-1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route</a:t>
            </a:r>
            <a:r>
              <a:rPr sz="1300" spc="-1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212121"/>
                </a:solidFill>
                <a:latin typeface="Arial MT"/>
                <a:cs typeface="Arial MT"/>
              </a:rPr>
              <a:t>corridor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using</a:t>
            </a:r>
            <a:r>
              <a:rPr sz="130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dirty="0">
                <a:solidFill>
                  <a:srgbClr val="212121"/>
                </a:solidFill>
                <a:latin typeface="Arial MT"/>
                <a:cs typeface="Arial MT"/>
              </a:rPr>
              <a:t>H3</a:t>
            </a:r>
            <a:r>
              <a:rPr sz="130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300" spc="-10" dirty="0">
                <a:solidFill>
                  <a:srgbClr val="212121"/>
                </a:solidFill>
                <a:latin typeface="Arial MT"/>
                <a:cs typeface="Arial MT"/>
              </a:rPr>
              <a:t>tiles.</a:t>
            </a:r>
            <a:endParaRPr sz="13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4343400" y="2857500"/>
            <a:ext cx="3492500" cy="1841500"/>
          </a:xfrm>
          <a:custGeom>
            <a:avLst/>
            <a:gdLst/>
            <a:ahLst/>
            <a:cxnLst/>
            <a:rect l="l" t="t" r="r" b="b"/>
            <a:pathLst>
              <a:path w="3492500" h="1841500">
                <a:moveTo>
                  <a:pt x="3365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714500"/>
                </a:lnTo>
                <a:lnTo>
                  <a:pt x="9971" y="1763961"/>
                </a:lnTo>
                <a:lnTo>
                  <a:pt x="37172" y="1804327"/>
                </a:lnTo>
                <a:lnTo>
                  <a:pt x="77538" y="1831528"/>
                </a:lnTo>
                <a:lnTo>
                  <a:pt x="127000" y="1841500"/>
                </a:lnTo>
                <a:lnTo>
                  <a:pt x="3365500" y="1841500"/>
                </a:lnTo>
                <a:lnTo>
                  <a:pt x="3414961" y="1831528"/>
                </a:lnTo>
                <a:lnTo>
                  <a:pt x="3455327" y="1804327"/>
                </a:lnTo>
                <a:lnTo>
                  <a:pt x="3482528" y="1763961"/>
                </a:lnTo>
                <a:lnTo>
                  <a:pt x="3492500" y="1714500"/>
                </a:lnTo>
                <a:lnTo>
                  <a:pt x="3492500" y="127000"/>
                </a:lnTo>
                <a:lnTo>
                  <a:pt x="3482528" y="77538"/>
                </a:lnTo>
                <a:lnTo>
                  <a:pt x="3455327" y="37172"/>
                </a:lnTo>
                <a:lnTo>
                  <a:pt x="3414961" y="9971"/>
                </a:lnTo>
                <a:lnTo>
                  <a:pt x="3365500" y="0"/>
                </a:lnTo>
                <a:close/>
              </a:path>
            </a:pathLst>
          </a:custGeom>
          <a:solidFill>
            <a:srgbClr val="EDF6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4508500" y="2946400"/>
            <a:ext cx="101028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16725B"/>
                </a:solidFill>
                <a:latin typeface="Arial"/>
                <a:cs typeface="Arial"/>
              </a:rPr>
              <a:t>2</a:t>
            </a:r>
            <a:r>
              <a:rPr sz="1500" b="1" spc="400" dirty="0">
                <a:solidFill>
                  <a:srgbClr val="16725B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16725B"/>
                </a:solidFill>
                <a:latin typeface="Arial"/>
                <a:cs typeface="Arial"/>
              </a:rPr>
              <a:t>ASSESS</a:t>
            </a:r>
            <a:endParaRPr sz="15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4495800" y="3266440"/>
            <a:ext cx="3134995" cy="1234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" marR="5080" indent="-177800">
              <a:lnSpc>
                <a:spcPct val="105600"/>
              </a:lnSpc>
              <a:spcBef>
                <a:spcPts val="1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GBMs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score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landslide,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flood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and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avalanche risk.</a:t>
            </a:r>
            <a:endParaRPr sz="1200">
              <a:latin typeface="Arial MT"/>
              <a:cs typeface="Arial MT"/>
            </a:endParaRPr>
          </a:p>
          <a:p>
            <a:pPr marL="190500" marR="200025" indent="-177800">
              <a:lnSpc>
                <a:spcPct val="105600"/>
              </a:lnSpc>
              <a:spcBef>
                <a:spcPts val="195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CNN handles glacier/GLOF imagery </a:t>
            </a:r>
            <a:r>
              <a:rPr sz="1200" spc="-25" dirty="0">
                <a:solidFill>
                  <a:srgbClr val="212121"/>
                </a:solidFill>
                <a:latin typeface="Arial MT"/>
                <a:cs typeface="Arial MT"/>
              </a:rPr>
              <a:t>and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obstacle/lane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perception.</a:t>
            </a:r>
            <a:endParaRPr sz="1200">
              <a:latin typeface="Arial MT"/>
              <a:cs typeface="Arial MT"/>
            </a:endParaRPr>
          </a:p>
          <a:p>
            <a:pPr marL="190500" marR="241935" indent="-177800">
              <a:lnSpc>
                <a:spcPct val="105600"/>
              </a:lnSpc>
              <a:spcBef>
                <a:spcPts val="2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Fuse probability, severity, exposure </a:t>
            </a:r>
            <a:r>
              <a:rPr sz="1200" spc="-25" dirty="0">
                <a:solidFill>
                  <a:srgbClr val="212121"/>
                </a:solidFill>
                <a:latin typeface="Arial MT"/>
                <a:cs typeface="Arial MT"/>
              </a:rPr>
              <a:t>and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confidence; hysteresis filters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noise.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8178800" y="2857500"/>
            <a:ext cx="3492500" cy="1841500"/>
          </a:xfrm>
          <a:custGeom>
            <a:avLst/>
            <a:gdLst/>
            <a:ahLst/>
            <a:cxnLst/>
            <a:rect l="l" t="t" r="r" b="b"/>
            <a:pathLst>
              <a:path w="3492500" h="1841500">
                <a:moveTo>
                  <a:pt x="3365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714500"/>
                </a:lnTo>
                <a:lnTo>
                  <a:pt x="9971" y="1763961"/>
                </a:lnTo>
                <a:lnTo>
                  <a:pt x="37172" y="1804327"/>
                </a:lnTo>
                <a:lnTo>
                  <a:pt x="77538" y="1831528"/>
                </a:lnTo>
                <a:lnTo>
                  <a:pt x="127000" y="1841500"/>
                </a:lnTo>
                <a:lnTo>
                  <a:pt x="3365500" y="1841500"/>
                </a:lnTo>
                <a:lnTo>
                  <a:pt x="3414961" y="1831528"/>
                </a:lnTo>
                <a:lnTo>
                  <a:pt x="3455327" y="1804327"/>
                </a:lnTo>
                <a:lnTo>
                  <a:pt x="3482528" y="1763961"/>
                </a:lnTo>
                <a:lnTo>
                  <a:pt x="3492500" y="1714500"/>
                </a:lnTo>
                <a:lnTo>
                  <a:pt x="3492500" y="127000"/>
                </a:lnTo>
                <a:lnTo>
                  <a:pt x="3482528" y="77538"/>
                </a:lnTo>
                <a:lnTo>
                  <a:pt x="3455327" y="37172"/>
                </a:lnTo>
                <a:lnTo>
                  <a:pt x="3414961" y="9971"/>
                </a:lnTo>
                <a:lnTo>
                  <a:pt x="3365500" y="0"/>
                </a:lnTo>
                <a:close/>
              </a:path>
            </a:pathLst>
          </a:custGeom>
          <a:solidFill>
            <a:srgbClr val="FFF2D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object 20"/>
          <p:cNvSpPr txBox="1"/>
          <p:nvPr/>
        </p:nvSpPr>
        <p:spPr>
          <a:xfrm>
            <a:off x="8343900" y="2946400"/>
            <a:ext cx="202120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A05900"/>
                </a:solidFill>
                <a:latin typeface="Arial"/>
                <a:cs typeface="Arial"/>
              </a:rPr>
              <a:t>3</a:t>
            </a:r>
            <a:r>
              <a:rPr sz="1500" b="1" spc="370" dirty="0">
                <a:solidFill>
                  <a:srgbClr val="A05900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A05900"/>
                </a:solidFill>
                <a:latin typeface="Arial"/>
                <a:cs typeface="Arial"/>
              </a:rPr>
              <a:t>REROUTE</a:t>
            </a:r>
            <a:r>
              <a:rPr sz="1500" b="1" spc="-20" dirty="0">
                <a:solidFill>
                  <a:srgbClr val="A05900"/>
                </a:solidFill>
                <a:latin typeface="Arial"/>
                <a:cs typeface="Arial"/>
              </a:rPr>
              <a:t> </a:t>
            </a:r>
            <a:r>
              <a:rPr sz="1500" b="1" dirty="0">
                <a:solidFill>
                  <a:srgbClr val="A05900"/>
                </a:solidFill>
                <a:latin typeface="Arial"/>
                <a:cs typeface="Arial"/>
              </a:rPr>
              <a:t>+</a:t>
            </a:r>
            <a:r>
              <a:rPr sz="1500" b="1" spc="-20" dirty="0">
                <a:solidFill>
                  <a:srgbClr val="A05900"/>
                </a:solidFill>
                <a:latin typeface="Arial"/>
                <a:cs typeface="Arial"/>
              </a:rPr>
              <a:t> </a:t>
            </a:r>
            <a:r>
              <a:rPr sz="1500" b="1" spc="-10" dirty="0">
                <a:solidFill>
                  <a:srgbClr val="A05900"/>
                </a:solidFill>
                <a:latin typeface="Arial"/>
                <a:cs typeface="Arial"/>
              </a:rPr>
              <a:t>ALERT</a:t>
            </a:r>
            <a:endParaRPr sz="1500">
              <a:latin typeface="Arial"/>
              <a:cs typeface="Arial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8331200" y="3266440"/>
            <a:ext cx="2990850" cy="1234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" marR="216535" indent="-177800">
              <a:lnSpc>
                <a:spcPct val="105600"/>
              </a:lnSpc>
              <a:spcBef>
                <a:spcPts val="1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OSRM/Valhalla treats fused risk as </a:t>
            </a:r>
            <a:r>
              <a:rPr sz="1200" spc="-25" dirty="0">
                <a:solidFill>
                  <a:srgbClr val="212121"/>
                </a:solidFill>
                <a:latin typeface="Arial MT"/>
                <a:cs typeface="Arial MT"/>
              </a:rPr>
              <a:t>an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edge-weight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penalty.</a:t>
            </a:r>
            <a:endParaRPr sz="1200">
              <a:latin typeface="Arial MT"/>
              <a:cs typeface="Arial MT"/>
            </a:endParaRPr>
          </a:p>
          <a:p>
            <a:pPr marL="190500" marR="51435" indent="-177800">
              <a:lnSpc>
                <a:spcPct val="105600"/>
              </a:lnSpc>
              <a:spcBef>
                <a:spcPts val="195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Reroute only after threshold +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hysteresis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confirm a real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transition.</a:t>
            </a:r>
            <a:endParaRPr sz="1200">
              <a:latin typeface="Arial MT"/>
              <a:cs typeface="Arial MT"/>
            </a:endParaRPr>
          </a:p>
          <a:p>
            <a:pPr marL="190500" marR="5080" indent="-177800">
              <a:lnSpc>
                <a:spcPct val="105600"/>
              </a:lnSpc>
              <a:spcBef>
                <a:spcPts val="2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Local LLM produces schema-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constrained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JSON alerts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only.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508000" y="5334000"/>
            <a:ext cx="10312400" cy="661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23200"/>
              </a:lnSpc>
              <a:spcBef>
                <a:spcPts val="100"/>
              </a:spcBef>
            </a:pP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Innovation:</a:t>
            </a:r>
            <a:r>
              <a:rPr spc="-2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routing</a:t>
            </a:r>
            <a:r>
              <a:rPr spc="-1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remains</a:t>
            </a:r>
            <a:r>
              <a:rPr spc="-1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deterministic</a:t>
            </a:r>
            <a:r>
              <a:rPr lang="en-US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,</a:t>
            </a:r>
            <a:r>
              <a:rPr spc="-2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the</a:t>
            </a:r>
            <a:r>
              <a:rPr spc="-1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gated</a:t>
            </a:r>
            <a:r>
              <a:rPr spc="-1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LLM</a:t>
            </a:r>
            <a:r>
              <a:rPr spc="-2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only</a:t>
            </a:r>
            <a:r>
              <a:rPr spc="-1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explains</a:t>
            </a:r>
            <a:r>
              <a:rPr spc="-1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confirmed</a:t>
            </a:r>
            <a:r>
              <a:rPr spc="-2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state</a:t>
            </a:r>
            <a:r>
              <a:rPr spc="-1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changes.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Connectivity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loss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triggers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last-known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risk</a:t>
            </a:r>
            <a:r>
              <a:rPr spc="-5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+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static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</a:t>
            </a:r>
            <a:r>
              <a:rPr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terrain/obstacle</a:t>
            </a:r>
            <a:r>
              <a:rPr spc="-10" dirty="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rPr>
              <a:t> fallback.</a:t>
            </a:r>
            <a:endParaRPr dirty="0">
              <a:solidFill>
                <a:schemeClr val="bg2">
                  <a:lumMod val="10000"/>
                  <a:lumOff val="90000"/>
                </a:schemeClr>
              </a:solidFill>
              <a:latin typeface="Arial MT"/>
              <a:cs typeface="Arial MT"/>
            </a:endParaRPr>
          </a:p>
        </p:txBody>
      </p:sp>
      <p:sp>
        <p:nvSpPr>
          <p:cNvPr id="29" name="object 29" descr="$PPTXTitle"/>
          <p:cNvSpPr txBox="1">
            <a:spLocks noGrp="1"/>
          </p:cNvSpPr>
          <p:nvPr>
            <p:ph type="title"/>
          </p:nvPr>
        </p:nvSpPr>
        <p:spPr>
          <a:xfrm>
            <a:off x="762000" y="501099"/>
            <a:ext cx="11212479" cy="632224"/>
          </a:xfrm>
          <a:prstGeom prst="rect">
            <a:avLst/>
          </a:prstGeom>
        </p:spPr>
        <p:txBody>
          <a:bodyPr vert="horz" wrap="square" lIns="0" tIns="16510" rIns="0" bIns="0" rtlCol="0" anchor="b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spc="-85" dirty="0">
                <a:solidFill>
                  <a:schemeClr val="bg2">
                    <a:lumMod val="10000"/>
                    <a:lumOff val="90000"/>
                  </a:schemeClr>
                </a:solidFill>
              </a:rPr>
              <a:t>Vehicle Sat-Nav Hazard Detection &amp; Rerouting System</a:t>
            </a:r>
          </a:p>
        </p:txBody>
      </p:sp>
      <p:sp>
        <p:nvSpPr>
          <p:cNvPr id="30" name="object 3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z="1200" b="1" spc="-50" dirty="0">
                <a:solidFill>
                  <a:schemeClr val="bg2">
                    <a:lumMod val="10000"/>
                    <a:lumOff val="90000"/>
                  </a:schemeClr>
                </a:solidFill>
                <a:latin typeface="Calibri"/>
                <a:cs typeface="Calibri"/>
              </a:rPr>
              <a:pPr marL="38100">
                <a:lnSpc>
                  <a:spcPts val="1240"/>
                </a:lnSpc>
              </a:pPr>
              <a:t>2</a:t>
            </a:fld>
            <a:endParaRPr sz="1200" b="1" spc="-50" dirty="0">
              <a:solidFill>
                <a:schemeClr val="bg2">
                  <a:lumMod val="10000"/>
                  <a:lumOff val="90000"/>
                </a:schemeClr>
              </a:solidFill>
              <a:latin typeface="Calibri"/>
              <a:cs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/>
          <p:cNvSpPr txBox="1"/>
          <p:nvPr/>
        </p:nvSpPr>
        <p:spPr>
          <a:xfrm>
            <a:off x="417819" y="1854472"/>
            <a:ext cx="4724094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en-US"/>
            </a:defPPr>
            <a:lvl1pPr marL="12700">
              <a:lnSpc>
                <a:spcPct val="100000"/>
              </a:lnSpc>
              <a:spcBef>
                <a:spcPts val="100"/>
              </a:spcBef>
              <a:tabLst>
                <a:tab pos="3847465" algn="l"/>
              </a:tabLst>
              <a:defRPr sz="2500" b="1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defRPr>
            </a:lvl1pPr>
          </a:lstStyle>
          <a:p>
            <a:r>
              <a:rPr dirty="0"/>
              <a:t>TECHNOLOGY STACK</a:t>
            </a:r>
          </a:p>
        </p:txBody>
      </p:sp>
      <p:sp>
        <p:nvSpPr>
          <p:cNvPr id="11" name="object 11"/>
          <p:cNvSpPr txBox="1"/>
          <p:nvPr/>
        </p:nvSpPr>
        <p:spPr>
          <a:xfrm>
            <a:off x="571500" y="2378018"/>
            <a:ext cx="3880485" cy="141795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en-US"/>
            </a:defPPr>
            <a:lvl1pPr marL="12700" marR="5080">
              <a:lnSpc>
                <a:spcPct val="123200"/>
              </a:lnSpc>
              <a:spcBef>
                <a:spcPts val="100"/>
              </a:spcBef>
              <a:defRPr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defRPr>
            </a:lvl1pPr>
          </a:lstStyle>
          <a:p>
            <a:r>
              <a:rPr sz="1200" dirty="0"/>
              <a:t>Android mobile / in-vehicle client</a:t>
            </a:r>
          </a:p>
          <a:p>
            <a:r>
              <a:rPr sz="1200" dirty="0"/>
              <a:t>OSRM or Valhalla + OpenStreetMap</a:t>
            </a:r>
          </a:p>
          <a:p>
            <a:r>
              <a:rPr sz="1200" dirty="0"/>
              <a:t>H3 + RoadSegmentRisk geospatial store</a:t>
            </a:r>
          </a:p>
          <a:p>
            <a:r>
              <a:rPr sz="1200" dirty="0"/>
              <a:t>XGBoost/LightGBM GBMs; CNN for glacier/GLOF</a:t>
            </a:r>
          </a:p>
          <a:p>
            <a:r>
              <a:rPr sz="1200" dirty="0"/>
              <a:t>Shared time-series risk state</a:t>
            </a:r>
          </a:p>
          <a:p>
            <a:r>
              <a:rPr sz="1200" dirty="0"/>
              <a:t>Local 3–8B quantized LLM (e.g., Ollama), JSON-only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341313" y="4050369"/>
            <a:ext cx="4800600" cy="397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en-US"/>
            </a:defPPr>
            <a:lvl1pPr marL="12700">
              <a:lnSpc>
                <a:spcPct val="100000"/>
              </a:lnSpc>
              <a:spcBef>
                <a:spcPts val="100"/>
              </a:spcBef>
              <a:tabLst>
                <a:tab pos="3847465" algn="l"/>
              </a:tabLst>
              <a:defRPr sz="2500" b="1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defRPr>
            </a:lvl1pPr>
          </a:lstStyle>
          <a:p>
            <a:r>
              <a:rPr dirty="0"/>
              <a:t>IMPLEMENTATION METHOD</a:t>
            </a:r>
          </a:p>
        </p:txBody>
      </p:sp>
      <p:sp>
        <p:nvSpPr>
          <p:cNvPr id="13" name="object 13"/>
          <p:cNvSpPr txBox="1"/>
          <p:nvPr/>
        </p:nvSpPr>
        <p:spPr>
          <a:xfrm>
            <a:off x="571500" y="4555352"/>
            <a:ext cx="3463925" cy="144674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en-US"/>
            </a:defPPr>
            <a:lvl1pPr marL="12700" marR="5080">
              <a:lnSpc>
                <a:spcPct val="123200"/>
              </a:lnSpc>
              <a:spcBef>
                <a:spcPts val="100"/>
              </a:spcBef>
              <a:defRPr sz="1200">
                <a:solidFill>
                  <a:schemeClr val="bg2">
                    <a:lumMod val="10000"/>
                    <a:lumOff val="90000"/>
                  </a:schemeClr>
                </a:solidFill>
                <a:latin typeface="Arial MT"/>
                <a:cs typeface="Arial MT"/>
              </a:defRPr>
            </a:lvl1pPr>
          </a:lstStyle>
          <a:p>
            <a:r>
              <a:rPr dirty="0"/>
              <a:t>1. Routing core + corridor/H3 tiling</a:t>
            </a:r>
          </a:p>
          <a:p>
            <a:r>
              <a:rPr dirty="0"/>
              <a:t>2. Landslide GBM end-to-end pipeline</a:t>
            </a:r>
          </a:p>
          <a:p>
            <a:r>
              <a:rPr dirty="0"/>
              <a:t>3. Risk fusion + hysteresis state</a:t>
            </a:r>
          </a:p>
          <a:p>
            <a:r>
              <a:rPr dirty="0"/>
              <a:t>4. Risk-weighted alternate routing</a:t>
            </a:r>
          </a:p>
          <a:p>
            <a:r>
              <a:rPr dirty="0"/>
              <a:t>5. Gated local LLM + structured JSON</a:t>
            </a:r>
          </a:p>
          <a:p>
            <a:r>
              <a:rPr dirty="0"/>
              <a:t>6. Flood, avalanche, glacier CNN + offline fallback</a:t>
            </a:r>
          </a:p>
        </p:txBody>
      </p:sp>
      <p:pic>
        <p:nvPicPr>
          <p:cNvPr id="14" name="object 14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6248400" y="1091479"/>
            <a:ext cx="4735173" cy="5549817"/>
          </a:xfrm>
          <a:prstGeom prst="rect">
            <a:avLst/>
          </a:prstGeom>
        </p:spPr>
      </p:pic>
      <p:sp>
        <p:nvSpPr>
          <p:cNvPr id="22" name="object 22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z="1200" b="1" spc="-50" dirty="0">
                <a:solidFill>
                  <a:schemeClr val="bg2">
                    <a:lumMod val="10000"/>
                    <a:lumOff val="90000"/>
                  </a:schemeClr>
                </a:solidFill>
                <a:latin typeface="Calibri"/>
                <a:cs typeface="Calibri"/>
              </a:rPr>
              <a:pPr marL="38100">
                <a:lnSpc>
                  <a:spcPts val="1240"/>
                </a:lnSpc>
              </a:pPr>
              <a:t>3</a:t>
            </a:fld>
            <a:endParaRPr sz="1200" b="1" spc="-50" dirty="0">
              <a:solidFill>
                <a:schemeClr val="bg2">
                  <a:lumMod val="10000"/>
                  <a:lumOff val="90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37" name="object 29" descr="$PPTXTitle">
            <a:extLst>
              <a:ext uri="{FF2B5EF4-FFF2-40B4-BE49-F238E27FC236}">
                <a16:creationId xmlns:a16="http://schemas.microsoft.com/office/drawing/2014/main" id="{C8D4B42C-3D12-243C-87A1-B105DB694273}"/>
              </a:ext>
            </a:extLst>
          </p:cNvPr>
          <p:cNvSpPr txBox="1">
            <a:spLocks/>
          </p:cNvSpPr>
          <p:nvPr/>
        </p:nvSpPr>
        <p:spPr>
          <a:xfrm>
            <a:off x="762000" y="501099"/>
            <a:ext cx="11212479" cy="632224"/>
          </a:xfrm>
          <a:prstGeom prst="rect">
            <a:avLst/>
          </a:prstGeom>
        </p:spPr>
        <p:txBody>
          <a:bodyPr vert="horz" wrap="square" lIns="0" tIns="16510" rIns="0" bIns="0" rtlCol="0" anchor="b">
            <a:sp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2800" b="1" kern="1200" spc="-3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4000" spc="-85">
                <a:solidFill>
                  <a:schemeClr val="bg2">
                    <a:lumMod val="10000"/>
                    <a:lumOff val="90000"/>
                  </a:schemeClr>
                </a:solidFill>
              </a:rPr>
              <a:t>Vehicle Sat-Nav Hazard Detection &amp; Rerouting System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/>
          <p:cNvSpPr/>
          <p:nvPr/>
        </p:nvSpPr>
        <p:spPr>
          <a:xfrm>
            <a:off x="533400" y="2413000"/>
            <a:ext cx="3492500" cy="1701800"/>
          </a:xfrm>
          <a:custGeom>
            <a:avLst/>
            <a:gdLst/>
            <a:ahLst/>
            <a:cxnLst/>
            <a:rect l="l" t="t" r="r" b="b"/>
            <a:pathLst>
              <a:path w="3492500" h="1587500">
                <a:moveTo>
                  <a:pt x="3365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460500"/>
                </a:lnTo>
                <a:lnTo>
                  <a:pt x="9971" y="1509961"/>
                </a:lnTo>
                <a:lnTo>
                  <a:pt x="37172" y="1550327"/>
                </a:lnTo>
                <a:lnTo>
                  <a:pt x="77538" y="1577528"/>
                </a:lnTo>
                <a:lnTo>
                  <a:pt x="127000" y="1587500"/>
                </a:lnTo>
                <a:lnTo>
                  <a:pt x="3365500" y="1587500"/>
                </a:lnTo>
                <a:lnTo>
                  <a:pt x="3414961" y="1577528"/>
                </a:lnTo>
                <a:lnTo>
                  <a:pt x="3455327" y="1550327"/>
                </a:lnTo>
                <a:lnTo>
                  <a:pt x="3482528" y="1509961"/>
                </a:lnTo>
                <a:lnTo>
                  <a:pt x="3492500" y="1460500"/>
                </a:lnTo>
                <a:lnTo>
                  <a:pt x="3492500" y="127000"/>
                </a:lnTo>
                <a:lnTo>
                  <a:pt x="3482528" y="77538"/>
                </a:lnTo>
                <a:lnTo>
                  <a:pt x="3455327" y="37172"/>
                </a:lnTo>
                <a:lnTo>
                  <a:pt x="3414961" y="9971"/>
                </a:lnTo>
                <a:lnTo>
                  <a:pt x="3365500" y="0"/>
                </a:lnTo>
                <a:close/>
              </a:path>
            </a:pathLst>
          </a:custGeom>
          <a:solidFill>
            <a:srgbClr val="E9F2F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698500" y="2501900"/>
            <a:ext cx="96774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235289"/>
                </a:solidFill>
                <a:latin typeface="Arial"/>
                <a:cs typeface="Arial"/>
              </a:rPr>
              <a:t>FEASIBLE</a:t>
            </a:r>
            <a:endParaRPr sz="15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85800" y="2821939"/>
            <a:ext cx="3037205" cy="1041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" marR="5080" indent="-177800">
              <a:lnSpc>
                <a:spcPct val="105600"/>
              </a:lnSpc>
              <a:spcBef>
                <a:spcPts val="1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OpenStreetMap + OSRM/Valhalla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provide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an accessible routing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base.</a:t>
            </a:r>
            <a:endParaRPr sz="1200">
              <a:latin typeface="Arial MT"/>
              <a:cs typeface="Arial MT"/>
            </a:endParaRPr>
          </a:p>
          <a:p>
            <a:pPr marL="190500" marR="85725" indent="-177800">
              <a:lnSpc>
                <a:spcPct val="105600"/>
              </a:lnSpc>
              <a:spcBef>
                <a:spcPts val="195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GBMs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support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millisecond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inference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spc="-20" dirty="0">
                <a:solidFill>
                  <a:srgbClr val="212121"/>
                </a:solidFill>
                <a:latin typeface="Arial MT"/>
                <a:cs typeface="Arial MT"/>
              </a:rPr>
              <a:t>with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smaller labelled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datasets.</a:t>
            </a:r>
            <a:endParaRPr sz="1200">
              <a:latin typeface="Arial MT"/>
              <a:cs typeface="Arial MT"/>
            </a:endParaRPr>
          </a:p>
          <a:p>
            <a:pPr marL="191135" indent="-17843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91135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Scope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is bounded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to a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10–20 km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corridor.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4343400" y="2413000"/>
            <a:ext cx="3492500" cy="1701800"/>
          </a:xfrm>
          <a:custGeom>
            <a:avLst/>
            <a:gdLst/>
            <a:ahLst/>
            <a:cxnLst/>
            <a:rect l="l" t="t" r="r" b="b"/>
            <a:pathLst>
              <a:path w="3492500" h="1587500">
                <a:moveTo>
                  <a:pt x="3365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460500"/>
                </a:lnTo>
                <a:lnTo>
                  <a:pt x="9971" y="1509961"/>
                </a:lnTo>
                <a:lnTo>
                  <a:pt x="37172" y="1550327"/>
                </a:lnTo>
                <a:lnTo>
                  <a:pt x="77538" y="1577528"/>
                </a:lnTo>
                <a:lnTo>
                  <a:pt x="127000" y="1587500"/>
                </a:lnTo>
                <a:lnTo>
                  <a:pt x="3365500" y="1587500"/>
                </a:lnTo>
                <a:lnTo>
                  <a:pt x="3414961" y="1577528"/>
                </a:lnTo>
                <a:lnTo>
                  <a:pt x="3455327" y="1550327"/>
                </a:lnTo>
                <a:lnTo>
                  <a:pt x="3482528" y="1509961"/>
                </a:lnTo>
                <a:lnTo>
                  <a:pt x="3492500" y="1460500"/>
                </a:lnTo>
                <a:lnTo>
                  <a:pt x="3492500" y="127000"/>
                </a:lnTo>
                <a:lnTo>
                  <a:pt x="3482528" y="77538"/>
                </a:lnTo>
                <a:lnTo>
                  <a:pt x="3455327" y="37172"/>
                </a:lnTo>
                <a:lnTo>
                  <a:pt x="3414961" y="9971"/>
                </a:lnTo>
                <a:lnTo>
                  <a:pt x="3365500" y="0"/>
                </a:lnTo>
                <a:close/>
              </a:path>
            </a:pathLst>
          </a:custGeom>
          <a:solidFill>
            <a:srgbClr val="FFF2D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4508500" y="2501900"/>
            <a:ext cx="13379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A05900"/>
                </a:solidFill>
                <a:latin typeface="Arial"/>
                <a:cs typeface="Arial"/>
              </a:rPr>
              <a:t>CHALLENGES</a:t>
            </a:r>
            <a:endParaRPr sz="15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495800" y="2796539"/>
            <a:ext cx="3032760" cy="680720"/>
          </a:xfrm>
          <a:prstGeom prst="rect">
            <a:avLst/>
          </a:prstGeom>
        </p:spPr>
        <p:txBody>
          <a:bodyPr vert="horz" wrap="square" lIns="0" tIns="48260" rIns="0" bIns="0" rtlCol="0">
            <a:spAutoFit/>
          </a:bodyPr>
          <a:lstStyle/>
          <a:p>
            <a:pPr marL="191135" indent="-178435">
              <a:lnSpc>
                <a:spcPct val="100000"/>
              </a:lnSpc>
              <a:spcBef>
                <a:spcPts val="380"/>
              </a:spcBef>
              <a:buFont typeface="Arial"/>
              <a:buChar char="•"/>
              <a:tabLst>
                <a:tab pos="191135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API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rate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limits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and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data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availability.</a:t>
            </a:r>
            <a:endParaRPr sz="1200">
              <a:latin typeface="Arial MT"/>
              <a:cs typeface="Arial MT"/>
            </a:endParaRPr>
          </a:p>
          <a:p>
            <a:pPr marL="191135" indent="-17843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91135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Noisy readings may cause false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reroutes.</a:t>
            </a:r>
            <a:endParaRPr sz="1200">
              <a:latin typeface="Arial MT"/>
              <a:cs typeface="Arial MT"/>
            </a:endParaRPr>
          </a:p>
          <a:p>
            <a:pPr marL="191135" indent="-17843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91135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Connectivity loss and slow satellite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revisit.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8153400" y="2413000"/>
            <a:ext cx="3492500" cy="1701800"/>
          </a:xfrm>
          <a:custGeom>
            <a:avLst/>
            <a:gdLst/>
            <a:ahLst/>
            <a:cxnLst/>
            <a:rect l="l" t="t" r="r" b="b"/>
            <a:pathLst>
              <a:path w="3492500" h="1587500">
                <a:moveTo>
                  <a:pt x="3365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460500"/>
                </a:lnTo>
                <a:lnTo>
                  <a:pt x="9971" y="1509961"/>
                </a:lnTo>
                <a:lnTo>
                  <a:pt x="37172" y="1550327"/>
                </a:lnTo>
                <a:lnTo>
                  <a:pt x="77538" y="1577528"/>
                </a:lnTo>
                <a:lnTo>
                  <a:pt x="127000" y="1587500"/>
                </a:lnTo>
                <a:lnTo>
                  <a:pt x="3365500" y="1587500"/>
                </a:lnTo>
                <a:lnTo>
                  <a:pt x="3414961" y="1577528"/>
                </a:lnTo>
                <a:lnTo>
                  <a:pt x="3455327" y="1550327"/>
                </a:lnTo>
                <a:lnTo>
                  <a:pt x="3482528" y="1509961"/>
                </a:lnTo>
                <a:lnTo>
                  <a:pt x="3492500" y="1460500"/>
                </a:lnTo>
                <a:lnTo>
                  <a:pt x="3492500" y="127000"/>
                </a:lnTo>
                <a:lnTo>
                  <a:pt x="3482528" y="77538"/>
                </a:lnTo>
                <a:lnTo>
                  <a:pt x="3455327" y="37172"/>
                </a:lnTo>
                <a:lnTo>
                  <a:pt x="3414961" y="9971"/>
                </a:lnTo>
                <a:lnTo>
                  <a:pt x="3365500" y="0"/>
                </a:lnTo>
                <a:close/>
              </a:path>
            </a:pathLst>
          </a:custGeom>
          <a:solidFill>
            <a:srgbClr val="EDF6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/>
          <p:nvPr/>
        </p:nvSpPr>
        <p:spPr>
          <a:xfrm>
            <a:off x="8318500" y="2501900"/>
            <a:ext cx="114744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6725B"/>
                </a:solidFill>
                <a:latin typeface="Arial"/>
                <a:cs typeface="Arial"/>
              </a:rPr>
              <a:t>MITIGATION</a:t>
            </a:r>
            <a:endParaRPr sz="1500">
              <a:latin typeface="Arial"/>
              <a:cs typeface="Arial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8305800" y="2807715"/>
            <a:ext cx="3156585" cy="848360"/>
          </a:xfrm>
          <a:prstGeom prst="rect">
            <a:avLst/>
          </a:prstGeom>
        </p:spPr>
        <p:txBody>
          <a:bodyPr vert="horz" wrap="square" lIns="0" tIns="43180" rIns="0" bIns="0" rtlCol="0">
            <a:spAutoFit/>
          </a:bodyPr>
          <a:lstStyle/>
          <a:p>
            <a:pPr marL="189865" indent="-177165">
              <a:lnSpc>
                <a:spcPct val="100000"/>
              </a:lnSpc>
              <a:spcBef>
                <a:spcPts val="340"/>
              </a:spcBef>
              <a:buFont typeface="Arial"/>
              <a:buChar char="•"/>
              <a:tabLst>
                <a:tab pos="189865" algn="l"/>
              </a:tabLst>
            </a:pP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Aggressive</a:t>
            </a:r>
            <a:r>
              <a:rPr sz="1150" spc="-5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caching</a:t>
            </a:r>
            <a:r>
              <a:rPr sz="1150" spc="-4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+</a:t>
            </a:r>
            <a:r>
              <a:rPr sz="1150" spc="-4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scheduled</a:t>
            </a:r>
            <a:r>
              <a:rPr sz="1150" spc="-4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212121"/>
                </a:solidFill>
                <a:latin typeface="Arial MT"/>
                <a:cs typeface="Arial MT"/>
              </a:rPr>
              <a:t>polling.</a:t>
            </a:r>
            <a:endParaRPr sz="1150">
              <a:latin typeface="Arial MT"/>
              <a:cs typeface="Arial MT"/>
            </a:endParaRPr>
          </a:p>
          <a:p>
            <a:pPr marL="189865" indent="-177165">
              <a:lnSpc>
                <a:spcPct val="100000"/>
              </a:lnSpc>
              <a:spcBef>
                <a:spcPts val="240"/>
              </a:spcBef>
              <a:buFont typeface="Arial"/>
              <a:buChar char="•"/>
              <a:tabLst>
                <a:tab pos="189865" algn="l"/>
              </a:tabLst>
            </a:pP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Threshold</a:t>
            </a:r>
            <a:r>
              <a:rPr sz="1150" spc="-4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+</a:t>
            </a:r>
            <a:r>
              <a:rPr sz="1150" spc="-4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hysteresis</a:t>
            </a:r>
            <a:r>
              <a:rPr sz="1150" spc="-4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before</a:t>
            </a:r>
            <a:r>
              <a:rPr sz="1150" spc="-4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212121"/>
                </a:solidFill>
                <a:latin typeface="Arial MT"/>
                <a:cs typeface="Arial MT"/>
              </a:rPr>
              <a:t>rerouting.</a:t>
            </a:r>
            <a:endParaRPr sz="1150">
              <a:latin typeface="Arial MT"/>
              <a:cs typeface="Arial MT"/>
            </a:endParaRPr>
          </a:p>
          <a:p>
            <a:pPr marL="189865" indent="-177165">
              <a:lnSpc>
                <a:spcPct val="100000"/>
              </a:lnSpc>
              <a:spcBef>
                <a:spcPts val="240"/>
              </a:spcBef>
              <a:buFont typeface="Arial"/>
              <a:buChar char="•"/>
              <a:tabLst>
                <a:tab pos="189865" algn="l"/>
              </a:tabLst>
            </a:pPr>
            <a:r>
              <a:rPr sz="1150" spc="-10" dirty="0">
                <a:solidFill>
                  <a:srgbClr val="212121"/>
                </a:solidFill>
                <a:latin typeface="Arial MT"/>
                <a:cs typeface="Arial MT"/>
              </a:rPr>
              <a:t>Last-known-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state</a:t>
            </a:r>
            <a:r>
              <a:rPr sz="1150" spc="-3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fallback;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async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glacier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spc="-20" dirty="0">
                <a:solidFill>
                  <a:srgbClr val="212121"/>
                </a:solidFill>
                <a:latin typeface="Arial MT"/>
                <a:cs typeface="Arial MT"/>
              </a:rPr>
              <a:t>CNN.</a:t>
            </a:r>
            <a:endParaRPr sz="1150">
              <a:latin typeface="Arial MT"/>
              <a:cs typeface="Arial MT"/>
            </a:endParaRPr>
          </a:p>
          <a:p>
            <a:pPr marL="189865" indent="-177165">
              <a:lnSpc>
                <a:spcPct val="100000"/>
              </a:lnSpc>
              <a:spcBef>
                <a:spcPts val="240"/>
              </a:spcBef>
              <a:buFont typeface="Arial"/>
              <a:buChar char="•"/>
              <a:tabLst>
                <a:tab pos="189865" algn="l"/>
              </a:tabLst>
            </a:pP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Test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every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phase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on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a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dirty="0">
                <a:solidFill>
                  <a:srgbClr val="212121"/>
                </a:solidFill>
                <a:latin typeface="Arial MT"/>
                <a:cs typeface="Arial MT"/>
              </a:rPr>
              <a:t>real</a:t>
            </a:r>
            <a:r>
              <a:rPr sz="1150" spc="-2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150" spc="-10" dirty="0">
                <a:solidFill>
                  <a:srgbClr val="212121"/>
                </a:solidFill>
                <a:latin typeface="Arial MT"/>
                <a:cs typeface="Arial MT"/>
              </a:rPr>
              <a:t>route.</a:t>
            </a:r>
            <a:endParaRPr sz="1150">
              <a:latin typeface="Arial MT"/>
              <a:cs typeface="Arial MT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533400" y="4409439"/>
            <a:ext cx="8175625" cy="13619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>
            <a:defPPr>
              <a:defRPr lang="en-US"/>
            </a:defPPr>
            <a:lvl1pPr marL="12700">
              <a:lnSpc>
                <a:spcPct val="100000"/>
              </a:lnSpc>
              <a:spcBef>
                <a:spcPts val="100"/>
              </a:spcBef>
              <a:tabLst>
                <a:tab pos="3847465" algn="l"/>
              </a:tabLst>
              <a:defRPr sz="2500" b="1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defRPr>
            </a:lvl1pPr>
          </a:lstStyle>
          <a:p>
            <a:r>
              <a:rPr dirty="0"/>
              <a:t>SCOPE CONTROL</a:t>
            </a:r>
            <a:r>
              <a:rPr lang="en-US" dirty="0"/>
              <a:t> – </a:t>
            </a:r>
          </a:p>
          <a:p>
            <a:endParaRPr dirty="0"/>
          </a:p>
          <a:p>
            <a:r>
              <a:rPr sz="1800" dirty="0">
                <a:latin typeface="Arial MT"/>
              </a:rPr>
              <a:t>Full Level 4/5 autonomous control and heavier Physics-GNN / ConvLSTM+ResNet models are deferred from the SIH MVP.</a:t>
            </a:r>
          </a:p>
        </p:txBody>
      </p:sp>
      <p:sp>
        <p:nvSpPr>
          <p:cNvPr id="27" name="object 27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z="1200" b="1" spc="-50" dirty="0">
                <a:solidFill>
                  <a:schemeClr val="bg2">
                    <a:lumMod val="10000"/>
                    <a:lumOff val="90000"/>
                  </a:schemeClr>
                </a:solidFill>
                <a:latin typeface="Calibri"/>
                <a:cs typeface="Calibri"/>
              </a:rPr>
              <a:pPr marL="38100">
                <a:lnSpc>
                  <a:spcPts val="1240"/>
                </a:lnSpc>
              </a:pPr>
              <a:t>4</a:t>
            </a:fld>
            <a:endParaRPr sz="1200" b="1" spc="-50" dirty="0">
              <a:solidFill>
                <a:schemeClr val="bg2">
                  <a:lumMod val="10000"/>
                  <a:lumOff val="90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41" name="object 29" descr="$PPTXTitle">
            <a:extLst>
              <a:ext uri="{FF2B5EF4-FFF2-40B4-BE49-F238E27FC236}">
                <a16:creationId xmlns:a16="http://schemas.microsoft.com/office/drawing/2014/main" id="{C47B2F2E-94AD-DCCF-6B52-9ACCA41F827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2000" y="501099"/>
            <a:ext cx="11212479" cy="632224"/>
          </a:xfrm>
          <a:prstGeom prst="rect">
            <a:avLst/>
          </a:prstGeom>
        </p:spPr>
        <p:txBody>
          <a:bodyPr vert="horz" wrap="square" lIns="0" tIns="16510" rIns="0" bIns="0" rtlCol="0" anchor="b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sz="4000" spc="-85" dirty="0">
                <a:solidFill>
                  <a:schemeClr val="bg2">
                    <a:lumMod val="10000"/>
                    <a:lumOff val="90000"/>
                  </a:schemeClr>
                </a:solidFill>
              </a:rPr>
              <a:t>Vehicle Sat-Nav Hazard Detection &amp; Rerouting System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bject 10"/>
          <p:cNvSpPr/>
          <p:nvPr/>
        </p:nvSpPr>
        <p:spPr>
          <a:xfrm>
            <a:off x="695256" y="2438400"/>
            <a:ext cx="5016500" cy="2142350"/>
          </a:xfrm>
          <a:custGeom>
            <a:avLst/>
            <a:gdLst/>
            <a:ahLst/>
            <a:cxnLst/>
            <a:rect l="l" t="t" r="r" b="b"/>
            <a:pathLst>
              <a:path w="5016500" h="2032000">
                <a:moveTo>
                  <a:pt x="4889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905000"/>
                </a:lnTo>
                <a:lnTo>
                  <a:pt x="9971" y="1954461"/>
                </a:lnTo>
                <a:lnTo>
                  <a:pt x="37172" y="1994827"/>
                </a:lnTo>
                <a:lnTo>
                  <a:pt x="77538" y="2022028"/>
                </a:lnTo>
                <a:lnTo>
                  <a:pt x="127000" y="2032000"/>
                </a:lnTo>
                <a:lnTo>
                  <a:pt x="4889500" y="2032000"/>
                </a:lnTo>
                <a:lnTo>
                  <a:pt x="4938961" y="2022028"/>
                </a:lnTo>
                <a:lnTo>
                  <a:pt x="4979327" y="1994827"/>
                </a:lnTo>
                <a:lnTo>
                  <a:pt x="5006528" y="1954461"/>
                </a:lnTo>
                <a:lnTo>
                  <a:pt x="5016500" y="1905000"/>
                </a:lnTo>
                <a:lnTo>
                  <a:pt x="5016500" y="127000"/>
                </a:lnTo>
                <a:lnTo>
                  <a:pt x="5006528" y="77538"/>
                </a:lnTo>
                <a:lnTo>
                  <a:pt x="4979327" y="37172"/>
                </a:lnTo>
                <a:lnTo>
                  <a:pt x="4938961" y="9971"/>
                </a:lnTo>
                <a:lnTo>
                  <a:pt x="4889500" y="0"/>
                </a:lnTo>
                <a:close/>
              </a:path>
            </a:pathLst>
          </a:custGeom>
          <a:solidFill>
            <a:srgbClr val="E9F2F7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/>
          <p:nvPr/>
        </p:nvSpPr>
        <p:spPr>
          <a:xfrm>
            <a:off x="860356" y="2637650"/>
            <a:ext cx="1518285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dirty="0">
                <a:solidFill>
                  <a:srgbClr val="235289"/>
                </a:solidFill>
                <a:latin typeface="Arial"/>
                <a:cs typeface="Arial"/>
              </a:rPr>
              <a:t>TARGET </a:t>
            </a:r>
            <a:r>
              <a:rPr sz="1500" b="1" spc="-10" dirty="0">
                <a:solidFill>
                  <a:srgbClr val="235289"/>
                </a:solidFill>
                <a:latin typeface="Arial"/>
                <a:cs typeface="Arial"/>
              </a:rPr>
              <a:t>USERS</a:t>
            </a:r>
            <a:endParaRPr sz="1500">
              <a:latin typeface="Arial"/>
              <a:cs typeface="Arial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847656" y="2957689"/>
            <a:ext cx="4675505" cy="12344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" marR="5080" indent="-177800">
              <a:lnSpc>
                <a:spcPct val="105600"/>
              </a:lnSpc>
              <a:spcBef>
                <a:spcPts val="1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Drivers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/ travellers: route maps, hazard overlays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and reroute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alerts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via a low-distraction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interface.</a:t>
            </a:r>
            <a:endParaRPr sz="1200">
              <a:latin typeface="Arial MT"/>
              <a:cs typeface="Arial MT"/>
            </a:endParaRPr>
          </a:p>
          <a:p>
            <a:pPr marL="190500" marR="461645" indent="-177800">
              <a:lnSpc>
                <a:spcPct val="105600"/>
              </a:lnSpc>
              <a:spcBef>
                <a:spcPts val="195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Local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authority / disaster-management</a:t>
            </a:r>
            <a:r>
              <a:rPr sz="1200" spc="-5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officials: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aggregated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hazard and road-condition review in future dashboard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work.</a:t>
            </a:r>
            <a:endParaRPr sz="1200">
              <a:latin typeface="Arial MT"/>
              <a:cs typeface="Arial MT"/>
            </a:endParaRPr>
          </a:p>
          <a:p>
            <a:pPr marL="190500" marR="927735" indent="-177800">
              <a:lnSpc>
                <a:spcPct val="105600"/>
              </a:lnSpc>
              <a:spcBef>
                <a:spcPts val="2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Administrators: data-source, threshold and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retraining configuration.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3" name="object 13"/>
          <p:cNvSpPr/>
          <p:nvPr/>
        </p:nvSpPr>
        <p:spPr>
          <a:xfrm>
            <a:off x="6346756" y="2438400"/>
            <a:ext cx="5016500" cy="2555100"/>
          </a:xfrm>
          <a:custGeom>
            <a:avLst/>
            <a:gdLst/>
            <a:ahLst/>
            <a:cxnLst/>
            <a:rect l="l" t="t" r="r" b="b"/>
            <a:pathLst>
              <a:path w="5016500" h="2032000">
                <a:moveTo>
                  <a:pt x="4889500" y="0"/>
                </a:moveTo>
                <a:lnTo>
                  <a:pt x="127000" y="0"/>
                </a:lnTo>
                <a:lnTo>
                  <a:pt x="77538" y="9971"/>
                </a:lnTo>
                <a:lnTo>
                  <a:pt x="37172" y="37172"/>
                </a:lnTo>
                <a:lnTo>
                  <a:pt x="9971" y="77538"/>
                </a:lnTo>
                <a:lnTo>
                  <a:pt x="0" y="127000"/>
                </a:lnTo>
                <a:lnTo>
                  <a:pt x="0" y="1905000"/>
                </a:lnTo>
                <a:lnTo>
                  <a:pt x="9971" y="1954461"/>
                </a:lnTo>
                <a:lnTo>
                  <a:pt x="37172" y="1994827"/>
                </a:lnTo>
                <a:lnTo>
                  <a:pt x="77538" y="2022028"/>
                </a:lnTo>
                <a:lnTo>
                  <a:pt x="127000" y="2032000"/>
                </a:lnTo>
                <a:lnTo>
                  <a:pt x="4889500" y="2032000"/>
                </a:lnTo>
                <a:lnTo>
                  <a:pt x="4938961" y="2022028"/>
                </a:lnTo>
                <a:lnTo>
                  <a:pt x="4979327" y="1994827"/>
                </a:lnTo>
                <a:lnTo>
                  <a:pt x="5006528" y="1954461"/>
                </a:lnTo>
                <a:lnTo>
                  <a:pt x="5016500" y="1905000"/>
                </a:lnTo>
                <a:lnTo>
                  <a:pt x="5016500" y="127000"/>
                </a:lnTo>
                <a:lnTo>
                  <a:pt x="5006528" y="77538"/>
                </a:lnTo>
                <a:lnTo>
                  <a:pt x="4979327" y="37172"/>
                </a:lnTo>
                <a:lnTo>
                  <a:pt x="4938961" y="9971"/>
                </a:lnTo>
                <a:lnTo>
                  <a:pt x="4889500" y="0"/>
                </a:lnTo>
                <a:close/>
              </a:path>
            </a:pathLst>
          </a:custGeom>
          <a:solidFill>
            <a:srgbClr val="EDF6F2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/>
          <p:nvPr/>
        </p:nvSpPr>
        <p:spPr>
          <a:xfrm>
            <a:off x="6511856" y="2637650"/>
            <a:ext cx="967740" cy="254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500" b="1" spc="-10" dirty="0">
                <a:solidFill>
                  <a:srgbClr val="16725B"/>
                </a:solidFill>
                <a:latin typeface="Arial"/>
                <a:cs typeface="Arial"/>
              </a:rPr>
              <a:t>BENEFITS</a:t>
            </a:r>
            <a:endParaRPr sz="15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6499156" y="2957689"/>
            <a:ext cx="4667885" cy="18643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90500" marR="563245" indent="-177800">
              <a:lnSpc>
                <a:spcPct val="105600"/>
              </a:lnSpc>
              <a:spcBef>
                <a:spcPts val="1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Reduces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risk exposure by adapting routes around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flagged segments.</a:t>
            </a:r>
            <a:endParaRPr sz="1200">
              <a:latin typeface="Arial MT"/>
              <a:cs typeface="Arial MT"/>
            </a:endParaRPr>
          </a:p>
          <a:p>
            <a:pPr marL="190500" marR="5080" indent="-177800">
              <a:lnSpc>
                <a:spcPct val="105600"/>
              </a:lnSpc>
              <a:spcBef>
                <a:spcPts val="195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Supports collision avoidance for dynamic obstacles and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unmarked </a:t>
            </a: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lane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conditions.</a:t>
            </a:r>
            <a:endParaRPr sz="1200">
              <a:latin typeface="Arial MT"/>
              <a:cs typeface="Arial MT"/>
            </a:endParaRPr>
          </a:p>
          <a:p>
            <a:pPr marL="191135" indent="-178435">
              <a:lnSpc>
                <a:spcPct val="100000"/>
              </a:lnSpc>
              <a:spcBef>
                <a:spcPts val="280"/>
              </a:spcBef>
              <a:buFont typeface="Arial"/>
              <a:buChar char="•"/>
              <a:tabLst>
                <a:tab pos="191135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Concise structured alerts instead of raw model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output.</a:t>
            </a:r>
            <a:endParaRPr sz="1200">
              <a:latin typeface="Arial MT"/>
              <a:cs typeface="Arial MT"/>
            </a:endParaRPr>
          </a:p>
          <a:p>
            <a:pPr marL="190500" marR="179070" indent="-177800">
              <a:lnSpc>
                <a:spcPct val="105600"/>
              </a:lnSpc>
              <a:spcBef>
                <a:spcPts val="2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Warnings persist during connectivity loss via last-known +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static risk.</a:t>
            </a:r>
            <a:endParaRPr sz="1200">
              <a:latin typeface="Arial MT"/>
              <a:cs typeface="Arial MT"/>
            </a:endParaRPr>
          </a:p>
          <a:p>
            <a:pPr marL="190500" marR="309880" indent="-177800">
              <a:lnSpc>
                <a:spcPct val="105600"/>
              </a:lnSpc>
              <a:spcBef>
                <a:spcPts val="200"/>
              </a:spcBef>
              <a:buFont typeface="Arial"/>
              <a:buChar char="•"/>
              <a:tabLst>
                <a:tab pos="190500" algn="l"/>
              </a:tabLst>
            </a:pPr>
            <a:r>
              <a:rPr sz="1200" dirty="0">
                <a:solidFill>
                  <a:srgbClr val="212121"/>
                </a:solidFill>
                <a:latin typeface="Arial MT"/>
                <a:cs typeface="Arial MT"/>
              </a:rPr>
              <a:t>Lightweight design limits compute and LLM use to </a:t>
            </a:r>
            <a:r>
              <a:rPr sz="1200" spc="-10" dirty="0">
                <a:solidFill>
                  <a:srgbClr val="212121"/>
                </a:solidFill>
                <a:latin typeface="Arial MT"/>
                <a:cs typeface="Arial MT"/>
              </a:rPr>
              <a:t>meaningful transitions.</a:t>
            </a:r>
            <a:endParaRPr sz="1200">
              <a:latin typeface="Arial MT"/>
              <a:cs typeface="Arial MT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695256" y="5369705"/>
            <a:ext cx="10810943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Prototype scope: decision support and alerts; no assumption of full vehicle actuation control</a:t>
            </a:r>
            <a:r>
              <a:rPr sz="1150" spc="-10" dirty="0">
                <a:solidFill>
                  <a:srgbClr val="666666"/>
                </a:solidFill>
                <a:latin typeface="Arial MT"/>
                <a:cs typeface="Arial MT"/>
              </a:rPr>
              <a:t>.</a:t>
            </a:r>
            <a:endParaRPr sz="1150" dirty="0">
              <a:latin typeface="Arial MT"/>
              <a:cs typeface="Arial MT"/>
            </a:endParaRPr>
          </a:p>
        </p:txBody>
      </p:sp>
      <p:sp>
        <p:nvSpPr>
          <p:cNvPr id="24" name="object 24"/>
          <p:cNvSpPr txBox="1">
            <a:spLocks noGrp="1"/>
          </p:cNvSpPr>
          <p:nvPr>
            <p:ph type="sldNum" sz="quarter" idx="7"/>
          </p:nvPr>
        </p:nvSpPr>
        <p:spPr>
          <a:xfrm>
            <a:off x="11147096" y="6448483"/>
            <a:ext cx="429207" cy="156068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pc="-50" dirty="0">
                <a:solidFill>
                  <a:schemeClr val="bg2">
                    <a:lumMod val="10000"/>
                    <a:lumOff val="90000"/>
                  </a:schemeClr>
                </a:solidFill>
              </a:rPr>
              <a:t>5</a:t>
            </a:fld>
            <a:endParaRPr spc="-50" dirty="0">
              <a:solidFill>
                <a:schemeClr val="bg2">
                  <a:lumMod val="10000"/>
                  <a:lumOff val="90000"/>
                </a:schemeClr>
              </a:solidFill>
            </a:endParaRPr>
          </a:p>
        </p:txBody>
      </p:sp>
      <p:sp>
        <p:nvSpPr>
          <p:cNvPr id="41" name="object 29" descr="$PPTXTitle">
            <a:extLst>
              <a:ext uri="{FF2B5EF4-FFF2-40B4-BE49-F238E27FC236}">
                <a16:creationId xmlns:a16="http://schemas.microsoft.com/office/drawing/2014/main" id="{BFBDE3F5-4DE0-EDC9-FB48-6A65074CAD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62000" y="-114454"/>
            <a:ext cx="11212479" cy="1247777"/>
          </a:xfrm>
          <a:prstGeom prst="rect">
            <a:avLst/>
          </a:prstGeom>
        </p:spPr>
        <p:txBody>
          <a:bodyPr vert="horz" wrap="square" lIns="0" tIns="16510" rIns="0" bIns="0" rtlCol="0" anchor="b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4000" spc="-85" dirty="0">
                <a:solidFill>
                  <a:schemeClr val="bg2">
                    <a:lumMod val="10000"/>
                    <a:lumOff val="90000"/>
                  </a:schemeClr>
                </a:solidFill>
                <a:latin typeface="+mj-lt"/>
                <a:cs typeface="+mj-cs"/>
              </a:rPr>
              <a:t>Vehicle Sat-Nav Hazard Detection &amp; Rerouting System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11"/>
          <p:cNvSpPr txBox="1"/>
          <p:nvPr/>
        </p:nvSpPr>
        <p:spPr>
          <a:xfrm>
            <a:off x="609600" y="1922354"/>
            <a:ext cx="10966703" cy="443454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  <a:tabLst>
                <a:tab pos="3847465" algn="l"/>
              </a:tabLst>
            </a:pPr>
            <a:r>
              <a:rPr sz="25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REFERENCE BASE</a:t>
            </a:r>
          </a:p>
          <a:p>
            <a:pPr marL="361950" indent="-285750">
              <a:lnSpc>
                <a:spcPct val="100000"/>
              </a:lnSpc>
              <a:spcBef>
                <a:spcPts val="1920"/>
              </a:spcBef>
              <a:buClr>
                <a:schemeClr val="tx1">
                  <a:lumMod val="95000"/>
                </a:schemeClr>
              </a:buClr>
              <a:buSzPct val="130769"/>
              <a:buFont typeface="Arial" panose="020B0604020202020204" pitchFamily="34" charset="0"/>
              <a:buChar char="•"/>
              <a:tabLst>
                <a:tab pos="647065" algn="l"/>
              </a:tabLst>
            </a:pPr>
            <a:r>
              <a:rPr sz="16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Smart India Hackathon 2026 problem statement documentation — SIH 26037.</a:t>
            </a:r>
          </a:p>
          <a:p>
            <a:pPr marL="285750" indent="-285750">
              <a:lnSpc>
                <a:spcPct val="100000"/>
              </a:lnSpc>
              <a:spcBef>
                <a:spcPts val="265"/>
              </a:spcBef>
              <a:buClr>
                <a:schemeClr val="tx1">
                  <a:lumMod val="95000"/>
                </a:schemeClr>
              </a:buClr>
              <a:buFont typeface="Arial" panose="020B0604020202020204" pitchFamily="34" charset="0"/>
              <a:buChar char="•"/>
            </a:pPr>
            <a:endParaRPr sz="1600" b="1" dirty="0">
              <a:solidFill>
                <a:schemeClr val="bg2">
                  <a:lumMod val="10000"/>
                  <a:lumOff val="90000"/>
                </a:schemeClr>
              </a:solidFill>
              <a:uFill>
                <a:solidFill>
                  <a:srgbClr val="000000"/>
                </a:solidFill>
              </a:uFill>
              <a:latin typeface="Arial MT"/>
              <a:cs typeface="Arial"/>
            </a:endParaRPr>
          </a:p>
          <a:p>
            <a:pPr marL="361950" indent="-285750">
              <a:lnSpc>
                <a:spcPct val="100000"/>
              </a:lnSpc>
              <a:buClr>
                <a:schemeClr val="tx1">
                  <a:lumMod val="95000"/>
                </a:schemeClr>
              </a:buClr>
              <a:buSzPct val="130769"/>
              <a:buFont typeface="Arial" panose="020B0604020202020204" pitchFamily="34" charset="0"/>
              <a:buChar char="•"/>
              <a:tabLst>
                <a:tab pos="647065" algn="l"/>
              </a:tabLst>
            </a:pPr>
            <a:r>
              <a:rPr sz="16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IEEE Std 830-1998 — Recommended Practice for Software Requirements Specifications.</a:t>
            </a:r>
          </a:p>
          <a:p>
            <a:pPr marL="285750" indent="-285750">
              <a:lnSpc>
                <a:spcPct val="100000"/>
              </a:lnSpc>
              <a:spcBef>
                <a:spcPts val="265"/>
              </a:spcBef>
              <a:buClr>
                <a:schemeClr val="tx1">
                  <a:lumMod val="95000"/>
                </a:schemeClr>
              </a:buClr>
              <a:buFont typeface="Arial" panose="020B0604020202020204" pitchFamily="34" charset="0"/>
              <a:buChar char="•"/>
            </a:pPr>
            <a:endParaRPr sz="1600" b="1" dirty="0">
              <a:solidFill>
                <a:schemeClr val="bg2">
                  <a:lumMod val="10000"/>
                  <a:lumOff val="90000"/>
                </a:schemeClr>
              </a:solidFill>
              <a:uFill>
                <a:solidFill>
                  <a:srgbClr val="000000"/>
                </a:solidFill>
              </a:uFill>
              <a:latin typeface="Arial MT"/>
              <a:cs typeface="Arial"/>
            </a:endParaRPr>
          </a:p>
          <a:p>
            <a:pPr marL="361950" indent="-285750">
              <a:lnSpc>
                <a:spcPct val="100000"/>
              </a:lnSpc>
              <a:buClr>
                <a:schemeClr val="tx1">
                  <a:lumMod val="95000"/>
                </a:schemeClr>
              </a:buClr>
              <a:buSzPct val="130769"/>
              <a:buFont typeface="Arial" panose="020B0604020202020204" pitchFamily="34" charset="0"/>
              <a:buChar char="•"/>
              <a:tabLst>
                <a:tab pos="647065" algn="l"/>
              </a:tabLst>
            </a:pPr>
            <a:r>
              <a:rPr sz="16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Team architecture design — six-layer architecture, UML class model, runtime flow and execution plan</a:t>
            </a:r>
            <a:r>
              <a:rPr sz="1600" spc="-10" dirty="0">
                <a:solidFill>
                  <a:srgbClr val="212121"/>
                </a:solidFill>
                <a:latin typeface="Arial MT"/>
                <a:cs typeface="Arial MT"/>
              </a:rPr>
              <a:t>.</a:t>
            </a:r>
            <a:endParaRPr lang="en-US" sz="1600" spc="-10" dirty="0">
              <a:solidFill>
                <a:srgbClr val="212121"/>
              </a:solidFill>
              <a:latin typeface="Arial MT"/>
              <a:cs typeface="Arial MT"/>
            </a:endParaRPr>
          </a:p>
          <a:p>
            <a:pPr marL="76200">
              <a:lnSpc>
                <a:spcPct val="100000"/>
              </a:lnSpc>
              <a:buClr>
                <a:srgbClr val="235289"/>
              </a:buClr>
              <a:buSzPct val="130769"/>
              <a:tabLst>
                <a:tab pos="647065" algn="l"/>
              </a:tabLst>
            </a:pP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00"/>
              </a:spcBef>
              <a:tabLst>
                <a:tab pos="3847465" algn="l"/>
              </a:tabLst>
            </a:pPr>
            <a:r>
              <a:rPr sz="25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"/>
                <a:cs typeface="Arial"/>
              </a:rPr>
              <a:t>DESIGN EVIDENCE</a:t>
            </a:r>
          </a:p>
          <a:p>
            <a:pPr marL="361950" lvl="1" indent="-285750">
              <a:lnSpc>
                <a:spcPct val="100000"/>
              </a:lnSpc>
              <a:spcBef>
                <a:spcPts val="919"/>
              </a:spcBef>
              <a:buFont typeface="Arial" panose="020B0604020202020204" pitchFamily="34" charset="0"/>
              <a:buChar char="•"/>
              <a:tabLst>
                <a:tab pos="304165" algn="l"/>
              </a:tabLst>
            </a:pPr>
            <a:r>
              <a:rPr sz="16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Six ordered layers from data ingestion to driver output.</a:t>
            </a:r>
          </a:p>
          <a:p>
            <a:pPr marL="361950" lvl="1" indent="-285750">
              <a:lnSpc>
                <a:spcPct val="100000"/>
              </a:lnSpc>
              <a:spcBef>
                <a:spcPts val="660"/>
              </a:spcBef>
              <a:buFont typeface="Arial" panose="020B0604020202020204" pitchFamily="34" charset="0"/>
              <a:buChar char="•"/>
              <a:tabLst>
                <a:tab pos="304165" algn="l"/>
              </a:tabLst>
            </a:pPr>
            <a:r>
              <a:rPr sz="16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Shared time-series state supports rising/falling risk trends.</a:t>
            </a:r>
          </a:p>
          <a:p>
            <a:pPr marL="361950" lvl="1" indent="-285750">
              <a:lnSpc>
                <a:spcPct val="100000"/>
              </a:lnSpc>
              <a:spcBef>
                <a:spcPts val="660"/>
              </a:spcBef>
              <a:buFont typeface="Arial" panose="020B0604020202020204" pitchFamily="34" charset="0"/>
              <a:buChar char="•"/>
              <a:tabLst>
                <a:tab pos="304165" algn="l"/>
              </a:tabLst>
            </a:pPr>
            <a:r>
              <a:rPr sz="16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Routing remains a graph-search responsibility; LLM is gated and JSON-only.</a:t>
            </a:r>
          </a:p>
          <a:p>
            <a:pPr marL="361950" lvl="1" indent="-285750">
              <a:lnSpc>
                <a:spcPct val="100000"/>
              </a:lnSpc>
              <a:spcBef>
                <a:spcPts val="660"/>
              </a:spcBef>
              <a:buFont typeface="Arial" panose="020B0604020202020204" pitchFamily="34" charset="0"/>
              <a:buChar char="•"/>
              <a:tabLst>
                <a:tab pos="304165" algn="l"/>
              </a:tabLst>
            </a:pPr>
            <a:r>
              <a:rPr sz="1600" b="1" dirty="0">
                <a:solidFill>
                  <a:schemeClr val="bg2">
                    <a:lumMod val="10000"/>
                    <a:lumOff val="90000"/>
                  </a:schemeClr>
                </a:solidFill>
                <a:uFill>
                  <a:solidFill>
                    <a:srgbClr val="000000"/>
                  </a:solidFill>
                </a:uFill>
                <a:latin typeface="Arial MT"/>
                <a:cs typeface="Arial"/>
              </a:rPr>
              <a:t>Offline fallback prevents connectivity loss from becoming a false 'no warning' state.</a:t>
            </a:r>
          </a:p>
          <a:p>
            <a:pPr>
              <a:lnSpc>
                <a:spcPct val="100000"/>
              </a:lnSpc>
              <a:spcBef>
                <a:spcPts val="530"/>
              </a:spcBef>
            </a:pPr>
            <a:endParaRPr sz="16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Content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source: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supplied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SRS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+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architecture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documents.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Layout: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supplied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SIH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2026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presentation</a:t>
            </a:r>
            <a:r>
              <a:rPr sz="1050" spc="75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 </a:t>
            </a:r>
            <a:r>
              <a:rPr sz="1050" spc="-10" dirty="0">
                <a:solidFill>
                  <a:schemeClr val="bg2">
                    <a:lumMod val="90000"/>
                    <a:lumOff val="10000"/>
                  </a:schemeClr>
                </a:solidFill>
                <a:latin typeface="Arial MT"/>
                <a:cs typeface="Arial MT"/>
              </a:rPr>
              <a:t>template.</a:t>
            </a:r>
            <a:endParaRPr sz="1050" dirty="0">
              <a:solidFill>
                <a:schemeClr val="bg2">
                  <a:lumMod val="90000"/>
                  <a:lumOff val="10000"/>
                </a:schemeClr>
              </a:solidFill>
              <a:latin typeface="Arial MT"/>
              <a:cs typeface="Arial MT"/>
            </a:endParaRPr>
          </a:p>
        </p:txBody>
      </p:sp>
      <p:sp>
        <p:nvSpPr>
          <p:cNvPr id="20" name="object 20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/>
          <a:p>
            <a:pPr marL="38100">
              <a:lnSpc>
                <a:spcPts val="1240"/>
              </a:lnSpc>
            </a:pPr>
            <a:fld id="{81D60167-4931-47E6-BA6A-407CBD079E47}" type="slidenum">
              <a:rPr sz="1200" b="1" spc="-50" dirty="0">
                <a:solidFill>
                  <a:schemeClr val="bg2">
                    <a:lumMod val="10000"/>
                    <a:lumOff val="90000"/>
                  </a:schemeClr>
                </a:solidFill>
                <a:latin typeface="Calibri"/>
                <a:cs typeface="Calibri"/>
              </a:rPr>
              <a:pPr marL="38100">
                <a:lnSpc>
                  <a:spcPts val="1240"/>
                </a:lnSpc>
              </a:pPr>
              <a:t>6</a:t>
            </a:fld>
            <a:endParaRPr sz="1200" b="1" spc="-50" dirty="0">
              <a:solidFill>
                <a:schemeClr val="bg2">
                  <a:lumMod val="10000"/>
                  <a:lumOff val="90000"/>
                </a:schemeClr>
              </a:solidFill>
              <a:latin typeface="Calibri"/>
              <a:cs typeface="Calibri"/>
            </a:endParaRPr>
          </a:p>
        </p:txBody>
      </p:sp>
      <p:sp>
        <p:nvSpPr>
          <p:cNvPr id="29" name="object 29" descr="$PPTXTitle">
            <a:extLst>
              <a:ext uri="{FF2B5EF4-FFF2-40B4-BE49-F238E27FC236}">
                <a16:creationId xmlns:a16="http://schemas.microsoft.com/office/drawing/2014/main" id="{E028924E-2A7F-D64E-6ACC-4032BCF502FD}"/>
              </a:ext>
            </a:extLst>
          </p:cNvPr>
          <p:cNvSpPr txBox="1">
            <a:spLocks/>
          </p:cNvSpPr>
          <p:nvPr/>
        </p:nvSpPr>
        <p:spPr>
          <a:xfrm>
            <a:off x="762000" y="501099"/>
            <a:ext cx="11212479" cy="632224"/>
          </a:xfrm>
          <a:prstGeom prst="rect">
            <a:avLst/>
          </a:prstGeom>
        </p:spPr>
        <p:txBody>
          <a:bodyPr vert="horz" wrap="square" lIns="0" tIns="16510" rIns="0" bIns="0" rtlCol="0" anchor="b">
            <a:spAutoFit/>
          </a:bodyPr>
          <a:lstStyle>
            <a:lvl1pPr algn="l" defTabSz="914400" rtl="0" eaLnBrk="1" latinLnBrk="0" hangingPunct="1">
              <a:lnSpc>
                <a:spcPct val="95000"/>
              </a:lnSpc>
              <a:spcBef>
                <a:spcPct val="0"/>
              </a:spcBef>
              <a:buNone/>
              <a:defRPr lang="en-US" sz="2800" b="1" kern="1200" spc="-30" baseline="0" dirty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lang="en-US" sz="4000" spc="-85">
                <a:solidFill>
                  <a:schemeClr val="bg2">
                    <a:lumMod val="10000"/>
                    <a:lumOff val="90000"/>
                  </a:schemeClr>
                </a:solidFill>
              </a:rPr>
              <a:t>Vehicle Sat-Nav Hazard Detection &amp; Rerouting System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elena">
  <a:themeElements>
    <a:clrScheme name="Helena">
      <a:dk1>
        <a:sysClr val="windowText" lastClr="000000"/>
      </a:dk1>
      <a:lt1>
        <a:sysClr val="window" lastClr="FFFFFF"/>
      </a:lt1>
      <a:dk2>
        <a:srgbClr val="2C3932"/>
      </a:dk2>
      <a:lt2>
        <a:srgbClr val="FDF6EA"/>
      </a:lt2>
      <a:accent1>
        <a:srgbClr val="169C9A"/>
      </a:accent1>
      <a:accent2>
        <a:srgbClr val="FA9A42"/>
      </a:accent2>
      <a:accent3>
        <a:srgbClr val="E15C3D"/>
      </a:accent3>
      <a:accent4>
        <a:srgbClr val="E78A67"/>
      </a:accent4>
      <a:accent5>
        <a:srgbClr val="A74B40"/>
      </a:accent5>
      <a:accent6>
        <a:srgbClr val="3D9072"/>
      </a:accent6>
      <a:hlink>
        <a:srgbClr val="169C9A"/>
      </a:hlink>
      <a:folHlink>
        <a:srgbClr val="E15C3D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Helena" id="{83B93026-B8A4-4FE9-8E48-8009734911E7}" vid="{E43B60F7-EC4F-4A08-AFF5-BDC94162E533}"/>
    </a:ext>
  </a:extLst>
</a:theme>
</file>

<file path=ppt/theme/themeOverride1.xml><?xml version="1.0" encoding="utf-8"?>
<a:themeOverride xmlns:a="http://schemas.openxmlformats.org/drawingml/2006/main">
  <a:clrScheme name="Helena">
    <a:dk1>
      <a:sysClr val="windowText" lastClr="000000"/>
    </a:dk1>
    <a:lt1>
      <a:sysClr val="window" lastClr="FFFFFF"/>
    </a:lt1>
    <a:dk2>
      <a:srgbClr val="2C3932"/>
    </a:dk2>
    <a:lt2>
      <a:srgbClr val="FDF6EA"/>
    </a:lt2>
    <a:accent1>
      <a:srgbClr val="169C9A"/>
    </a:accent1>
    <a:accent2>
      <a:srgbClr val="FA9A42"/>
    </a:accent2>
    <a:accent3>
      <a:srgbClr val="E15C3D"/>
    </a:accent3>
    <a:accent4>
      <a:srgbClr val="E78A67"/>
    </a:accent4>
    <a:accent5>
      <a:srgbClr val="A74B40"/>
    </a:accent5>
    <a:accent6>
      <a:srgbClr val="3D9072"/>
    </a:accent6>
    <a:hlink>
      <a:srgbClr val="169C9A"/>
    </a:hlink>
    <a:folHlink>
      <a:srgbClr val="E15C3D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50</TotalTime>
  <Words>606</Words>
  <Application>Microsoft Office PowerPoint</Application>
  <PresentationFormat>Widescreen</PresentationFormat>
  <Paragraphs>82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Arial MT</vt:lpstr>
      <vt:lpstr>Calibri</vt:lpstr>
      <vt:lpstr>Times New Roman</vt:lpstr>
      <vt:lpstr>Helena</vt:lpstr>
      <vt:lpstr>Project Based Learning - III</vt:lpstr>
      <vt:lpstr>Vehicle Sat-Nav Hazard Detection &amp; Rerouting System</vt:lpstr>
      <vt:lpstr>PowerPoint Presentation</vt:lpstr>
      <vt:lpstr>Vehicle Sat-Nav Hazard Detection &amp; Rerouting System</vt:lpstr>
      <vt:lpstr>Vehicle Sat-Nav Hazard Detection &amp; Rerouting System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Avyukt Gupta</cp:lastModifiedBy>
  <cp:revision>3</cp:revision>
  <dcterms:created xsi:type="dcterms:W3CDTF">2026-09-08T06:05:34Z</dcterms:created>
  <dcterms:modified xsi:type="dcterms:W3CDTF">2026-10-07T01:02:46Z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2026-09-08T00:00:00Z</vt:filetime>
  </property>
  <property fmtid="{D5CDD505-2E9C-101B-9397-08002B2CF9AE}" pid="4" name="LastSaved">
    <vt:filetime>2026-09-08T00:00:00Z</vt:filetime>
  </property>
</Properties>
</file>