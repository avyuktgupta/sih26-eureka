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2133"/>
            <a:ext cx="12187301" cy="48110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3175"/>
            <a:ext cx="12192000" cy="504825"/>
          </a:xfrm>
          <a:custGeom>
            <a:avLst/>
            <a:gdLst/>
            <a:ahLst/>
            <a:cxnLst/>
            <a:rect l="l" t="t" r="r" b="b"/>
            <a:pathLst>
              <a:path w="12192000" h="504825">
                <a:moveTo>
                  <a:pt x="12192000" y="0"/>
                </a:moveTo>
                <a:lnTo>
                  <a:pt x="0" y="0"/>
                </a:lnTo>
                <a:lnTo>
                  <a:pt x="0" y="504825"/>
                </a:lnTo>
                <a:lnTo>
                  <a:pt x="12192000" y="5048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156210"/>
            <a:ext cx="808291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2909" y="1841500"/>
            <a:ext cx="9488805" cy="410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82629" y="6472554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818" y="847725"/>
            <a:ext cx="4638675" cy="5162550"/>
            <a:chOff x="5657818" y="847725"/>
            <a:chExt cx="4638675" cy="5162550"/>
          </a:xfrm>
        </p:grpSpPr>
        <p:sp>
          <p:nvSpPr>
            <p:cNvPr id="3" name="object 3"/>
            <p:cNvSpPr/>
            <p:nvPr/>
          </p:nvSpPr>
          <p:spPr>
            <a:xfrm>
              <a:off x="5657818" y="847725"/>
              <a:ext cx="4638675" cy="5162550"/>
            </a:xfrm>
            <a:custGeom>
              <a:avLst/>
              <a:gdLst/>
              <a:ahLst/>
              <a:cxnLst/>
              <a:rect l="l" t="t" r="r" b="b"/>
              <a:pathLst>
                <a:path w="4638675" h="5162550">
                  <a:moveTo>
                    <a:pt x="1873281" y="0"/>
                  </a:moveTo>
                  <a:lnTo>
                    <a:pt x="1179988" y="0"/>
                  </a:lnTo>
                  <a:lnTo>
                    <a:pt x="1147335" y="5790"/>
                  </a:lnTo>
                  <a:lnTo>
                    <a:pt x="1092174" y="48756"/>
                  </a:lnTo>
                  <a:lnTo>
                    <a:pt x="1072165" y="83692"/>
                  </a:lnTo>
                  <a:lnTo>
                    <a:pt x="726344" y="882523"/>
                  </a:lnTo>
                  <a:lnTo>
                    <a:pt x="713700" y="922043"/>
                  </a:lnTo>
                  <a:lnTo>
                    <a:pt x="709485" y="964184"/>
                  </a:lnTo>
                  <a:lnTo>
                    <a:pt x="713700" y="1006324"/>
                  </a:lnTo>
                  <a:lnTo>
                    <a:pt x="726344" y="1045845"/>
                  </a:lnTo>
                  <a:lnTo>
                    <a:pt x="1072165" y="1844675"/>
                  </a:lnTo>
                  <a:lnTo>
                    <a:pt x="1092184" y="1879615"/>
                  </a:lnTo>
                  <a:lnTo>
                    <a:pt x="1118520" y="1906397"/>
                  </a:lnTo>
                  <a:lnTo>
                    <a:pt x="1092866" y="1965960"/>
                  </a:lnTo>
                  <a:lnTo>
                    <a:pt x="786923" y="2672207"/>
                  </a:lnTo>
                  <a:lnTo>
                    <a:pt x="769379" y="2718113"/>
                  </a:lnTo>
                  <a:lnTo>
                    <a:pt x="756848" y="2766349"/>
                  </a:lnTo>
                  <a:lnTo>
                    <a:pt x="749329" y="2816140"/>
                  </a:lnTo>
                  <a:lnTo>
                    <a:pt x="746823" y="2866707"/>
                  </a:lnTo>
                  <a:lnTo>
                    <a:pt x="749329" y="2917274"/>
                  </a:lnTo>
                  <a:lnTo>
                    <a:pt x="756848" y="2967065"/>
                  </a:lnTo>
                  <a:lnTo>
                    <a:pt x="769379" y="3015301"/>
                  </a:lnTo>
                  <a:lnTo>
                    <a:pt x="786923" y="3061207"/>
                  </a:lnTo>
                  <a:lnTo>
                    <a:pt x="1610645" y="4963325"/>
                  </a:lnTo>
                  <a:lnTo>
                    <a:pt x="1636086" y="5013193"/>
                  </a:lnTo>
                  <a:lnTo>
                    <a:pt x="1666206" y="5056755"/>
                  </a:lnTo>
                  <a:lnTo>
                    <a:pt x="1700442" y="5093514"/>
                  </a:lnTo>
                  <a:lnTo>
                    <a:pt x="1738233" y="5122970"/>
                  </a:lnTo>
                  <a:lnTo>
                    <a:pt x="1779017" y="5144627"/>
                  </a:lnTo>
                  <a:lnTo>
                    <a:pt x="1822230" y="5157986"/>
                  </a:lnTo>
                  <a:lnTo>
                    <a:pt x="1867312" y="5162550"/>
                  </a:lnTo>
                  <a:lnTo>
                    <a:pt x="3518185" y="5162550"/>
                  </a:lnTo>
                  <a:lnTo>
                    <a:pt x="3562144" y="5157986"/>
                  </a:lnTo>
                  <a:lnTo>
                    <a:pt x="3604868" y="5144627"/>
                  </a:lnTo>
                  <a:lnTo>
                    <a:pt x="3645541" y="5122970"/>
                  </a:lnTo>
                  <a:lnTo>
                    <a:pt x="3683349" y="5093514"/>
                  </a:lnTo>
                  <a:lnTo>
                    <a:pt x="3717475" y="5056755"/>
                  </a:lnTo>
                  <a:lnTo>
                    <a:pt x="3747105" y="5013193"/>
                  </a:lnTo>
                  <a:lnTo>
                    <a:pt x="3771423" y="4963325"/>
                  </a:lnTo>
                  <a:lnTo>
                    <a:pt x="4598574" y="3061208"/>
                  </a:lnTo>
                  <a:lnTo>
                    <a:pt x="4616118" y="3015301"/>
                  </a:lnTo>
                  <a:lnTo>
                    <a:pt x="4628649" y="2967065"/>
                  </a:lnTo>
                  <a:lnTo>
                    <a:pt x="4636168" y="2917274"/>
                  </a:lnTo>
                  <a:lnTo>
                    <a:pt x="4638674" y="2866707"/>
                  </a:lnTo>
                  <a:lnTo>
                    <a:pt x="4636168" y="2816140"/>
                  </a:lnTo>
                  <a:lnTo>
                    <a:pt x="4628649" y="2766349"/>
                  </a:lnTo>
                  <a:lnTo>
                    <a:pt x="4616118" y="2718113"/>
                  </a:lnTo>
                  <a:lnTo>
                    <a:pt x="4598574" y="2672207"/>
                  </a:lnTo>
                  <a:lnTo>
                    <a:pt x="4271016" y="1918970"/>
                  </a:lnTo>
                  <a:lnTo>
                    <a:pt x="1177067" y="1918970"/>
                  </a:lnTo>
                  <a:lnTo>
                    <a:pt x="1168717" y="1918594"/>
                  </a:lnTo>
                  <a:lnTo>
                    <a:pt x="1160462" y="1917493"/>
                  </a:lnTo>
                  <a:lnTo>
                    <a:pt x="1152350" y="1915701"/>
                  </a:lnTo>
                  <a:lnTo>
                    <a:pt x="1144428" y="1913254"/>
                  </a:lnTo>
                  <a:lnTo>
                    <a:pt x="1125124" y="1902460"/>
                  </a:lnTo>
                  <a:lnTo>
                    <a:pt x="1143793" y="1859407"/>
                  </a:lnTo>
                  <a:lnTo>
                    <a:pt x="1168685" y="1801622"/>
                  </a:lnTo>
                  <a:lnTo>
                    <a:pt x="1131949" y="1761112"/>
                  </a:lnTo>
                  <a:lnTo>
                    <a:pt x="817149" y="1036574"/>
                  </a:lnTo>
                  <a:lnTo>
                    <a:pt x="802200" y="964184"/>
                  </a:lnTo>
                  <a:lnTo>
                    <a:pt x="805934" y="926792"/>
                  </a:lnTo>
                  <a:lnTo>
                    <a:pt x="1123727" y="183641"/>
                  </a:lnTo>
                  <a:lnTo>
                    <a:pt x="1164066" y="129254"/>
                  </a:lnTo>
                  <a:lnTo>
                    <a:pt x="1219358" y="109347"/>
                  </a:lnTo>
                  <a:lnTo>
                    <a:pt x="1990742" y="109347"/>
                  </a:lnTo>
                  <a:lnTo>
                    <a:pt x="1979580" y="83692"/>
                  </a:lnTo>
                  <a:lnTo>
                    <a:pt x="1960239" y="48756"/>
                  </a:lnTo>
                  <a:lnTo>
                    <a:pt x="1934860" y="22415"/>
                  </a:lnTo>
                  <a:lnTo>
                    <a:pt x="1905267" y="5790"/>
                  </a:lnTo>
                  <a:lnTo>
                    <a:pt x="1873281" y="0"/>
                  </a:lnTo>
                  <a:close/>
                </a:path>
                <a:path w="4638675" h="5162550">
                  <a:moveTo>
                    <a:pt x="673766" y="3129788"/>
                  </a:moveTo>
                  <a:lnTo>
                    <a:pt x="272446" y="3129788"/>
                  </a:lnTo>
                  <a:lnTo>
                    <a:pt x="253539" y="3133133"/>
                  </a:lnTo>
                  <a:lnTo>
                    <a:pt x="221583" y="3157970"/>
                  </a:lnTo>
                  <a:lnTo>
                    <a:pt x="9810" y="3640581"/>
                  </a:lnTo>
                  <a:lnTo>
                    <a:pt x="0" y="3687889"/>
                  </a:lnTo>
                  <a:lnTo>
                    <a:pt x="2452" y="3712305"/>
                  </a:lnTo>
                  <a:lnTo>
                    <a:pt x="209962" y="4197604"/>
                  </a:lnTo>
                  <a:lnTo>
                    <a:pt x="236347" y="4233037"/>
                  </a:lnTo>
                  <a:lnTo>
                    <a:pt x="272446" y="4245991"/>
                  </a:lnTo>
                  <a:lnTo>
                    <a:pt x="673766" y="4245991"/>
                  </a:lnTo>
                  <a:lnTo>
                    <a:pt x="724076" y="4217808"/>
                  </a:lnTo>
                  <a:lnTo>
                    <a:pt x="936402" y="3735197"/>
                  </a:lnTo>
                  <a:lnTo>
                    <a:pt x="946118" y="3687889"/>
                  </a:lnTo>
                  <a:lnTo>
                    <a:pt x="943689" y="3663473"/>
                  </a:lnTo>
                  <a:lnTo>
                    <a:pt x="735234" y="3178175"/>
                  </a:lnTo>
                  <a:lnTo>
                    <a:pt x="709406" y="3142742"/>
                  </a:lnTo>
                  <a:lnTo>
                    <a:pt x="673766" y="3129788"/>
                  </a:lnTo>
                  <a:close/>
                </a:path>
                <a:path w="4638675" h="5162550">
                  <a:moveTo>
                    <a:pt x="3518185" y="570864"/>
                  </a:moveTo>
                  <a:lnTo>
                    <a:pt x="2192686" y="570864"/>
                  </a:lnTo>
                  <a:lnTo>
                    <a:pt x="2324131" y="873125"/>
                  </a:lnTo>
                  <a:lnTo>
                    <a:pt x="2336776" y="912645"/>
                  </a:lnTo>
                  <a:lnTo>
                    <a:pt x="2340986" y="954833"/>
                  </a:lnTo>
                  <a:lnTo>
                    <a:pt x="2336776" y="996926"/>
                  </a:lnTo>
                  <a:lnTo>
                    <a:pt x="2324076" y="1036574"/>
                  </a:lnTo>
                  <a:lnTo>
                    <a:pt x="1976659" y="1835277"/>
                  </a:lnTo>
                  <a:lnTo>
                    <a:pt x="1957318" y="1870213"/>
                  </a:lnTo>
                  <a:lnTo>
                    <a:pt x="1931939" y="1896554"/>
                  </a:lnTo>
                  <a:lnTo>
                    <a:pt x="1902212" y="1913254"/>
                  </a:lnTo>
                  <a:lnTo>
                    <a:pt x="1901930" y="1913254"/>
                  </a:lnTo>
                  <a:lnTo>
                    <a:pt x="1870360" y="1918970"/>
                  </a:lnTo>
                  <a:lnTo>
                    <a:pt x="4271016" y="1918970"/>
                  </a:lnTo>
                  <a:lnTo>
                    <a:pt x="3771423" y="770127"/>
                  </a:lnTo>
                  <a:lnTo>
                    <a:pt x="3747105" y="720261"/>
                  </a:lnTo>
                  <a:lnTo>
                    <a:pt x="3717475" y="676695"/>
                  </a:lnTo>
                  <a:lnTo>
                    <a:pt x="3683349" y="639929"/>
                  </a:lnTo>
                  <a:lnTo>
                    <a:pt x="3645541" y="610463"/>
                  </a:lnTo>
                  <a:lnTo>
                    <a:pt x="3604868" y="588797"/>
                  </a:lnTo>
                  <a:lnTo>
                    <a:pt x="3562144" y="575431"/>
                  </a:lnTo>
                  <a:lnTo>
                    <a:pt x="3518185" y="570864"/>
                  </a:lnTo>
                  <a:close/>
                </a:path>
                <a:path w="4638675" h="5162550">
                  <a:moveTo>
                    <a:pt x="2097817" y="570864"/>
                  </a:moveTo>
                  <a:lnTo>
                    <a:pt x="1867312" y="570864"/>
                  </a:lnTo>
                  <a:lnTo>
                    <a:pt x="1822230" y="575431"/>
                  </a:lnTo>
                  <a:lnTo>
                    <a:pt x="1779017" y="588797"/>
                  </a:lnTo>
                  <a:lnTo>
                    <a:pt x="1738233" y="610463"/>
                  </a:lnTo>
                  <a:lnTo>
                    <a:pt x="1700442" y="639929"/>
                  </a:lnTo>
                  <a:lnTo>
                    <a:pt x="1666206" y="676695"/>
                  </a:lnTo>
                  <a:lnTo>
                    <a:pt x="1636086" y="720261"/>
                  </a:lnTo>
                  <a:lnTo>
                    <a:pt x="1610645" y="770127"/>
                  </a:lnTo>
                  <a:lnTo>
                    <a:pt x="1167542" y="1793366"/>
                  </a:lnTo>
                  <a:lnTo>
                    <a:pt x="1187685" y="1804481"/>
                  </a:lnTo>
                  <a:lnTo>
                    <a:pt x="1194506" y="1806676"/>
                  </a:lnTo>
                  <a:lnTo>
                    <a:pt x="1201674" y="1808305"/>
                  </a:lnTo>
                  <a:lnTo>
                    <a:pt x="1208984" y="1809291"/>
                  </a:lnTo>
                  <a:lnTo>
                    <a:pt x="1216437" y="1809623"/>
                  </a:lnTo>
                  <a:lnTo>
                    <a:pt x="1830990" y="1809623"/>
                  </a:lnTo>
                  <a:lnTo>
                    <a:pt x="1885584" y="1789731"/>
                  </a:lnTo>
                  <a:lnTo>
                    <a:pt x="1925224" y="1735454"/>
                  </a:lnTo>
                  <a:lnTo>
                    <a:pt x="2233326" y="1027176"/>
                  </a:lnTo>
                  <a:lnTo>
                    <a:pt x="2248185" y="954833"/>
                  </a:lnTo>
                  <a:lnTo>
                    <a:pt x="2244470" y="917465"/>
                  </a:lnTo>
                  <a:lnTo>
                    <a:pt x="2233367" y="882523"/>
                  </a:lnTo>
                  <a:lnTo>
                    <a:pt x="2097817" y="570864"/>
                  </a:lnTo>
                  <a:close/>
                </a:path>
                <a:path w="4638675" h="5162550">
                  <a:moveTo>
                    <a:pt x="1990742" y="109347"/>
                  </a:moveTo>
                  <a:lnTo>
                    <a:pt x="1833911" y="109347"/>
                  </a:lnTo>
                  <a:lnTo>
                    <a:pt x="1862318" y="114490"/>
                  </a:lnTo>
                  <a:lnTo>
                    <a:pt x="1888569" y="129254"/>
                  </a:lnTo>
                  <a:lnTo>
                    <a:pt x="1911082" y="152638"/>
                  </a:lnTo>
                  <a:lnTo>
                    <a:pt x="1928272" y="183641"/>
                  </a:lnTo>
                  <a:lnTo>
                    <a:pt x="2092102" y="560577"/>
                  </a:lnTo>
                  <a:lnTo>
                    <a:pt x="2186971" y="560577"/>
                  </a:lnTo>
                  <a:lnTo>
                    <a:pt x="2166016" y="512190"/>
                  </a:lnTo>
                  <a:lnTo>
                    <a:pt x="1990742" y="109347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0" y="1714500"/>
              <a:ext cx="3200400" cy="34290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85" dirty="0"/>
              <a:t>SMART</a:t>
            </a:r>
            <a:r>
              <a:rPr spc="85" dirty="0"/>
              <a:t> </a:t>
            </a:r>
            <a:r>
              <a:rPr spc="120" dirty="0"/>
              <a:t>INDIA</a:t>
            </a:r>
            <a:r>
              <a:rPr spc="65" dirty="0"/>
              <a:t> </a:t>
            </a:r>
            <a:r>
              <a:rPr dirty="0"/>
              <a:t>HACKATHON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2909" y="2669169"/>
            <a:ext cx="5046345" cy="327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latin typeface="Arial MT"/>
                <a:cs typeface="Arial MT"/>
              </a:rPr>
              <a:t>•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–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•</a:t>
            </a:r>
            <a:r>
              <a:rPr sz="2400" spc="5" dirty="0">
                <a:latin typeface="Arial MT"/>
                <a:cs typeface="Arial MT"/>
              </a:rPr>
              <a:t>  </a:t>
            </a: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Title-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•</a:t>
            </a:r>
            <a:r>
              <a:rPr sz="2400" spc="35" dirty="0">
                <a:latin typeface="Arial MT"/>
                <a:cs typeface="Arial MT"/>
              </a:rPr>
              <a:t>  </a:t>
            </a:r>
            <a:r>
              <a:rPr sz="2400" b="1" spc="-10" dirty="0">
                <a:latin typeface="Arial"/>
                <a:cs typeface="Arial"/>
              </a:rPr>
              <a:t>Theme-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•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Category-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Software/Hardware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•</a:t>
            </a:r>
            <a:r>
              <a:rPr sz="2400" spc="-5" dirty="0">
                <a:latin typeface="Arial MT"/>
                <a:cs typeface="Arial MT"/>
              </a:rPr>
              <a:t>  </a:t>
            </a:r>
            <a:r>
              <a:rPr sz="2400" b="1" spc="-25" dirty="0">
                <a:latin typeface="Arial"/>
                <a:cs typeface="Arial"/>
              </a:rPr>
              <a:t>Team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ID-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909" y="6331912"/>
            <a:ext cx="522922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latin typeface="Arial MT"/>
                <a:cs typeface="Arial MT"/>
              </a:rPr>
              <a:t>•  </a:t>
            </a:r>
            <a:r>
              <a:rPr sz="2400" b="1" spc="-25" dirty="0">
                <a:latin typeface="Arial"/>
                <a:cs typeface="Arial"/>
              </a:rPr>
              <a:t>Team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(Registered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portal)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7500" y="0"/>
            <a:ext cx="11712575" cy="6032500"/>
            <a:chOff x="317500" y="0"/>
            <a:chExt cx="11712575" cy="60325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2175" y="0"/>
              <a:ext cx="2247900" cy="10668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7500" y="2095500"/>
              <a:ext cx="9144000" cy="3937000"/>
            </a:xfrm>
            <a:custGeom>
              <a:avLst/>
              <a:gdLst/>
              <a:ahLst/>
              <a:cxnLst/>
              <a:rect l="l" t="t" r="r" b="b"/>
              <a:pathLst>
                <a:path w="9144000" h="3937000">
                  <a:moveTo>
                    <a:pt x="9144000" y="0"/>
                  </a:moveTo>
                  <a:lnTo>
                    <a:pt x="0" y="0"/>
                  </a:lnTo>
                  <a:lnTo>
                    <a:pt x="0" y="3937000"/>
                  </a:lnTo>
                  <a:lnTo>
                    <a:pt x="9144000" y="3937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5800" y="2381250"/>
            <a:ext cx="7546340" cy="3231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00"/>
              </a:spcBef>
              <a:buChar char="•"/>
              <a:tabLst>
                <a:tab pos="203200" algn="l"/>
              </a:tabLst>
            </a:pP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Problem Statement ID – </a:t>
            </a:r>
            <a:r>
              <a:rPr sz="1650" dirty="0">
                <a:solidFill>
                  <a:srgbClr val="212121"/>
                </a:solidFill>
                <a:latin typeface="Arial MT"/>
                <a:cs typeface="Arial MT"/>
              </a:rPr>
              <a:t>SIH </a:t>
            </a:r>
            <a:r>
              <a:rPr sz="1650" spc="-10" dirty="0">
                <a:solidFill>
                  <a:srgbClr val="212121"/>
                </a:solidFill>
                <a:latin typeface="Arial MT"/>
                <a:cs typeface="Arial MT"/>
              </a:rPr>
              <a:t>26037</a:t>
            </a:r>
            <a:endParaRPr sz="1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212121"/>
              </a:buClr>
              <a:buFont typeface="Arial"/>
              <a:buChar char="•"/>
            </a:pPr>
            <a:endParaRPr sz="1650" dirty="0">
              <a:latin typeface="Arial MT"/>
              <a:cs typeface="Arial MT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Problem</a:t>
            </a:r>
            <a:r>
              <a:rPr sz="1650" b="1" spc="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Statement</a:t>
            </a:r>
            <a:r>
              <a:rPr sz="1650" b="1" spc="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Title</a:t>
            </a:r>
            <a:r>
              <a:rPr sz="1650" b="1" spc="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–</a:t>
            </a:r>
            <a:r>
              <a:rPr sz="1650" b="1" spc="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lang="en-US" sz="1500" dirty="0">
                <a:solidFill>
                  <a:srgbClr val="212121"/>
                </a:solidFill>
                <a:latin typeface="Arial MT"/>
                <a:cs typeface="Arial MT"/>
              </a:rPr>
              <a:t>Adaptive Path Planning and Collision Avoidance for Autonomous Vehicles on Unstructured Indian Roads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212121"/>
              </a:buClr>
              <a:buFont typeface="Arial"/>
              <a:buChar char="•"/>
            </a:pPr>
            <a:endParaRPr sz="1500" dirty="0">
              <a:latin typeface="Arial MT"/>
              <a:cs typeface="Arial MT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Theme – </a:t>
            </a:r>
            <a:r>
              <a:rPr sz="1650" dirty="0">
                <a:solidFill>
                  <a:srgbClr val="212121"/>
                </a:solidFill>
                <a:latin typeface="Arial MT"/>
                <a:cs typeface="Arial MT"/>
              </a:rPr>
              <a:t>Robotics and </a:t>
            </a:r>
            <a:r>
              <a:rPr sz="1650" spc="-10" dirty="0">
                <a:solidFill>
                  <a:srgbClr val="212121"/>
                </a:solidFill>
                <a:latin typeface="Arial MT"/>
                <a:cs typeface="Arial MT"/>
              </a:rPr>
              <a:t>Drone</a:t>
            </a:r>
            <a:endParaRPr sz="1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212121"/>
              </a:buClr>
              <a:buFont typeface="Arial"/>
              <a:buChar char="•"/>
            </a:pPr>
            <a:endParaRPr sz="1650" dirty="0">
              <a:latin typeface="Arial MT"/>
              <a:cs typeface="Arial MT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PS Category – </a:t>
            </a:r>
            <a:r>
              <a:rPr sz="1650" spc="-10" dirty="0">
                <a:solidFill>
                  <a:srgbClr val="212121"/>
                </a:solidFill>
                <a:latin typeface="Arial MT"/>
                <a:cs typeface="Arial MT"/>
              </a:rPr>
              <a:t>Software</a:t>
            </a:r>
            <a:endParaRPr sz="1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212121"/>
              </a:buClr>
              <a:buFont typeface="Arial"/>
              <a:buChar char="•"/>
            </a:pPr>
            <a:endParaRPr sz="1650" dirty="0">
              <a:latin typeface="Arial MT"/>
              <a:cs typeface="Arial MT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Team ID – </a:t>
            </a:r>
            <a:r>
              <a:rPr sz="1650" spc="-10" dirty="0">
                <a:solidFill>
                  <a:srgbClr val="212121"/>
                </a:solidFill>
                <a:latin typeface="Arial MT"/>
                <a:cs typeface="Arial MT"/>
              </a:rPr>
              <a:t>SIH120</a:t>
            </a:r>
            <a:endParaRPr sz="1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212121"/>
              </a:buClr>
              <a:buFont typeface="Arial"/>
              <a:buChar char="•"/>
            </a:pPr>
            <a:endParaRPr sz="1650" dirty="0">
              <a:latin typeface="Arial MT"/>
              <a:cs typeface="Arial MT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Team Name – </a:t>
            </a:r>
            <a:r>
              <a:rPr sz="1650" spc="-10" dirty="0">
                <a:solidFill>
                  <a:srgbClr val="212121"/>
                </a:solidFill>
                <a:latin typeface="Arial MT"/>
                <a:cs typeface="Arial MT"/>
              </a:rPr>
              <a:t>Eureka</a:t>
            </a:r>
            <a:endParaRPr sz="16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500" y="5842799"/>
            <a:ext cx="2378710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25"/>
              </a:lnSpc>
              <a:tabLst>
                <a:tab pos="1713864" algn="l"/>
              </a:tabLst>
            </a:pP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•</a:t>
            </a:r>
            <a:r>
              <a:rPr sz="1650" b="1" spc="459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Team Name </a:t>
            </a:r>
            <a:r>
              <a:rPr sz="1650" b="1" spc="-50" dirty="0">
                <a:solidFill>
                  <a:srgbClr val="212121"/>
                </a:solidFill>
                <a:latin typeface="Arial"/>
                <a:cs typeface="Arial"/>
              </a:rPr>
              <a:t>–</a:t>
            </a:r>
            <a:r>
              <a:rPr sz="165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650" spc="-10" dirty="0">
                <a:solidFill>
                  <a:srgbClr val="212121"/>
                </a:solidFill>
                <a:latin typeface="Arial MT"/>
                <a:cs typeface="Arial MT"/>
              </a:rPr>
              <a:t>Eureka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5867400"/>
            <a:ext cx="9652000" cy="990600"/>
          </a:xfrm>
          <a:custGeom>
            <a:avLst/>
            <a:gdLst/>
            <a:ahLst/>
            <a:cxnLst/>
            <a:rect l="l" t="t" r="r" b="b"/>
            <a:pathLst>
              <a:path w="9652000" h="990600">
                <a:moveTo>
                  <a:pt x="9652000" y="0"/>
                </a:moveTo>
                <a:lnTo>
                  <a:pt x="0" y="0"/>
                </a:lnTo>
                <a:lnTo>
                  <a:pt x="0" y="990600"/>
                </a:lnTo>
                <a:lnTo>
                  <a:pt x="9652000" y="990600"/>
                </a:lnTo>
                <a:lnTo>
                  <a:pt x="965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08633" y="650494"/>
            <a:ext cx="8017509" cy="0"/>
          </a:xfrm>
          <a:custGeom>
            <a:avLst/>
            <a:gdLst/>
            <a:ahLst/>
            <a:cxnLst/>
            <a:rect l="l" t="t" r="r" b="b"/>
            <a:pathLst>
              <a:path w="8017509">
                <a:moveTo>
                  <a:pt x="0" y="0"/>
                </a:moveTo>
                <a:lnTo>
                  <a:pt x="8017103" y="0"/>
                </a:lnTo>
              </a:path>
            </a:pathLst>
          </a:custGeom>
          <a:ln w="23549">
            <a:solidFill>
              <a:srgbClr val="21A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2450" y="606747"/>
            <a:ext cx="262001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29"/>
              </a:lnSpc>
            </a:pPr>
            <a:r>
              <a:rPr sz="3600" b="1" spc="-20" dirty="0">
                <a:latin typeface="Times New Roman"/>
                <a:cs typeface="Times New Roman"/>
              </a:rPr>
              <a:t>IDEA</a:t>
            </a:r>
            <a:r>
              <a:rPr sz="3600" b="1" spc="-25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TITLE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3197479"/>
            <a:ext cx="149225" cy="12985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50" dirty="0">
                <a:latin typeface="Arial MT"/>
                <a:cs typeface="Arial MT"/>
              </a:rPr>
              <a:t>•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750" spc="-50" dirty="0">
                <a:latin typeface="Arial MT"/>
                <a:cs typeface="Arial MT"/>
              </a:rPr>
              <a:t>•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750" spc="-50" dirty="0">
                <a:latin typeface="Arial MT"/>
                <a:cs typeface="Arial MT"/>
              </a:rPr>
              <a:t>•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2133756"/>
            <a:ext cx="11737340" cy="2353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60"/>
              </a:lnSpc>
            </a:pPr>
            <a:r>
              <a:rPr sz="3200" dirty="0">
                <a:solidFill>
                  <a:srgbClr val="1F487C"/>
                </a:solidFill>
                <a:latin typeface="Wingdings"/>
                <a:cs typeface="Wingdings"/>
              </a:rPr>
              <a:t></a:t>
            </a:r>
            <a:r>
              <a:rPr sz="3200" b="1" dirty="0">
                <a:solidFill>
                  <a:srgbClr val="1F487C"/>
                </a:solidFill>
                <a:latin typeface="Arial"/>
                <a:cs typeface="Arial"/>
              </a:rPr>
              <a:t>Proposed</a:t>
            </a:r>
            <a:r>
              <a:rPr sz="3200" b="1" spc="-11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F487C"/>
                </a:solidFill>
                <a:latin typeface="Arial"/>
                <a:cs typeface="Arial"/>
              </a:rPr>
              <a:t>Solution</a:t>
            </a:r>
            <a:r>
              <a:rPr sz="3200" b="1" spc="-4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F487C"/>
                </a:solidFill>
                <a:latin typeface="Arial"/>
                <a:cs typeface="Arial"/>
              </a:rPr>
              <a:t>(Describe</a:t>
            </a:r>
            <a:r>
              <a:rPr sz="3200" b="1" spc="-1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F487C"/>
                </a:solidFill>
                <a:latin typeface="Arial"/>
                <a:cs typeface="Arial"/>
              </a:rPr>
              <a:t>your</a:t>
            </a:r>
            <a:r>
              <a:rPr sz="3200" b="1" spc="-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1F487C"/>
                </a:solidFill>
                <a:latin typeface="Arial"/>
                <a:cs typeface="Arial"/>
              </a:rPr>
              <a:t>Idea/Solution/Prototype)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3200">
              <a:latin typeface="Arial"/>
              <a:cs typeface="Arial"/>
            </a:endParaRPr>
          </a:p>
          <a:p>
            <a:pPr marL="441325" marR="4251960" indent="-98425">
              <a:lnSpc>
                <a:spcPct val="100000"/>
              </a:lnSpc>
              <a:spcBef>
                <a:spcPts val="5"/>
              </a:spcBef>
            </a:pPr>
            <a:r>
              <a:rPr sz="2750" dirty="0">
                <a:latin typeface="Arial MT"/>
                <a:cs typeface="Arial MT"/>
              </a:rPr>
              <a:t>Detailed</a:t>
            </a:r>
            <a:r>
              <a:rPr sz="2750" spc="1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explanation</a:t>
            </a:r>
            <a:r>
              <a:rPr sz="2750" spc="1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19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proposed</a:t>
            </a:r>
            <a:r>
              <a:rPr sz="2750" spc="21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solution </a:t>
            </a:r>
            <a:r>
              <a:rPr sz="2750" dirty="0">
                <a:latin typeface="Arial MT"/>
                <a:cs typeface="Arial MT"/>
              </a:rPr>
              <a:t>How</a:t>
            </a:r>
            <a:r>
              <a:rPr sz="2750" spc="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it</a:t>
            </a:r>
            <a:r>
              <a:rPr sz="2750" spc="1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addresses</a:t>
            </a:r>
            <a:r>
              <a:rPr sz="2750" spc="12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problem</a:t>
            </a:r>
            <a:endParaRPr sz="2750">
              <a:latin typeface="Arial MT"/>
              <a:cs typeface="Arial MT"/>
            </a:endParaRPr>
          </a:p>
          <a:p>
            <a:pPr marL="342900">
              <a:lnSpc>
                <a:spcPct val="100000"/>
              </a:lnSpc>
              <a:spcBef>
                <a:spcPts val="85"/>
              </a:spcBef>
            </a:pPr>
            <a:r>
              <a:rPr sz="2750" dirty="0">
                <a:latin typeface="Arial MT"/>
                <a:cs typeface="Arial MT"/>
              </a:rPr>
              <a:t>Innovation</a:t>
            </a:r>
            <a:r>
              <a:rPr sz="2750" spc="1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and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uniqueness</a:t>
            </a:r>
            <a:r>
              <a:rPr sz="2750" spc="1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18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solution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8137" y="252475"/>
            <a:ext cx="1248410" cy="809625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9132" y="282971"/>
            <a:ext cx="553085" cy="782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710"/>
              </a:lnSpc>
            </a:pPr>
            <a:r>
              <a:rPr sz="1800" spc="-20" dirty="0">
                <a:latin typeface="Calibri"/>
                <a:cs typeface="Calibri"/>
              </a:rPr>
              <a:t>Your</a:t>
            </a:r>
            <a:endParaRPr sz="1800">
              <a:latin typeface="Calibri"/>
              <a:cs typeface="Calibri"/>
            </a:endParaRPr>
          </a:p>
          <a:p>
            <a:pPr indent="28575">
              <a:lnSpc>
                <a:spcPct val="100800"/>
              </a:lnSpc>
            </a:pPr>
            <a:r>
              <a:rPr sz="1800" spc="-20" dirty="0">
                <a:latin typeface="Calibri"/>
                <a:cs typeface="Calibri"/>
              </a:rPr>
              <a:t>Team 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4000" y="18314"/>
            <a:ext cx="11753215" cy="5951220"/>
            <a:chOff x="254000" y="18314"/>
            <a:chExt cx="11753215" cy="59512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09643" y="18314"/>
              <a:ext cx="2197539" cy="10301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4000" y="1587499"/>
              <a:ext cx="11684000" cy="4381500"/>
            </a:xfrm>
            <a:custGeom>
              <a:avLst/>
              <a:gdLst/>
              <a:ahLst/>
              <a:cxnLst/>
              <a:rect l="l" t="t" r="r" b="b"/>
              <a:pathLst>
                <a:path w="11684000" h="4381500">
                  <a:moveTo>
                    <a:pt x="11684000" y="0"/>
                  </a:moveTo>
                  <a:lnTo>
                    <a:pt x="0" y="0"/>
                  </a:lnTo>
                  <a:lnTo>
                    <a:pt x="0" y="4381500"/>
                  </a:lnTo>
                  <a:lnTo>
                    <a:pt x="11684000" y="4381500"/>
                  </a:lnTo>
                  <a:lnTo>
                    <a:pt x="1168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3580" y="419720"/>
            <a:ext cx="784161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dirty="0">
                <a:latin typeface="Times New Roman"/>
                <a:cs typeface="Times New Roman"/>
              </a:rPr>
              <a:t>ehicle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Sat-</a:t>
            </a:r>
            <a:r>
              <a:rPr sz="2800" b="1" dirty="0">
                <a:latin typeface="Times New Roman"/>
                <a:cs typeface="Times New Roman"/>
              </a:rPr>
              <a:t>Nav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Hazard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Detection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Rerouting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Syste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900" y="1955800"/>
            <a:ext cx="38608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7465" algn="l"/>
              </a:tabLst>
            </a:pPr>
            <a:r>
              <a:rPr sz="2500" b="1" u="sng" dirty="0">
                <a:solidFill>
                  <a:srgbClr val="235289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PROPOSED</a:t>
            </a:r>
            <a:r>
              <a:rPr sz="2500" b="1" u="sng" spc="-10" dirty="0">
                <a:solidFill>
                  <a:srgbClr val="235289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SOLUTION</a:t>
            </a:r>
            <a:r>
              <a:rPr sz="2500" b="1" u="sng" dirty="0">
                <a:solidFill>
                  <a:srgbClr val="235289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25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000" y="2857500"/>
            <a:ext cx="3492500" cy="1841500"/>
          </a:xfrm>
          <a:custGeom>
            <a:avLst/>
            <a:gdLst/>
            <a:ahLst/>
            <a:cxnLst/>
            <a:rect l="l" t="t" r="r" b="b"/>
            <a:pathLst>
              <a:path w="3492500" h="1841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14500"/>
                </a:lnTo>
                <a:lnTo>
                  <a:pt x="9971" y="1763961"/>
                </a:lnTo>
                <a:lnTo>
                  <a:pt x="37172" y="1804327"/>
                </a:lnTo>
                <a:lnTo>
                  <a:pt x="77538" y="1831528"/>
                </a:lnTo>
                <a:lnTo>
                  <a:pt x="127000" y="1841500"/>
                </a:lnTo>
                <a:lnTo>
                  <a:pt x="3365500" y="1841500"/>
                </a:lnTo>
                <a:lnTo>
                  <a:pt x="3414961" y="1831528"/>
                </a:lnTo>
                <a:lnTo>
                  <a:pt x="3455327" y="1804327"/>
                </a:lnTo>
                <a:lnTo>
                  <a:pt x="3482528" y="1763961"/>
                </a:lnTo>
                <a:lnTo>
                  <a:pt x="3492500" y="1714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3100" y="2946400"/>
            <a:ext cx="9994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35289"/>
                </a:solidFill>
                <a:latin typeface="Arial"/>
                <a:cs typeface="Arial"/>
              </a:rPr>
              <a:t>1</a:t>
            </a:r>
            <a:r>
              <a:rPr sz="1500" b="1" spc="400" dirty="0">
                <a:solidFill>
                  <a:srgbClr val="23528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35289"/>
                </a:solidFill>
                <a:latin typeface="Arial"/>
                <a:cs typeface="Arial"/>
              </a:rPr>
              <a:t>DETECT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0400" y="3246120"/>
            <a:ext cx="2910205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7800">
              <a:lnSpc>
                <a:spcPct val="1090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Ingest</a:t>
            </a:r>
            <a:r>
              <a:rPr sz="13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weather,</a:t>
            </a:r>
            <a:r>
              <a:rPr sz="13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terrain/DEM,</a:t>
            </a:r>
            <a:r>
              <a:rPr sz="1300" spc="-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satellite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on-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road</a:t>
            </a:r>
            <a:r>
              <a:rPr sz="130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perception</a:t>
            </a:r>
            <a:r>
              <a:rPr sz="13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data.</a:t>
            </a:r>
            <a:endParaRPr sz="1300">
              <a:latin typeface="Arial MT"/>
              <a:cs typeface="Arial MT"/>
            </a:endParaRPr>
          </a:p>
          <a:p>
            <a:pPr marL="190500" marR="187960" indent="-177800">
              <a:lnSpc>
                <a:spcPct val="1090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Analyse</a:t>
            </a:r>
            <a:r>
              <a:rPr sz="13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 10–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20</a:t>
            </a:r>
            <a:r>
              <a:rPr sz="13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km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route</a:t>
            </a:r>
            <a:r>
              <a:rPr sz="13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corridor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using</a:t>
            </a:r>
            <a:r>
              <a:rPr sz="13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H3</a:t>
            </a:r>
            <a:r>
              <a:rPr sz="13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tiles.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43400" y="2857500"/>
            <a:ext cx="3492500" cy="1841500"/>
          </a:xfrm>
          <a:custGeom>
            <a:avLst/>
            <a:gdLst/>
            <a:ahLst/>
            <a:cxnLst/>
            <a:rect l="l" t="t" r="r" b="b"/>
            <a:pathLst>
              <a:path w="3492500" h="1841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14500"/>
                </a:lnTo>
                <a:lnTo>
                  <a:pt x="9971" y="1763961"/>
                </a:lnTo>
                <a:lnTo>
                  <a:pt x="37172" y="1804327"/>
                </a:lnTo>
                <a:lnTo>
                  <a:pt x="77538" y="1831528"/>
                </a:lnTo>
                <a:lnTo>
                  <a:pt x="127000" y="1841500"/>
                </a:lnTo>
                <a:lnTo>
                  <a:pt x="3365500" y="1841500"/>
                </a:lnTo>
                <a:lnTo>
                  <a:pt x="3414961" y="1831528"/>
                </a:lnTo>
                <a:lnTo>
                  <a:pt x="3455327" y="1804327"/>
                </a:lnTo>
                <a:lnTo>
                  <a:pt x="3482528" y="1763961"/>
                </a:lnTo>
                <a:lnTo>
                  <a:pt x="3492500" y="1714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EDF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08500" y="2946400"/>
            <a:ext cx="10102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725B"/>
                </a:solidFill>
                <a:latin typeface="Arial"/>
                <a:cs typeface="Arial"/>
              </a:rPr>
              <a:t>2</a:t>
            </a:r>
            <a:r>
              <a:rPr sz="1500" b="1" spc="400" dirty="0">
                <a:solidFill>
                  <a:srgbClr val="16725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6725B"/>
                </a:solidFill>
                <a:latin typeface="Arial"/>
                <a:cs typeface="Arial"/>
              </a:rPr>
              <a:t>ASSESS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5800" y="3266440"/>
            <a:ext cx="313499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GBMs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score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landslide,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flood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avalanche risk.</a:t>
            </a:r>
            <a:endParaRPr sz="1200">
              <a:latin typeface="Arial MT"/>
              <a:cs typeface="Arial MT"/>
            </a:endParaRPr>
          </a:p>
          <a:p>
            <a:pPr marL="190500" marR="200025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CNN handles glacier/GLOF imagery </a:t>
            </a:r>
            <a:r>
              <a:rPr sz="1200" spc="-25" dirty="0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obstacle/lane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perception.</a:t>
            </a:r>
            <a:endParaRPr sz="1200">
              <a:latin typeface="Arial MT"/>
              <a:cs typeface="Arial MT"/>
            </a:endParaRPr>
          </a:p>
          <a:p>
            <a:pPr marL="190500" marR="241935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Fuse probability, severity, exposure </a:t>
            </a:r>
            <a:r>
              <a:rPr sz="1200" spc="-25" dirty="0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confidence; hysteresis filters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noise.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78800" y="2857500"/>
            <a:ext cx="3492500" cy="1841500"/>
          </a:xfrm>
          <a:custGeom>
            <a:avLst/>
            <a:gdLst/>
            <a:ahLst/>
            <a:cxnLst/>
            <a:rect l="l" t="t" r="r" b="b"/>
            <a:pathLst>
              <a:path w="3492500" h="1841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14500"/>
                </a:lnTo>
                <a:lnTo>
                  <a:pt x="9971" y="1763961"/>
                </a:lnTo>
                <a:lnTo>
                  <a:pt x="37172" y="1804327"/>
                </a:lnTo>
                <a:lnTo>
                  <a:pt x="77538" y="1831528"/>
                </a:lnTo>
                <a:lnTo>
                  <a:pt x="127000" y="1841500"/>
                </a:lnTo>
                <a:lnTo>
                  <a:pt x="3365500" y="1841500"/>
                </a:lnTo>
                <a:lnTo>
                  <a:pt x="3414961" y="1831528"/>
                </a:lnTo>
                <a:lnTo>
                  <a:pt x="3455327" y="1804327"/>
                </a:lnTo>
                <a:lnTo>
                  <a:pt x="3482528" y="1763961"/>
                </a:lnTo>
                <a:lnTo>
                  <a:pt x="3492500" y="1714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FFF2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343900" y="2946400"/>
            <a:ext cx="20212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A05900"/>
                </a:solidFill>
                <a:latin typeface="Arial"/>
                <a:cs typeface="Arial"/>
              </a:rPr>
              <a:t>3</a:t>
            </a:r>
            <a:r>
              <a:rPr sz="1500" b="1" spc="370" dirty="0">
                <a:solidFill>
                  <a:srgbClr val="A059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A05900"/>
                </a:solidFill>
                <a:latin typeface="Arial"/>
                <a:cs typeface="Arial"/>
              </a:rPr>
              <a:t>REROUTE</a:t>
            </a:r>
            <a:r>
              <a:rPr sz="1500" b="1" spc="-20" dirty="0">
                <a:solidFill>
                  <a:srgbClr val="A059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A05900"/>
                </a:solidFill>
                <a:latin typeface="Arial"/>
                <a:cs typeface="Arial"/>
              </a:rPr>
              <a:t>+</a:t>
            </a:r>
            <a:r>
              <a:rPr sz="1500" b="1" spc="-20" dirty="0">
                <a:solidFill>
                  <a:srgbClr val="A05900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A05900"/>
                </a:solidFill>
                <a:latin typeface="Arial"/>
                <a:cs typeface="Arial"/>
              </a:rPr>
              <a:t>ALERT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31200" y="3266440"/>
            <a:ext cx="2990850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216535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OSRM/Valhalla treats fused risk as </a:t>
            </a:r>
            <a:r>
              <a:rPr sz="1200" spc="-25" dirty="0">
                <a:solidFill>
                  <a:srgbClr val="212121"/>
                </a:solidFill>
                <a:latin typeface="Arial MT"/>
                <a:cs typeface="Arial MT"/>
              </a:rPr>
              <a:t>an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edge-weight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penalty.</a:t>
            </a:r>
            <a:endParaRPr sz="1200">
              <a:latin typeface="Arial MT"/>
              <a:cs typeface="Arial MT"/>
            </a:endParaRPr>
          </a:p>
          <a:p>
            <a:pPr marL="190500" marR="51435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Reroute only after threshold +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hysteresis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confirm a real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transition.</a:t>
            </a:r>
            <a:endParaRPr sz="1200">
              <a:latin typeface="Arial MT"/>
              <a:cs typeface="Arial MT"/>
            </a:endParaRPr>
          </a:p>
          <a:p>
            <a:pPr marL="190500" marR="5080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Local LLM produces schema-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constrained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JSON alerts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only.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8800" y="5007609"/>
            <a:ext cx="6219825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200"/>
              </a:lnSpc>
              <a:spcBef>
                <a:spcPts val="100"/>
              </a:spcBef>
            </a:pP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Innovation:</a:t>
            </a:r>
            <a:r>
              <a:rPr sz="1150" spc="-2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routing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remains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deterministic;</a:t>
            </a:r>
            <a:r>
              <a:rPr sz="1150" spc="-2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the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gated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LLM</a:t>
            </a:r>
            <a:r>
              <a:rPr sz="1150" spc="-2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only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explains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confirmed</a:t>
            </a:r>
            <a:r>
              <a:rPr sz="1150" spc="-2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state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changes.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Connectivity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loss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triggers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last-known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risk</a:t>
            </a:r>
            <a:r>
              <a:rPr sz="1150" spc="-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+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static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terrain/obstacle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fallback.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63580" y="419720"/>
            <a:ext cx="784161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dirty="0">
                <a:latin typeface="Times New Roman"/>
                <a:cs typeface="Times New Roman"/>
              </a:rPr>
              <a:t>ehicle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Sat-</a:t>
            </a:r>
            <a:r>
              <a:rPr sz="2800" b="1" dirty="0">
                <a:latin typeface="Times New Roman"/>
                <a:cs typeface="Times New Roman"/>
              </a:rPr>
              <a:t>Nav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Hazard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Detection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Rerouting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Syste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4000" y="317500"/>
            <a:ext cx="10414000" cy="1333500"/>
            <a:chOff x="254000" y="317500"/>
            <a:chExt cx="10414000" cy="1333500"/>
          </a:xfrm>
        </p:grpSpPr>
        <p:sp>
          <p:nvSpPr>
            <p:cNvPr id="26" name="object 26"/>
            <p:cNvSpPr/>
            <p:nvPr/>
          </p:nvSpPr>
          <p:spPr>
            <a:xfrm>
              <a:off x="254000" y="317499"/>
              <a:ext cx="10414000" cy="1333500"/>
            </a:xfrm>
            <a:custGeom>
              <a:avLst/>
              <a:gdLst/>
              <a:ahLst/>
              <a:cxnLst/>
              <a:rect l="l" t="t" r="r" b="b"/>
              <a:pathLst>
                <a:path w="10414000" h="1333500">
                  <a:moveTo>
                    <a:pt x="1841500" y="63500"/>
                  </a:moveTo>
                  <a:lnTo>
                    <a:pt x="0" y="63500"/>
                  </a:lnTo>
                  <a:lnTo>
                    <a:pt x="0" y="1333500"/>
                  </a:lnTo>
                  <a:lnTo>
                    <a:pt x="1841500" y="1333500"/>
                  </a:lnTo>
                  <a:lnTo>
                    <a:pt x="1841500" y="63500"/>
                  </a:lnTo>
                  <a:close/>
                </a:path>
                <a:path w="10414000" h="1333500">
                  <a:moveTo>
                    <a:pt x="10414000" y="0"/>
                  </a:moveTo>
                  <a:lnTo>
                    <a:pt x="2540000" y="0"/>
                  </a:lnTo>
                  <a:lnTo>
                    <a:pt x="2540000" y="1270000"/>
                  </a:lnTo>
                  <a:lnTo>
                    <a:pt x="10414000" y="1270000"/>
                  </a:lnTo>
                  <a:lnTo>
                    <a:pt x="1041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5600" y="508000"/>
              <a:ext cx="1231900" cy="1041400"/>
            </a:xfrm>
            <a:custGeom>
              <a:avLst/>
              <a:gdLst/>
              <a:ahLst/>
              <a:cxnLst/>
              <a:rect l="l" t="t" r="r" b="b"/>
              <a:pathLst>
                <a:path w="1231900" h="1041400">
                  <a:moveTo>
                    <a:pt x="1231900" y="520700"/>
                  </a:moveTo>
                  <a:lnTo>
                    <a:pt x="1229639" y="475771"/>
                  </a:lnTo>
                  <a:lnTo>
                    <a:pt x="1222979" y="431904"/>
                  </a:lnTo>
                  <a:lnTo>
                    <a:pt x="1212106" y="389254"/>
                  </a:lnTo>
                  <a:lnTo>
                    <a:pt x="1197204" y="347979"/>
                  </a:lnTo>
                  <a:lnTo>
                    <a:pt x="1178459" y="308234"/>
                  </a:lnTo>
                  <a:lnTo>
                    <a:pt x="1156054" y="270175"/>
                  </a:lnTo>
                  <a:lnTo>
                    <a:pt x="1130175" y="233959"/>
                  </a:lnTo>
                  <a:lnTo>
                    <a:pt x="1101008" y="199742"/>
                  </a:lnTo>
                  <a:lnTo>
                    <a:pt x="1068735" y="167681"/>
                  </a:lnTo>
                  <a:lnTo>
                    <a:pt x="1033544" y="137931"/>
                  </a:lnTo>
                  <a:lnTo>
                    <a:pt x="995617" y="110650"/>
                  </a:lnTo>
                  <a:lnTo>
                    <a:pt x="955141" y="85992"/>
                  </a:lnTo>
                  <a:lnTo>
                    <a:pt x="912301" y="64116"/>
                  </a:lnTo>
                  <a:lnTo>
                    <a:pt x="867280" y="45176"/>
                  </a:lnTo>
                  <a:lnTo>
                    <a:pt x="820265" y="29329"/>
                  </a:lnTo>
                  <a:lnTo>
                    <a:pt x="771439" y="16732"/>
                  </a:lnTo>
                  <a:lnTo>
                    <a:pt x="720988" y="7540"/>
                  </a:lnTo>
                  <a:lnTo>
                    <a:pt x="669096" y="1911"/>
                  </a:lnTo>
                  <a:lnTo>
                    <a:pt x="615950" y="0"/>
                  </a:lnTo>
                  <a:lnTo>
                    <a:pt x="562803" y="1911"/>
                  </a:lnTo>
                  <a:lnTo>
                    <a:pt x="510912" y="7540"/>
                  </a:lnTo>
                  <a:lnTo>
                    <a:pt x="460461" y="16732"/>
                  </a:lnTo>
                  <a:lnTo>
                    <a:pt x="411635" y="29329"/>
                  </a:lnTo>
                  <a:lnTo>
                    <a:pt x="364620" y="45176"/>
                  </a:lnTo>
                  <a:lnTo>
                    <a:pt x="319599" y="64116"/>
                  </a:lnTo>
                  <a:lnTo>
                    <a:pt x="276759" y="85992"/>
                  </a:lnTo>
                  <a:lnTo>
                    <a:pt x="236283" y="110650"/>
                  </a:lnTo>
                  <a:lnTo>
                    <a:pt x="198356" y="137931"/>
                  </a:lnTo>
                  <a:lnTo>
                    <a:pt x="163165" y="167681"/>
                  </a:lnTo>
                  <a:lnTo>
                    <a:pt x="130892" y="199742"/>
                  </a:lnTo>
                  <a:lnTo>
                    <a:pt x="101724" y="233959"/>
                  </a:lnTo>
                  <a:lnTo>
                    <a:pt x="75845" y="270175"/>
                  </a:lnTo>
                  <a:lnTo>
                    <a:pt x="53441" y="308234"/>
                  </a:lnTo>
                  <a:lnTo>
                    <a:pt x="34695" y="347979"/>
                  </a:lnTo>
                  <a:lnTo>
                    <a:pt x="19793" y="389254"/>
                  </a:lnTo>
                  <a:lnTo>
                    <a:pt x="8920" y="431904"/>
                  </a:lnTo>
                  <a:lnTo>
                    <a:pt x="2260" y="475771"/>
                  </a:lnTo>
                  <a:lnTo>
                    <a:pt x="0" y="520700"/>
                  </a:lnTo>
                  <a:lnTo>
                    <a:pt x="2260" y="565628"/>
                  </a:lnTo>
                  <a:lnTo>
                    <a:pt x="8920" y="609495"/>
                  </a:lnTo>
                  <a:lnTo>
                    <a:pt x="19793" y="652145"/>
                  </a:lnTo>
                  <a:lnTo>
                    <a:pt x="34695" y="693420"/>
                  </a:lnTo>
                  <a:lnTo>
                    <a:pt x="53441" y="733165"/>
                  </a:lnTo>
                  <a:lnTo>
                    <a:pt x="75845" y="771224"/>
                  </a:lnTo>
                  <a:lnTo>
                    <a:pt x="101724" y="807440"/>
                  </a:lnTo>
                  <a:lnTo>
                    <a:pt x="130892" y="841657"/>
                  </a:lnTo>
                  <a:lnTo>
                    <a:pt x="163165" y="873718"/>
                  </a:lnTo>
                  <a:lnTo>
                    <a:pt x="198356" y="903468"/>
                  </a:lnTo>
                  <a:lnTo>
                    <a:pt x="236283" y="930749"/>
                  </a:lnTo>
                  <a:lnTo>
                    <a:pt x="276759" y="955407"/>
                  </a:lnTo>
                  <a:lnTo>
                    <a:pt x="319599" y="977283"/>
                  </a:lnTo>
                  <a:lnTo>
                    <a:pt x="364620" y="996223"/>
                  </a:lnTo>
                  <a:lnTo>
                    <a:pt x="411635" y="1012070"/>
                  </a:lnTo>
                  <a:lnTo>
                    <a:pt x="460461" y="1024667"/>
                  </a:lnTo>
                  <a:lnTo>
                    <a:pt x="510912" y="1033859"/>
                  </a:lnTo>
                  <a:lnTo>
                    <a:pt x="562803" y="1039488"/>
                  </a:lnTo>
                  <a:lnTo>
                    <a:pt x="615950" y="1041400"/>
                  </a:lnTo>
                  <a:lnTo>
                    <a:pt x="669096" y="1039488"/>
                  </a:lnTo>
                  <a:lnTo>
                    <a:pt x="720988" y="1033859"/>
                  </a:lnTo>
                  <a:lnTo>
                    <a:pt x="771439" y="1024667"/>
                  </a:lnTo>
                  <a:lnTo>
                    <a:pt x="820265" y="1012070"/>
                  </a:lnTo>
                  <a:lnTo>
                    <a:pt x="867280" y="996223"/>
                  </a:lnTo>
                  <a:lnTo>
                    <a:pt x="912301" y="977283"/>
                  </a:lnTo>
                  <a:lnTo>
                    <a:pt x="955141" y="955407"/>
                  </a:lnTo>
                  <a:lnTo>
                    <a:pt x="995617" y="930749"/>
                  </a:lnTo>
                  <a:lnTo>
                    <a:pt x="1033544" y="903468"/>
                  </a:lnTo>
                  <a:lnTo>
                    <a:pt x="1068735" y="873718"/>
                  </a:lnTo>
                  <a:lnTo>
                    <a:pt x="1101008" y="841657"/>
                  </a:lnTo>
                  <a:lnTo>
                    <a:pt x="1130175" y="807440"/>
                  </a:lnTo>
                  <a:lnTo>
                    <a:pt x="1156054" y="771224"/>
                  </a:lnTo>
                  <a:lnTo>
                    <a:pt x="1178459" y="733165"/>
                  </a:lnTo>
                  <a:lnTo>
                    <a:pt x="1197204" y="693420"/>
                  </a:lnTo>
                  <a:lnTo>
                    <a:pt x="1212106" y="652145"/>
                  </a:lnTo>
                  <a:lnTo>
                    <a:pt x="1222979" y="609495"/>
                  </a:lnTo>
                  <a:lnTo>
                    <a:pt x="1229639" y="565628"/>
                  </a:lnTo>
                  <a:lnTo>
                    <a:pt x="1231900" y="5207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77105" y="876300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2394076" y="368300"/>
            <a:ext cx="8420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Vehicle</a:t>
            </a:r>
            <a:r>
              <a:rPr sz="2800" u="sng" spc="-35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800" u="sng" spc="-2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Sat-</a:t>
            </a:r>
            <a:r>
              <a:rPr sz="28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Nav</a:t>
            </a:r>
            <a:r>
              <a:rPr sz="2800" u="sng" spc="-3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8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Hazard</a:t>
            </a:r>
            <a:r>
              <a:rPr sz="2800" u="sng" spc="-3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8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Detection</a:t>
            </a:r>
            <a:r>
              <a:rPr sz="2800" u="sng" spc="-3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8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&amp;</a:t>
            </a:r>
            <a:r>
              <a:rPr sz="2800" u="sng" spc="-3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8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Rerouting</a:t>
            </a:r>
            <a:r>
              <a:rPr sz="2800" u="sng" spc="-3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800" u="sng" spc="-1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System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7090" y="280738"/>
            <a:ext cx="541909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29"/>
              </a:lnSpc>
            </a:pPr>
            <a:r>
              <a:rPr sz="3600" b="1" spc="-10" dirty="0">
                <a:latin typeface="Times New Roman"/>
                <a:cs typeface="Times New Roman"/>
              </a:rPr>
              <a:t>TECHNICAL</a:t>
            </a:r>
            <a:r>
              <a:rPr sz="3600" b="1" spc="-42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APPROACH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675" y="2607005"/>
            <a:ext cx="9210040" cy="1682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750" dirty="0">
                <a:latin typeface="Arial MT"/>
                <a:cs typeface="Arial MT"/>
              </a:rPr>
              <a:t>•</a:t>
            </a:r>
            <a:r>
              <a:rPr sz="2750" spc="160" dirty="0">
                <a:latin typeface="Arial MT"/>
                <a:cs typeface="Arial MT"/>
              </a:rPr>
              <a:t>  </a:t>
            </a:r>
            <a:r>
              <a:rPr sz="2750" dirty="0">
                <a:latin typeface="Arial MT"/>
                <a:cs typeface="Arial MT"/>
              </a:rPr>
              <a:t>Technologies</a:t>
            </a:r>
            <a:r>
              <a:rPr sz="2750" spc="32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to</a:t>
            </a:r>
            <a:r>
              <a:rPr sz="2750" spc="3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be</a:t>
            </a:r>
            <a:r>
              <a:rPr sz="2750" spc="2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used</a:t>
            </a:r>
            <a:r>
              <a:rPr sz="2750" spc="3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(e.g.</a:t>
            </a:r>
            <a:r>
              <a:rPr sz="2750" spc="29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programming</a:t>
            </a:r>
            <a:r>
              <a:rPr sz="2750" spc="30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languages,</a:t>
            </a:r>
            <a:endParaRPr sz="2750">
              <a:latin typeface="Arial MT"/>
              <a:cs typeface="Arial MT"/>
            </a:endParaRPr>
          </a:p>
          <a:p>
            <a:pPr marL="342900">
              <a:lnSpc>
                <a:spcPct val="100000"/>
              </a:lnSpc>
              <a:spcBef>
                <a:spcPts val="80"/>
              </a:spcBef>
            </a:pPr>
            <a:r>
              <a:rPr sz="2750" dirty="0">
                <a:latin typeface="Arial MT"/>
                <a:cs typeface="Arial MT"/>
              </a:rPr>
              <a:t>frameworks,</a:t>
            </a:r>
            <a:r>
              <a:rPr sz="2750" spc="27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hardware)</a:t>
            </a:r>
            <a:endParaRPr sz="2750">
              <a:latin typeface="Arial MT"/>
              <a:cs typeface="Arial MT"/>
            </a:endParaRPr>
          </a:p>
          <a:p>
            <a:pPr marL="342900" indent="-343535">
              <a:lnSpc>
                <a:spcPts val="3379"/>
              </a:lnSpc>
              <a:spcBef>
                <a:spcPts val="35"/>
              </a:spcBef>
              <a:tabLst>
                <a:tab pos="2639695" algn="l"/>
                <a:tab pos="3489325" algn="l"/>
                <a:tab pos="4991735" algn="l"/>
                <a:tab pos="5661660" algn="l"/>
                <a:tab pos="8335645" algn="l"/>
              </a:tabLst>
            </a:pPr>
            <a:r>
              <a:rPr sz="2750" dirty="0">
                <a:latin typeface="Arial MT"/>
                <a:cs typeface="Arial MT"/>
              </a:rPr>
              <a:t>•</a:t>
            </a:r>
            <a:r>
              <a:rPr sz="2750" spc="95" dirty="0">
                <a:latin typeface="Arial MT"/>
                <a:cs typeface="Arial MT"/>
              </a:rPr>
              <a:t>  </a:t>
            </a:r>
            <a:r>
              <a:rPr sz="2750" spc="-10" dirty="0">
                <a:latin typeface="Arial MT"/>
                <a:cs typeface="Arial MT"/>
              </a:rPr>
              <a:t>Methodology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25" dirty="0">
                <a:latin typeface="Arial MT"/>
                <a:cs typeface="Arial MT"/>
              </a:rPr>
              <a:t>and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10" dirty="0">
                <a:latin typeface="Arial MT"/>
                <a:cs typeface="Arial MT"/>
              </a:rPr>
              <a:t>process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25" dirty="0">
                <a:latin typeface="Arial MT"/>
                <a:cs typeface="Arial MT"/>
              </a:rPr>
              <a:t>for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10" dirty="0">
                <a:latin typeface="Arial MT"/>
                <a:cs typeface="Arial MT"/>
              </a:rPr>
              <a:t>implementation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10" dirty="0">
                <a:latin typeface="Arial MT"/>
                <a:cs typeface="Arial MT"/>
              </a:rPr>
              <a:t>(Flow </a:t>
            </a:r>
            <a:r>
              <a:rPr sz="2750" dirty="0">
                <a:latin typeface="Arial MT"/>
                <a:cs typeface="Arial MT"/>
              </a:rPr>
              <a:t>Charts/Images/</a:t>
            </a:r>
            <a:r>
              <a:rPr sz="2750" spc="2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working</a:t>
            </a:r>
            <a:r>
              <a:rPr sz="2750" spc="27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prototype)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137" y="252475"/>
            <a:ext cx="1248410" cy="809625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9132" y="282971"/>
            <a:ext cx="553085" cy="8784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710"/>
              </a:lnSpc>
            </a:pPr>
            <a:r>
              <a:rPr lang="en-IN" sz="1800" spc="-20" dirty="0" err="1">
                <a:latin typeface="Calibri"/>
                <a:cs typeface="Calibri"/>
              </a:rPr>
              <a:t>Youeam</a:t>
            </a:r>
            <a:r>
              <a:rPr sz="1800" spc="-20" dirty="0">
                <a:latin typeface="Calibri"/>
                <a:cs typeface="Calibri"/>
              </a:rPr>
              <a:t> Name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9643" y="18314"/>
            <a:ext cx="2197539" cy="103017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17500" y="1460500"/>
            <a:ext cx="11620500" cy="4699000"/>
          </a:xfrm>
          <a:custGeom>
            <a:avLst/>
            <a:gdLst/>
            <a:ahLst/>
            <a:cxnLst/>
            <a:rect l="l" t="t" r="r" b="b"/>
            <a:pathLst>
              <a:path w="11620500" h="4699000">
                <a:moveTo>
                  <a:pt x="11620500" y="0"/>
                </a:moveTo>
                <a:lnTo>
                  <a:pt x="0" y="0"/>
                </a:lnTo>
                <a:lnTo>
                  <a:pt x="0" y="4699000"/>
                </a:lnTo>
                <a:lnTo>
                  <a:pt x="11620500" y="4699000"/>
                </a:lnTo>
                <a:lnTo>
                  <a:pt x="1162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6471" y="453671"/>
            <a:ext cx="749554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30"/>
              </a:lnSpc>
            </a:pPr>
            <a:r>
              <a:rPr sz="2500" b="1" dirty="0">
                <a:latin typeface="Times New Roman"/>
                <a:cs typeface="Times New Roman"/>
              </a:rPr>
              <a:t>Vehicle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Sat-</a:t>
            </a:r>
            <a:r>
              <a:rPr sz="2500" b="1" dirty="0">
                <a:latin typeface="Times New Roman"/>
                <a:cs typeface="Times New Roman"/>
              </a:rPr>
              <a:t>Nav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Hazard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Detection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&amp;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Rerouting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System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800" y="1778000"/>
            <a:ext cx="26263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235289"/>
                </a:solidFill>
                <a:latin typeface="Arial"/>
                <a:cs typeface="Arial"/>
              </a:rPr>
              <a:t>TECHNOLOGY </a:t>
            </a:r>
            <a:r>
              <a:rPr sz="1900" b="1" spc="-10" dirty="0">
                <a:solidFill>
                  <a:srgbClr val="235289"/>
                </a:solidFill>
                <a:latin typeface="Arial"/>
                <a:cs typeface="Arial"/>
              </a:rPr>
              <a:t>STACK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900" y="2113788"/>
            <a:ext cx="3880485" cy="13970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152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Android</a:t>
            </a:r>
            <a:r>
              <a:rPr sz="12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mobile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/</a:t>
            </a:r>
            <a:r>
              <a:rPr sz="12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in-vehicle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client</a:t>
            </a:r>
            <a:endParaRPr sz="1200" dirty="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152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OSRM</a:t>
            </a:r>
            <a:r>
              <a:rPr sz="12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sz="12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Valhalla</a:t>
            </a:r>
            <a:r>
              <a:rPr sz="1200" spc="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sz="12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OpenStreetMap</a:t>
            </a:r>
            <a:endParaRPr sz="1200" dirty="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152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H3</a:t>
            </a:r>
            <a:r>
              <a:rPr sz="12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sz="12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RoadSegmentRisk</a:t>
            </a:r>
            <a:r>
              <a:rPr sz="12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geospatial</a:t>
            </a:r>
            <a:r>
              <a:rPr sz="12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store</a:t>
            </a:r>
            <a:endParaRPr sz="1200" dirty="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152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XGBoost/LightGBM</a:t>
            </a:r>
            <a:r>
              <a:rPr sz="12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GBMs;</a:t>
            </a:r>
            <a:r>
              <a:rPr sz="12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CNN</a:t>
            </a:r>
            <a:r>
              <a:rPr sz="1200" spc="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sz="12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glacier/GLOF</a:t>
            </a:r>
            <a:endParaRPr sz="1200" dirty="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152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Shared</a:t>
            </a:r>
            <a:r>
              <a:rPr sz="12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time-series</a:t>
            </a:r>
            <a:r>
              <a:rPr sz="12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risk</a:t>
            </a:r>
            <a:r>
              <a:rPr sz="12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state</a:t>
            </a:r>
            <a:endParaRPr sz="1200" dirty="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152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Local</a:t>
            </a:r>
            <a:r>
              <a:rPr sz="12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3–8B</a:t>
            </a:r>
            <a:r>
              <a:rPr sz="12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quantized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LLM</a:t>
            </a:r>
            <a:r>
              <a:rPr sz="12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(e.g.,</a:t>
            </a:r>
            <a:r>
              <a:rPr sz="12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Ollama),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JSON-</a:t>
            </a:r>
            <a:r>
              <a:rPr sz="1200" spc="-20" dirty="0">
                <a:solidFill>
                  <a:srgbClr val="212121"/>
                </a:solidFill>
                <a:latin typeface="Arial MT"/>
                <a:cs typeface="Arial MT"/>
              </a:rPr>
              <a:t>only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3619500"/>
            <a:ext cx="33096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235289"/>
                </a:solidFill>
                <a:latin typeface="Arial"/>
                <a:cs typeface="Arial"/>
              </a:rPr>
              <a:t>IMPLEMENTATION</a:t>
            </a:r>
            <a:r>
              <a:rPr sz="1900" b="1" spc="-40" dirty="0">
                <a:solidFill>
                  <a:srgbClr val="235289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35289"/>
                </a:solidFill>
                <a:latin typeface="Arial"/>
                <a:cs typeface="Arial"/>
              </a:rPr>
              <a:t>METHOD</a:t>
            </a:r>
            <a:endParaRPr sz="1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900" y="3978909"/>
            <a:ext cx="3463925" cy="13208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420"/>
              </a:spcBef>
              <a:buChar char="•"/>
              <a:tabLst>
                <a:tab pos="2152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1.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Routing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core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corridor/H3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tiling</a:t>
            </a:r>
            <a:endParaRPr sz="115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20"/>
              </a:spcBef>
              <a:buChar char="•"/>
              <a:tabLst>
                <a:tab pos="2152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2.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Landslide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GBM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end-to-end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 pipeline</a:t>
            </a:r>
            <a:endParaRPr sz="115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20"/>
              </a:spcBef>
              <a:buChar char="•"/>
              <a:tabLst>
                <a:tab pos="2152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3.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Risk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fusion +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hysteresis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state</a:t>
            </a:r>
            <a:endParaRPr sz="115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20"/>
              </a:spcBef>
              <a:buChar char="•"/>
              <a:tabLst>
                <a:tab pos="2152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4.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Risk-weighted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alternate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routing</a:t>
            </a:r>
            <a:endParaRPr sz="115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20"/>
              </a:spcBef>
              <a:buChar char="•"/>
              <a:tabLst>
                <a:tab pos="2152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5.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Gated</a:t>
            </a:r>
            <a:r>
              <a:rPr sz="115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local</a:t>
            </a:r>
            <a:r>
              <a:rPr sz="115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LLM</a:t>
            </a:r>
            <a:r>
              <a:rPr sz="115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sz="115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structured</a:t>
            </a:r>
            <a:r>
              <a:rPr sz="1150" spc="-20" dirty="0">
                <a:solidFill>
                  <a:srgbClr val="212121"/>
                </a:solidFill>
                <a:latin typeface="Arial MT"/>
                <a:cs typeface="Arial MT"/>
              </a:rPr>
              <a:t> JSON</a:t>
            </a:r>
            <a:endParaRPr sz="115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320"/>
              </a:spcBef>
              <a:buChar char="•"/>
              <a:tabLst>
                <a:tab pos="2152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6.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Flood, avalanche,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glacier CNN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+ offline</a:t>
            </a:r>
            <a:r>
              <a:rPr sz="11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fallback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0946" y="752475"/>
            <a:ext cx="6057900" cy="53435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6471" y="453671"/>
            <a:ext cx="749554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30"/>
              </a:lnSpc>
            </a:pPr>
            <a:r>
              <a:rPr sz="2500" b="1" dirty="0">
                <a:latin typeface="Times New Roman"/>
                <a:cs typeface="Times New Roman"/>
              </a:rPr>
              <a:t>Vehicle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Sat-</a:t>
            </a:r>
            <a:r>
              <a:rPr sz="2500" b="1" dirty="0">
                <a:latin typeface="Times New Roman"/>
                <a:cs typeface="Times New Roman"/>
              </a:rPr>
              <a:t>Nav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Hazard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Detection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&amp;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Rerouting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System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4000" y="317500"/>
            <a:ext cx="10414000" cy="1333500"/>
            <a:chOff x="254000" y="317500"/>
            <a:chExt cx="10414000" cy="1333500"/>
          </a:xfrm>
        </p:grpSpPr>
        <p:sp>
          <p:nvSpPr>
            <p:cNvPr id="18" name="object 18"/>
            <p:cNvSpPr/>
            <p:nvPr/>
          </p:nvSpPr>
          <p:spPr>
            <a:xfrm>
              <a:off x="254000" y="317499"/>
              <a:ext cx="10414000" cy="1333500"/>
            </a:xfrm>
            <a:custGeom>
              <a:avLst/>
              <a:gdLst/>
              <a:ahLst/>
              <a:cxnLst/>
              <a:rect l="l" t="t" r="r" b="b"/>
              <a:pathLst>
                <a:path w="10414000" h="1333500">
                  <a:moveTo>
                    <a:pt x="1841500" y="63500"/>
                  </a:moveTo>
                  <a:lnTo>
                    <a:pt x="0" y="63500"/>
                  </a:lnTo>
                  <a:lnTo>
                    <a:pt x="0" y="1333500"/>
                  </a:lnTo>
                  <a:lnTo>
                    <a:pt x="1841500" y="1333500"/>
                  </a:lnTo>
                  <a:lnTo>
                    <a:pt x="1841500" y="63500"/>
                  </a:lnTo>
                  <a:close/>
                </a:path>
                <a:path w="10414000" h="1333500">
                  <a:moveTo>
                    <a:pt x="10414000" y="0"/>
                  </a:moveTo>
                  <a:lnTo>
                    <a:pt x="2540000" y="0"/>
                  </a:lnTo>
                  <a:lnTo>
                    <a:pt x="2540000" y="1270000"/>
                  </a:lnTo>
                  <a:lnTo>
                    <a:pt x="10414000" y="1270000"/>
                  </a:lnTo>
                  <a:lnTo>
                    <a:pt x="1041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5600" y="508000"/>
              <a:ext cx="1231900" cy="1041400"/>
            </a:xfrm>
            <a:custGeom>
              <a:avLst/>
              <a:gdLst/>
              <a:ahLst/>
              <a:cxnLst/>
              <a:rect l="l" t="t" r="r" b="b"/>
              <a:pathLst>
                <a:path w="1231900" h="1041400">
                  <a:moveTo>
                    <a:pt x="1231900" y="520700"/>
                  </a:moveTo>
                  <a:lnTo>
                    <a:pt x="1229639" y="475771"/>
                  </a:lnTo>
                  <a:lnTo>
                    <a:pt x="1222979" y="431904"/>
                  </a:lnTo>
                  <a:lnTo>
                    <a:pt x="1212106" y="389254"/>
                  </a:lnTo>
                  <a:lnTo>
                    <a:pt x="1197204" y="347979"/>
                  </a:lnTo>
                  <a:lnTo>
                    <a:pt x="1178459" y="308234"/>
                  </a:lnTo>
                  <a:lnTo>
                    <a:pt x="1156054" y="270175"/>
                  </a:lnTo>
                  <a:lnTo>
                    <a:pt x="1130175" y="233959"/>
                  </a:lnTo>
                  <a:lnTo>
                    <a:pt x="1101008" y="199742"/>
                  </a:lnTo>
                  <a:lnTo>
                    <a:pt x="1068735" y="167681"/>
                  </a:lnTo>
                  <a:lnTo>
                    <a:pt x="1033544" y="137931"/>
                  </a:lnTo>
                  <a:lnTo>
                    <a:pt x="995617" y="110650"/>
                  </a:lnTo>
                  <a:lnTo>
                    <a:pt x="955141" y="85992"/>
                  </a:lnTo>
                  <a:lnTo>
                    <a:pt x="912301" y="64116"/>
                  </a:lnTo>
                  <a:lnTo>
                    <a:pt x="867280" y="45176"/>
                  </a:lnTo>
                  <a:lnTo>
                    <a:pt x="820265" y="29329"/>
                  </a:lnTo>
                  <a:lnTo>
                    <a:pt x="771439" y="16732"/>
                  </a:lnTo>
                  <a:lnTo>
                    <a:pt x="720988" y="7540"/>
                  </a:lnTo>
                  <a:lnTo>
                    <a:pt x="669096" y="1911"/>
                  </a:lnTo>
                  <a:lnTo>
                    <a:pt x="615950" y="0"/>
                  </a:lnTo>
                  <a:lnTo>
                    <a:pt x="562803" y="1911"/>
                  </a:lnTo>
                  <a:lnTo>
                    <a:pt x="510912" y="7540"/>
                  </a:lnTo>
                  <a:lnTo>
                    <a:pt x="460461" y="16732"/>
                  </a:lnTo>
                  <a:lnTo>
                    <a:pt x="411635" y="29329"/>
                  </a:lnTo>
                  <a:lnTo>
                    <a:pt x="364620" y="45176"/>
                  </a:lnTo>
                  <a:lnTo>
                    <a:pt x="319599" y="64116"/>
                  </a:lnTo>
                  <a:lnTo>
                    <a:pt x="276759" y="85992"/>
                  </a:lnTo>
                  <a:lnTo>
                    <a:pt x="236283" y="110650"/>
                  </a:lnTo>
                  <a:lnTo>
                    <a:pt x="198356" y="137931"/>
                  </a:lnTo>
                  <a:lnTo>
                    <a:pt x="163165" y="167681"/>
                  </a:lnTo>
                  <a:lnTo>
                    <a:pt x="130892" y="199742"/>
                  </a:lnTo>
                  <a:lnTo>
                    <a:pt x="101724" y="233959"/>
                  </a:lnTo>
                  <a:lnTo>
                    <a:pt x="75845" y="270175"/>
                  </a:lnTo>
                  <a:lnTo>
                    <a:pt x="53441" y="308234"/>
                  </a:lnTo>
                  <a:lnTo>
                    <a:pt x="34695" y="347979"/>
                  </a:lnTo>
                  <a:lnTo>
                    <a:pt x="19793" y="389254"/>
                  </a:lnTo>
                  <a:lnTo>
                    <a:pt x="8920" y="431904"/>
                  </a:lnTo>
                  <a:lnTo>
                    <a:pt x="2260" y="475771"/>
                  </a:lnTo>
                  <a:lnTo>
                    <a:pt x="0" y="520700"/>
                  </a:lnTo>
                  <a:lnTo>
                    <a:pt x="2260" y="565628"/>
                  </a:lnTo>
                  <a:lnTo>
                    <a:pt x="8920" y="609495"/>
                  </a:lnTo>
                  <a:lnTo>
                    <a:pt x="19793" y="652145"/>
                  </a:lnTo>
                  <a:lnTo>
                    <a:pt x="34695" y="693420"/>
                  </a:lnTo>
                  <a:lnTo>
                    <a:pt x="53441" y="733165"/>
                  </a:lnTo>
                  <a:lnTo>
                    <a:pt x="75845" y="771224"/>
                  </a:lnTo>
                  <a:lnTo>
                    <a:pt x="101724" y="807440"/>
                  </a:lnTo>
                  <a:lnTo>
                    <a:pt x="130892" y="841657"/>
                  </a:lnTo>
                  <a:lnTo>
                    <a:pt x="163165" y="873718"/>
                  </a:lnTo>
                  <a:lnTo>
                    <a:pt x="198356" y="903468"/>
                  </a:lnTo>
                  <a:lnTo>
                    <a:pt x="236283" y="930749"/>
                  </a:lnTo>
                  <a:lnTo>
                    <a:pt x="276759" y="955407"/>
                  </a:lnTo>
                  <a:lnTo>
                    <a:pt x="319599" y="977283"/>
                  </a:lnTo>
                  <a:lnTo>
                    <a:pt x="364620" y="996223"/>
                  </a:lnTo>
                  <a:lnTo>
                    <a:pt x="411635" y="1012070"/>
                  </a:lnTo>
                  <a:lnTo>
                    <a:pt x="460461" y="1024667"/>
                  </a:lnTo>
                  <a:lnTo>
                    <a:pt x="510912" y="1033859"/>
                  </a:lnTo>
                  <a:lnTo>
                    <a:pt x="562803" y="1039488"/>
                  </a:lnTo>
                  <a:lnTo>
                    <a:pt x="615950" y="1041400"/>
                  </a:lnTo>
                  <a:lnTo>
                    <a:pt x="669096" y="1039488"/>
                  </a:lnTo>
                  <a:lnTo>
                    <a:pt x="720988" y="1033859"/>
                  </a:lnTo>
                  <a:lnTo>
                    <a:pt x="771439" y="1024667"/>
                  </a:lnTo>
                  <a:lnTo>
                    <a:pt x="820265" y="1012070"/>
                  </a:lnTo>
                  <a:lnTo>
                    <a:pt x="867280" y="996223"/>
                  </a:lnTo>
                  <a:lnTo>
                    <a:pt x="912301" y="977283"/>
                  </a:lnTo>
                  <a:lnTo>
                    <a:pt x="955141" y="955407"/>
                  </a:lnTo>
                  <a:lnTo>
                    <a:pt x="995617" y="930749"/>
                  </a:lnTo>
                  <a:lnTo>
                    <a:pt x="1033544" y="903468"/>
                  </a:lnTo>
                  <a:lnTo>
                    <a:pt x="1068735" y="873718"/>
                  </a:lnTo>
                  <a:lnTo>
                    <a:pt x="1101008" y="841657"/>
                  </a:lnTo>
                  <a:lnTo>
                    <a:pt x="1130175" y="807440"/>
                  </a:lnTo>
                  <a:lnTo>
                    <a:pt x="1156054" y="771224"/>
                  </a:lnTo>
                  <a:lnTo>
                    <a:pt x="1178459" y="733165"/>
                  </a:lnTo>
                  <a:lnTo>
                    <a:pt x="1197204" y="693420"/>
                  </a:lnTo>
                  <a:lnTo>
                    <a:pt x="1212106" y="652145"/>
                  </a:lnTo>
                  <a:lnTo>
                    <a:pt x="1222979" y="609495"/>
                  </a:lnTo>
                  <a:lnTo>
                    <a:pt x="1229639" y="565628"/>
                  </a:lnTo>
                  <a:lnTo>
                    <a:pt x="1231900" y="5207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77105" y="876300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2843771" y="406400"/>
            <a:ext cx="75209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Vehicle</a:t>
            </a:r>
            <a:r>
              <a:rPr sz="2500" u="sng" spc="-6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500" u="sng" spc="-2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Sat-</a:t>
            </a:r>
            <a:r>
              <a:rPr sz="25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Nav</a:t>
            </a:r>
            <a:r>
              <a:rPr sz="2500" u="sng" spc="-55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5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Hazard</a:t>
            </a:r>
            <a:r>
              <a:rPr sz="2500" u="sng" spc="-6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5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Detection</a:t>
            </a:r>
            <a:r>
              <a:rPr sz="2500" u="sng" spc="-55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5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&amp;</a:t>
            </a:r>
            <a:r>
              <a:rPr sz="2500" u="sng" spc="-6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500" u="sng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Rerouting</a:t>
            </a:r>
            <a:r>
              <a:rPr sz="2500" u="sng" spc="-55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 </a:t>
            </a:r>
            <a:r>
              <a:rPr sz="2500" u="sng" spc="-10" dirty="0">
                <a:solidFill>
                  <a:srgbClr val="000000"/>
                </a:solidFill>
                <a:uFill>
                  <a:solidFill>
                    <a:srgbClr val="21A0FF"/>
                  </a:solidFill>
                </a:uFill>
              </a:rPr>
              <a:t>System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97837" y="280738"/>
            <a:ext cx="627697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29"/>
              </a:lnSpc>
            </a:pPr>
            <a:r>
              <a:rPr sz="3600" b="1" spc="-10" dirty="0">
                <a:latin typeface="Times New Roman"/>
                <a:cs typeface="Times New Roman"/>
              </a:rPr>
              <a:t>EASIBILITY</a:t>
            </a:r>
            <a:r>
              <a:rPr sz="3600" b="1" spc="-3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VIABILITY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675" y="2607005"/>
            <a:ext cx="7174230" cy="125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750" dirty="0">
                <a:latin typeface="Arial MT"/>
                <a:cs typeface="Arial MT"/>
              </a:rPr>
              <a:t>•</a:t>
            </a:r>
            <a:r>
              <a:rPr sz="2750" spc="160" dirty="0">
                <a:latin typeface="Arial MT"/>
                <a:cs typeface="Arial MT"/>
              </a:rPr>
              <a:t>  </a:t>
            </a:r>
            <a:r>
              <a:rPr sz="2750" dirty="0">
                <a:latin typeface="Arial MT"/>
                <a:cs typeface="Arial MT"/>
              </a:rPr>
              <a:t>Analysis</a:t>
            </a:r>
            <a:r>
              <a:rPr sz="2750" spc="7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114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feasibility</a:t>
            </a:r>
            <a:r>
              <a:rPr sz="2750" spc="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114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idea</a:t>
            </a: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r>
              <a:rPr sz="2750" dirty="0">
                <a:latin typeface="Arial MT"/>
                <a:cs typeface="Arial MT"/>
              </a:rPr>
              <a:t>•</a:t>
            </a:r>
            <a:r>
              <a:rPr sz="2750" spc="185" dirty="0">
                <a:latin typeface="Arial MT"/>
                <a:cs typeface="Arial MT"/>
              </a:rPr>
              <a:t>  </a:t>
            </a:r>
            <a:r>
              <a:rPr sz="2750" dirty="0">
                <a:latin typeface="Arial MT"/>
                <a:cs typeface="Arial MT"/>
              </a:rPr>
              <a:t>Potential</a:t>
            </a:r>
            <a:r>
              <a:rPr sz="2750" spc="1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challenges</a:t>
            </a:r>
            <a:r>
              <a:rPr sz="2750" spc="1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and</a:t>
            </a:r>
            <a:r>
              <a:rPr sz="2750" spc="9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risks</a:t>
            </a: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2750" dirty="0">
                <a:latin typeface="Arial MT"/>
                <a:cs typeface="Arial MT"/>
              </a:rPr>
              <a:t>•</a:t>
            </a:r>
            <a:r>
              <a:rPr sz="2750" spc="210" dirty="0">
                <a:latin typeface="Arial MT"/>
                <a:cs typeface="Arial MT"/>
              </a:rPr>
              <a:t>  </a:t>
            </a:r>
            <a:r>
              <a:rPr sz="2750" dirty="0">
                <a:latin typeface="Arial MT"/>
                <a:cs typeface="Arial MT"/>
              </a:rPr>
              <a:t>Strategies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for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overcoming</a:t>
            </a:r>
            <a:r>
              <a:rPr sz="2750" spc="12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these</a:t>
            </a:r>
            <a:r>
              <a:rPr sz="2750" spc="10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challenges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137" y="252475"/>
            <a:ext cx="1248410" cy="809625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9132" y="836056"/>
            <a:ext cx="553085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9643" y="18314"/>
            <a:ext cx="2197539" cy="103017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17500" y="1524000"/>
            <a:ext cx="11620500" cy="4508500"/>
          </a:xfrm>
          <a:custGeom>
            <a:avLst/>
            <a:gdLst/>
            <a:ahLst/>
            <a:cxnLst/>
            <a:rect l="l" t="t" r="r" b="b"/>
            <a:pathLst>
              <a:path w="11620500" h="4508500">
                <a:moveTo>
                  <a:pt x="11620500" y="0"/>
                </a:moveTo>
                <a:lnTo>
                  <a:pt x="0" y="0"/>
                </a:lnTo>
                <a:lnTo>
                  <a:pt x="0" y="4508500"/>
                </a:lnTo>
                <a:lnTo>
                  <a:pt x="11620500" y="4508500"/>
                </a:lnTo>
                <a:lnTo>
                  <a:pt x="1162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1304" y="280738"/>
            <a:ext cx="6260465" cy="53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  <a:tabLst>
                <a:tab pos="1304925" algn="l"/>
              </a:tabLst>
            </a:pPr>
            <a:r>
              <a:rPr sz="5400" b="1" spc="-75" baseline="6172" dirty="0">
                <a:latin typeface="Times New Roman"/>
                <a:cs typeface="Times New Roman"/>
              </a:rPr>
              <a:t>F</a:t>
            </a:r>
            <a:r>
              <a:rPr sz="5400" b="1" baseline="6172" dirty="0">
                <a:latin typeface="Times New Roman"/>
                <a:cs typeface="Times New Roman"/>
              </a:rPr>
              <a:t>	</a:t>
            </a:r>
            <a:r>
              <a:rPr sz="2700" b="1" dirty="0">
                <a:latin typeface="Times New Roman"/>
                <a:cs typeface="Times New Roman"/>
              </a:rPr>
              <a:t>FEASIBILITY AND </a:t>
            </a:r>
            <a:r>
              <a:rPr sz="2700" b="1" spc="-10" dirty="0">
                <a:latin typeface="Times New Roman"/>
                <a:cs typeface="Times New Roman"/>
              </a:rPr>
              <a:t>VIABILITY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3400" y="2413000"/>
            <a:ext cx="3492500" cy="1587500"/>
          </a:xfrm>
          <a:custGeom>
            <a:avLst/>
            <a:gdLst/>
            <a:ahLst/>
            <a:cxnLst/>
            <a:rect l="l" t="t" r="r" b="b"/>
            <a:pathLst>
              <a:path w="3492500" h="1587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60500"/>
                </a:lnTo>
                <a:lnTo>
                  <a:pt x="9971" y="1509961"/>
                </a:lnTo>
                <a:lnTo>
                  <a:pt x="37172" y="1550327"/>
                </a:lnTo>
                <a:lnTo>
                  <a:pt x="77538" y="1577528"/>
                </a:lnTo>
                <a:lnTo>
                  <a:pt x="127000" y="1587500"/>
                </a:lnTo>
                <a:lnTo>
                  <a:pt x="3365500" y="1587500"/>
                </a:lnTo>
                <a:lnTo>
                  <a:pt x="3414961" y="1577528"/>
                </a:lnTo>
                <a:lnTo>
                  <a:pt x="3455327" y="1550327"/>
                </a:lnTo>
                <a:lnTo>
                  <a:pt x="3482528" y="1509961"/>
                </a:lnTo>
                <a:lnTo>
                  <a:pt x="3492500" y="1460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8500" y="2501900"/>
            <a:ext cx="967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35289"/>
                </a:solidFill>
                <a:latin typeface="Arial"/>
                <a:cs typeface="Arial"/>
              </a:rPr>
              <a:t>FEASIBLE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800" y="2821939"/>
            <a:ext cx="3037205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OpenStreetMap + OSRM/Valhalla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provide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 accessible routing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base.</a:t>
            </a:r>
            <a:endParaRPr sz="1200">
              <a:latin typeface="Arial MT"/>
              <a:cs typeface="Arial MT"/>
            </a:endParaRPr>
          </a:p>
          <a:p>
            <a:pPr marL="190500" marR="85725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GBMs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support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millisecond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inference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Arial MT"/>
                <a:cs typeface="Arial MT"/>
              </a:rPr>
              <a:t>with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smaller labelled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datasets.</a:t>
            </a:r>
            <a:endParaRPr sz="1200">
              <a:latin typeface="Arial MT"/>
              <a:cs typeface="Arial MT"/>
            </a:endParaRPr>
          </a:p>
          <a:p>
            <a:pPr marL="191135" indent="-1784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Scope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is bounded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to a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10–20 km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corridor.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43400" y="2413000"/>
            <a:ext cx="3492500" cy="1587500"/>
          </a:xfrm>
          <a:custGeom>
            <a:avLst/>
            <a:gdLst/>
            <a:ahLst/>
            <a:cxnLst/>
            <a:rect l="l" t="t" r="r" b="b"/>
            <a:pathLst>
              <a:path w="3492500" h="1587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60500"/>
                </a:lnTo>
                <a:lnTo>
                  <a:pt x="9971" y="1509961"/>
                </a:lnTo>
                <a:lnTo>
                  <a:pt x="37172" y="1550327"/>
                </a:lnTo>
                <a:lnTo>
                  <a:pt x="77538" y="1577528"/>
                </a:lnTo>
                <a:lnTo>
                  <a:pt x="127000" y="1587500"/>
                </a:lnTo>
                <a:lnTo>
                  <a:pt x="3365500" y="1587500"/>
                </a:lnTo>
                <a:lnTo>
                  <a:pt x="3414961" y="1577528"/>
                </a:lnTo>
                <a:lnTo>
                  <a:pt x="3455327" y="1550327"/>
                </a:lnTo>
                <a:lnTo>
                  <a:pt x="3482528" y="1509961"/>
                </a:lnTo>
                <a:lnTo>
                  <a:pt x="3492500" y="1460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FFF2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08500" y="2501900"/>
            <a:ext cx="13379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A05900"/>
                </a:solidFill>
                <a:latin typeface="Arial"/>
                <a:cs typeface="Arial"/>
              </a:rPr>
              <a:t>CHALLENGES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95800" y="2796539"/>
            <a:ext cx="3032760" cy="6807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91135" indent="-1784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API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rate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limits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data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availability.</a:t>
            </a:r>
            <a:endParaRPr sz="1200">
              <a:latin typeface="Arial MT"/>
              <a:cs typeface="Arial MT"/>
            </a:endParaRPr>
          </a:p>
          <a:p>
            <a:pPr marL="191135" indent="-1784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Noisy readings may cause false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reroutes.</a:t>
            </a:r>
            <a:endParaRPr sz="1200">
              <a:latin typeface="Arial MT"/>
              <a:cs typeface="Arial MT"/>
            </a:endParaRPr>
          </a:p>
          <a:p>
            <a:pPr marL="191135" indent="-1784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Connectivity loss and slow satellite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revisit.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53400" y="2413000"/>
            <a:ext cx="3492500" cy="1587500"/>
          </a:xfrm>
          <a:custGeom>
            <a:avLst/>
            <a:gdLst/>
            <a:ahLst/>
            <a:cxnLst/>
            <a:rect l="l" t="t" r="r" b="b"/>
            <a:pathLst>
              <a:path w="3492500" h="1587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60500"/>
                </a:lnTo>
                <a:lnTo>
                  <a:pt x="9971" y="1509961"/>
                </a:lnTo>
                <a:lnTo>
                  <a:pt x="37172" y="1550327"/>
                </a:lnTo>
                <a:lnTo>
                  <a:pt x="77538" y="1577528"/>
                </a:lnTo>
                <a:lnTo>
                  <a:pt x="127000" y="1587500"/>
                </a:lnTo>
                <a:lnTo>
                  <a:pt x="3365500" y="1587500"/>
                </a:lnTo>
                <a:lnTo>
                  <a:pt x="3414961" y="1577528"/>
                </a:lnTo>
                <a:lnTo>
                  <a:pt x="3455327" y="1550327"/>
                </a:lnTo>
                <a:lnTo>
                  <a:pt x="3482528" y="1509961"/>
                </a:lnTo>
                <a:lnTo>
                  <a:pt x="3492500" y="1460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EDF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318500" y="2501900"/>
            <a:ext cx="1147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6725B"/>
                </a:solidFill>
                <a:latin typeface="Arial"/>
                <a:cs typeface="Arial"/>
              </a:rPr>
              <a:t>MITIGATION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05800" y="2807715"/>
            <a:ext cx="3156585" cy="8483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1898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Aggressive</a:t>
            </a:r>
            <a:r>
              <a:rPr sz="1150" spc="-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caching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scheduled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polling.</a:t>
            </a:r>
            <a:endParaRPr sz="115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898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Threshold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sz="115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hysteresis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before</a:t>
            </a:r>
            <a:r>
              <a:rPr sz="115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rerouting.</a:t>
            </a:r>
            <a:endParaRPr sz="115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89865" algn="l"/>
              </a:tabLst>
            </a:pP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Last-known-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state</a:t>
            </a:r>
            <a:r>
              <a:rPr sz="115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fallback;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async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glacier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212121"/>
                </a:solidFill>
                <a:latin typeface="Arial MT"/>
                <a:cs typeface="Arial MT"/>
              </a:rPr>
              <a:t>CNN.</a:t>
            </a:r>
            <a:endParaRPr sz="115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898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Test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every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phase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real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route.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800" y="4188201"/>
            <a:ext cx="8175625" cy="5410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solidFill>
                  <a:srgbClr val="235289"/>
                </a:solidFill>
                <a:latin typeface="Arial"/>
                <a:cs typeface="Arial"/>
              </a:rPr>
              <a:t>SCOPE</a:t>
            </a:r>
            <a:r>
              <a:rPr sz="1400" b="1" spc="-50" dirty="0">
                <a:solidFill>
                  <a:srgbClr val="23528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35289"/>
                </a:solidFill>
                <a:latin typeface="Arial"/>
                <a:cs typeface="Arial"/>
              </a:rPr>
              <a:t>CONTROL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Full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Level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4/5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autonomous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control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heavier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Physics-GNN</a:t>
            </a:r>
            <a:r>
              <a:rPr sz="115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/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ConvLSTM+ResNet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models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are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deferred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1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SIH</a:t>
            </a:r>
            <a:r>
              <a:rPr sz="115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212121"/>
                </a:solidFill>
                <a:latin typeface="Arial MT"/>
                <a:cs typeface="Arial MT"/>
              </a:rPr>
              <a:t>MVP.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6852" y="431037"/>
            <a:ext cx="4954905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45"/>
              </a:lnSpc>
            </a:pPr>
            <a:r>
              <a:rPr sz="2700" b="1" dirty="0">
                <a:latin typeface="Times New Roman"/>
                <a:cs typeface="Times New Roman"/>
              </a:rPr>
              <a:t>FEASIBILITY AND </a:t>
            </a:r>
            <a:r>
              <a:rPr sz="2700" b="1" spc="-10" dirty="0">
                <a:latin typeface="Times New Roman"/>
                <a:cs typeface="Times New Roman"/>
              </a:rPr>
              <a:t>VIABILITY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4000" y="317500"/>
            <a:ext cx="10414000" cy="1333500"/>
            <a:chOff x="254000" y="317500"/>
            <a:chExt cx="10414000" cy="1333500"/>
          </a:xfrm>
        </p:grpSpPr>
        <p:sp>
          <p:nvSpPr>
            <p:cNvPr id="23" name="object 23"/>
            <p:cNvSpPr/>
            <p:nvPr/>
          </p:nvSpPr>
          <p:spPr>
            <a:xfrm>
              <a:off x="254000" y="317499"/>
              <a:ext cx="10414000" cy="1333500"/>
            </a:xfrm>
            <a:custGeom>
              <a:avLst/>
              <a:gdLst/>
              <a:ahLst/>
              <a:cxnLst/>
              <a:rect l="l" t="t" r="r" b="b"/>
              <a:pathLst>
                <a:path w="10414000" h="1333500">
                  <a:moveTo>
                    <a:pt x="1841500" y="63500"/>
                  </a:moveTo>
                  <a:lnTo>
                    <a:pt x="0" y="63500"/>
                  </a:lnTo>
                  <a:lnTo>
                    <a:pt x="0" y="1333500"/>
                  </a:lnTo>
                  <a:lnTo>
                    <a:pt x="1841500" y="1333500"/>
                  </a:lnTo>
                  <a:lnTo>
                    <a:pt x="1841500" y="63500"/>
                  </a:lnTo>
                  <a:close/>
                </a:path>
                <a:path w="10414000" h="1333500">
                  <a:moveTo>
                    <a:pt x="10414000" y="0"/>
                  </a:moveTo>
                  <a:lnTo>
                    <a:pt x="2540000" y="0"/>
                  </a:lnTo>
                  <a:lnTo>
                    <a:pt x="2540000" y="1270000"/>
                  </a:lnTo>
                  <a:lnTo>
                    <a:pt x="10414000" y="1270000"/>
                  </a:lnTo>
                  <a:lnTo>
                    <a:pt x="1041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5600" y="508000"/>
              <a:ext cx="1231900" cy="1041400"/>
            </a:xfrm>
            <a:custGeom>
              <a:avLst/>
              <a:gdLst/>
              <a:ahLst/>
              <a:cxnLst/>
              <a:rect l="l" t="t" r="r" b="b"/>
              <a:pathLst>
                <a:path w="1231900" h="1041400">
                  <a:moveTo>
                    <a:pt x="1231900" y="520700"/>
                  </a:moveTo>
                  <a:lnTo>
                    <a:pt x="1229639" y="475771"/>
                  </a:lnTo>
                  <a:lnTo>
                    <a:pt x="1222979" y="431904"/>
                  </a:lnTo>
                  <a:lnTo>
                    <a:pt x="1212106" y="389254"/>
                  </a:lnTo>
                  <a:lnTo>
                    <a:pt x="1197204" y="347979"/>
                  </a:lnTo>
                  <a:lnTo>
                    <a:pt x="1178459" y="308234"/>
                  </a:lnTo>
                  <a:lnTo>
                    <a:pt x="1156054" y="270175"/>
                  </a:lnTo>
                  <a:lnTo>
                    <a:pt x="1130175" y="233959"/>
                  </a:lnTo>
                  <a:lnTo>
                    <a:pt x="1101008" y="199742"/>
                  </a:lnTo>
                  <a:lnTo>
                    <a:pt x="1068735" y="167681"/>
                  </a:lnTo>
                  <a:lnTo>
                    <a:pt x="1033544" y="137931"/>
                  </a:lnTo>
                  <a:lnTo>
                    <a:pt x="995617" y="110650"/>
                  </a:lnTo>
                  <a:lnTo>
                    <a:pt x="955141" y="85992"/>
                  </a:lnTo>
                  <a:lnTo>
                    <a:pt x="912301" y="64116"/>
                  </a:lnTo>
                  <a:lnTo>
                    <a:pt x="867280" y="45176"/>
                  </a:lnTo>
                  <a:lnTo>
                    <a:pt x="820265" y="29329"/>
                  </a:lnTo>
                  <a:lnTo>
                    <a:pt x="771439" y="16732"/>
                  </a:lnTo>
                  <a:lnTo>
                    <a:pt x="720988" y="7540"/>
                  </a:lnTo>
                  <a:lnTo>
                    <a:pt x="669096" y="1911"/>
                  </a:lnTo>
                  <a:lnTo>
                    <a:pt x="615950" y="0"/>
                  </a:lnTo>
                  <a:lnTo>
                    <a:pt x="562803" y="1911"/>
                  </a:lnTo>
                  <a:lnTo>
                    <a:pt x="510912" y="7540"/>
                  </a:lnTo>
                  <a:lnTo>
                    <a:pt x="460461" y="16732"/>
                  </a:lnTo>
                  <a:lnTo>
                    <a:pt x="411635" y="29329"/>
                  </a:lnTo>
                  <a:lnTo>
                    <a:pt x="364620" y="45176"/>
                  </a:lnTo>
                  <a:lnTo>
                    <a:pt x="319599" y="64116"/>
                  </a:lnTo>
                  <a:lnTo>
                    <a:pt x="276759" y="85992"/>
                  </a:lnTo>
                  <a:lnTo>
                    <a:pt x="236283" y="110650"/>
                  </a:lnTo>
                  <a:lnTo>
                    <a:pt x="198356" y="137931"/>
                  </a:lnTo>
                  <a:lnTo>
                    <a:pt x="163165" y="167681"/>
                  </a:lnTo>
                  <a:lnTo>
                    <a:pt x="130892" y="199742"/>
                  </a:lnTo>
                  <a:lnTo>
                    <a:pt x="101724" y="233959"/>
                  </a:lnTo>
                  <a:lnTo>
                    <a:pt x="75845" y="270175"/>
                  </a:lnTo>
                  <a:lnTo>
                    <a:pt x="53441" y="308234"/>
                  </a:lnTo>
                  <a:lnTo>
                    <a:pt x="34695" y="347979"/>
                  </a:lnTo>
                  <a:lnTo>
                    <a:pt x="19793" y="389254"/>
                  </a:lnTo>
                  <a:lnTo>
                    <a:pt x="8920" y="431904"/>
                  </a:lnTo>
                  <a:lnTo>
                    <a:pt x="2260" y="475771"/>
                  </a:lnTo>
                  <a:lnTo>
                    <a:pt x="0" y="520700"/>
                  </a:lnTo>
                  <a:lnTo>
                    <a:pt x="2260" y="565628"/>
                  </a:lnTo>
                  <a:lnTo>
                    <a:pt x="8920" y="609495"/>
                  </a:lnTo>
                  <a:lnTo>
                    <a:pt x="19793" y="652145"/>
                  </a:lnTo>
                  <a:lnTo>
                    <a:pt x="34695" y="693420"/>
                  </a:lnTo>
                  <a:lnTo>
                    <a:pt x="53441" y="733165"/>
                  </a:lnTo>
                  <a:lnTo>
                    <a:pt x="75845" y="771224"/>
                  </a:lnTo>
                  <a:lnTo>
                    <a:pt x="101724" y="807440"/>
                  </a:lnTo>
                  <a:lnTo>
                    <a:pt x="130892" y="841657"/>
                  </a:lnTo>
                  <a:lnTo>
                    <a:pt x="163165" y="873718"/>
                  </a:lnTo>
                  <a:lnTo>
                    <a:pt x="198356" y="903468"/>
                  </a:lnTo>
                  <a:lnTo>
                    <a:pt x="236283" y="930749"/>
                  </a:lnTo>
                  <a:lnTo>
                    <a:pt x="276759" y="955407"/>
                  </a:lnTo>
                  <a:lnTo>
                    <a:pt x="319599" y="977283"/>
                  </a:lnTo>
                  <a:lnTo>
                    <a:pt x="364620" y="996223"/>
                  </a:lnTo>
                  <a:lnTo>
                    <a:pt x="411635" y="1012070"/>
                  </a:lnTo>
                  <a:lnTo>
                    <a:pt x="460461" y="1024667"/>
                  </a:lnTo>
                  <a:lnTo>
                    <a:pt x="510912" y="1033859"/>
                  </a:lnTo>
                  <a:lnTo>
                    <a:pt x="562803" y="1039488"/>
                  </a:lnTo>
                  <a:lnTo>
                    <a:pt x="615950" y="1041400"/>
                  </a:lnTo>
                  <a:lnTo>
                    <a:pt x="669096" y="1039488"/>
                  </a:lnTo>
                  <a:lnTo>
                    <a:pt x="720988" y="1033859"/>
                  </a:lnTo>
                  <a:lnTo>
                    <a:pt x="771439" y="1024667"/>
                  </a:lnTo>
                  <a:lnTo>
                    <a:pt x="820265" y="1012070"/>
                  </a:lnTo>
                  <a:lnTo>
                    <a:pt x="867280" y="996223"/>
                  </a:lnTo>
                  <a:lnTo>
                    <a:pt x="912301" y="977283"/>
                  </a:lnTo>
                  <a:lnTo>
                    <a:pt x="955141" y="955407"/>
                  </a:lnTo>
                  <a:lnTo>
                    <a:pt x="995617" y="930749"/>
                  </a:lnTo>
                  <a:lnTo>
                    <a:pt x="1033544" y="903468"/>
                  </a:lnTo>
                  <a:lnTo>
                    <a:pt x="1068735" y="873718"/>
                  </a:lnTo>
                  <a:lnTo>
                    <a:pt x="1101008" y="841657"/>
                  </a:lnTo>
                  <a:lnTo>
                    <a:pt x="1130175" y="807440"/>
                  </a:lnTo>
                  <a:lnTo>
                    <a:pt x="1156054" y="771224"/>
                  </a:lnTo>
                  <a:lnTo>
                    <a:pt x="1178459" y="733165"/>
                  </a:lnTo>
                  <a:lnTo>
                    <a:pt x="1197204" y="693420"/>
                  </a:lnTo>
                  <a:lnTo>
                    <a:pt x="1212106" y="652145"/>
                  </a:lnTo>
                  <a:lnTo>
                    <a:pt x="1222979" y="609495"/>
                  </a:lnTo>
                  <a:lnTo>
                    <a:pt x="1229639" y="565628"/>
                  </a:lnTo>
                  <a:lnTo>
                    <a:pt x="1231900" y="5207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7105" y="876300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4114152" y="381000"/>
            <a:ext cx="49803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00000"/>
                </a:solidFill>
              </a:rPr>
              <a:t>FEASIBILITY AND </a:t>
            </a:r>
            <a:r>
              <a:rPr sz="2700" spc="-10" dirty="0">
                <a:solidFill>
                  <a:srgbClr val="000000"/>
                </a:solidFill>
              </a:rPr>
              <a:t>VIABILITY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5576" y="280738"/>
            <a:ext cx="526224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29"/>
              </a:lnSpc>
            </a:pPr>
            <a:r>
              <a:rPr sz="3600" b="1" spc="-60" dirty="0">
                <a:latin typeface="Times New Roman"/>
                <a:cs typeface="Times New Roman"/>
              </a:rPr>
              <a:t>IMPACT</a:t>
            </a:r>
            <a:r>
              <a:rPr sz="3600" b="1" spc="-2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b="1" spc="2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BENEFITS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675" y="2607005"/>
            <a:ext cx="9204325" cy="125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750" dirty="0">
                <a:latin typeface="Arial MT"/>
                <a:cs typeface="Arial MT"/>
              </a:rPr>
              <a:t>•</a:t>
            </a:r>
            <a:r>
              <a:rPr sz="2750" spc="175" dirty="0">
                <a:latin typeface="Arial MT"/>
                <a:cs typeface="Arial MT"/>
              </a:rPr>
              <a:t>  </a:t>
            </a:r>
            <a:r>
              <a:rPr sz="2750" dirty="0">
                <a:latin typeface="Arial MT"/>
                <a:cs typeface="Arial MT"/>
              </a:rPr>
              <a:t>Potential</a:t>
            </a:r>
            <a:r>
              <a:rPr sz="2750" spc="114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impact</a:t>
            </a:r>
            <a:r>
              <a:rPr sz="2750" spc="7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on</a:t>
            </a:r>
            <a:r>
              <a:rPr sz="2750" spc="8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target</a:t>
            </a:r>
            <a:r>
              <a:rPr sz="2750" spc="12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audience</a:t>
            </a:r>
            <a:endParaRPr sz="2750">
              <a:latin typeface="Arial MT"/>
              <a:cs typeface="Arial MT"/>
            </a:endParaRPr>
          </a:p>
          <a:p>
            <a:pPr marL="342900" indent="-343535">
              <a:lnSpc>
                <a:spcPct val="102299"/>
              </a:lnSpc>
              <a:spcBef>
                <a:spcPts val="5"/>
              </a:spcBef>
              <a:tabLst>
                <a:tab pos="2189480" algn="l"/>
                <a:tab pos="3046730" algn="l"/>
                <a:tab pos="4102735" algn="l"/>
                <a:tab pos="5892800" algn="l"/>
                <a:tab pos="7582534" algn="l"/>
              </a:tabLst>
            </a:pPr>
            <a:r>
              <a:rPr sz="2750" dirty="0">
                <a:latin typeface="Arial MT"/>
                <a:cs typeface="Arial MT"/>
              </a:rPr>
              <a:t>•</a:t>
            </a:r>
            <a:r>
              <a:rPr sz="2750" spc="95" dirty="0">
                <a:latin typeface="Arial MT"/>
                <a:cs typeface="Arial MT"/>
              </a:rPr>
              <a:t>  </a:t>
            </a:r>
            <a:r>
              <a:rPr sz="2750" spc="-10" dirty="0">
                <a:latin typeface="Arial MT"/>
                <a:cs typeface="Arial MT"/>
              </a:rPr>
              <a:t>Benefits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25" dirty="0">
                <a:latin typeface="Arial MT"/>
                <a:cs typeface="Arial MT"/>
              </a:rPr>
              <a:t>of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25" dirty="0">
                <a:latin typeface="Arial MT"/>
                <a:cs typeface="Arial MT"/>
              </a:rPr>
              <a:t>the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10" dirty="0">
                <a:latin typeface="Arial MT"/>
                <a:cs typeface="Arial MT"/>
              </a:rPr>
              <a:t>solution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10" dirty="0">
                <a:latin typeface="Arial MT"/>
                <a:cs typeface="Arial MT"/>
              </a:rPr>
              <a:t>(social,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10" dirty="0">
                <a:latin typeface="Arial MT"/>
                <a:cs typeface="Arial MT"/>
              </a:rPr>
              <a:t>economic, </a:t>
            </a:r>
            <a:r>
              <a:rPr sz="2750" dirty="0">
                <a:latin typeface="Arial MT"/>
                <a:cs typeface="Arial MT"/>
              </a:rPr>
              <a:t>environmental,</a:t>
            </a:r>
            <a:r>
              <a:rPr sz="2750" spc="3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etc.)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137" y="252475"/>
            <a:ext cx="1248410" cy="809625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9132" y="282971"/>
            <a:ext cx="553085" cy="782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710"/>
              </a:lnSpc>
            </a:pPr>
            <a:r>
              <a:rPr sz="1800" spc="-20" dirty="0">
                <a:latin typeface="Calibri"/>
                <a:cs typeface="Calibri"/>
              </a:rPr>
              <a:t>Your</a:t>
            </a:r>
            <a:endParaRPr sz="1800">
              <a:latin typeface="Calibri"/>
              <a:cs typeface="Calibri"/>
            </a:endParaRPr>
          </a:p>
          <a:p>
            <a:pPr indent="28575">
              <a:lnSpc>
                <a:spcPct val="100800"/>
              </a:lnSpc>
            </a:pPr>
            <a:r>
              <a:rPr sz="1800" spc="-20" dirty="0">
                <a:latin typeface="Calibri"/>
                <a:cs typeface="Calibri"/>
              </a:rPr>
              <a:t>Team Name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9643" y="18314"/>
            <a:ext cx="2197539" cy="103017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17500" y="1524000"/>
            <a:ext cx="11620500" cy="4508500"/>
          </a:xfrm>
          <a:custGeom>
            <a:avLst/>
            <a:gdLst/>
            <a:ahLst/>
            <a:cxnLst/>
            <a:rect l="l" t="t" r="r" b="b"/>
            <a:pathLst>
              <a:path w="11620500" h="4508500">
                <a:moveTo>
                  <a:pt x="11620500" y="0"/>
                </a:moveTo>
                <a:lnTo>
                  <a:pt x="0" y="0"/>
                </a:lnTo>
                <a:lnTo>
                  <a:pt x="0" y="4508500"/>
                </a:lnTo>
                <a:lnTo>
                  <a:pt x="11620500" y="4508500"/>
                </a:lnTo>
                <a:lnTo>
                  <a:pt x="1162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3521" y="431037"/>
            <a:ext cx="4001135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45"/>
              </a:lnSpc>
            </a:pPr>
            <a:r>
              <a:rPr sz="2700" b="1" dirty="0">
                <a:latin typeface="Times New Roman"/>
                <a:cs typeface="Times New Roman"/>
              </a:rPr>
              <a:t>IMPACT</a:t>
            </a:r>
            <a:r>
              <a:rPr sz="2700" b="1" spc="-9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AND</a:t>
            </a:r>
            <a:r>
              <a:rPr sz="2700" b="1" spc="-9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BENEFITS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8500" y="2413000"/>
            <a:ext cx="5016500" cy="2032000"/>
          </a:xfrm>
          <a:custGeom>
            <a:avLst/>
            <a:gdLst/>
            <a:ahLst/>
            <a:cxnLst/>
            <a:rect l="l" t="t" r="r" b="b"/>
            <a:pathLst>
              <a:path w="5016500" h="2032000">
                <a:moveTo>
                  <a:pt x="4889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905000"/>
                </a:lnTo>
                <a:lnTo>
                  <a:pt x="9971" y="1954461"/>
                </a:lnTo>
                <a:lnTo>
                  <a:pt x="37172" y="1994827"/>
                </a:lnTo>
                <a:lnTo>
                  <a:pt x="77538" y="2022028"/>
                </a:lnTo>
                <a:lnTo>
                  <a:pt x="127000" y="2032000"/>
                </a:lnTo>
                <a:lnTo>
                  <a:pt x="4889500" y="2032000"/>
                </a:lnTo>
                <a:lnTo>
                  <a:pt x="4938961" y="2022028"/>
                </a:lnTo>
                <a:lnTo>
                  <a:pt x="4979327" y="1994827"/>
                </a:lnTo>
                <a:lnTo>
                  <a:pt x="5006528" y="1954461"/>
                </a:lnTo>
                <a:lnTo>
                  <a:pt x="5016500" y="1905000"/>
                </a:lnTo>
                <a:lnTo>
                  <a:pt x="5016500" y="127000"/>
                </a:lnTo>
                <a:lnTo>
                  <a:pt x="5006528" y="77538"/>
                </a:lnTo>
                <a:lnTo>
                  <a:pt x="4979327" y="37172"/>
                </a:lnTo>
                <a:lnTo>
                  <a:pt x="4938961" y="9971"/>
                </a:lnTo>
                <a:lnTo>
                  <a:pt x="4889500" y="0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3600" y="2501900"/>
            <a:ext cx="15182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35289"/>
                </a:solidFill>
                <a:latin typeface="Arial"/>
                <a:cs typeface="Arial"/>
              </a:rPr>
              <a:t>TARGET </a:t>
            </a:r>
            <a:r>
              <a:rPr sz="1500" b="1" spc="-10" dirty="0">
                <a:solidFill>
                  <a:srgbClr val="235289"/>
                </a:solidFill>
                <a:latin typeface="Arial"/>
                <a:cs typeface="Arial"/>
              </a:rPr>
              <a:t>USERS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0900" y="2821939"/>
            <a:ext cx="467550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Drivers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/ travellers: route maps, hazard overlays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and reroute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alerts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via a low-distraction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interface.</a:t>
            </a:r>
            <a:endParaRPr sz="1200">
              <a:latin typeface="Arial MT"/>
              <a:cs typeface="Arial MT"/>
            </a:endParaRPr>
          </a:p>
          <a:p>
            <a:pPr marL="190500" marR="461645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Local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authority / disaster-management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officials: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aggregated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hazard and road-condition review in future dashboard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work.</a:t>
            </a:r>
            <a:endParaRPr sz="1200">
              <a:latin typeface="Arial MT"/>
              <a:cs typeface="Arial MT"/>
            </a:endParaRPr>
          </a:p>
          <a:p>
            <a:pPr marL="190500" marR="927735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Administrators: data-source, threshold and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retraining configuration.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50000" y="2413000"/>
            <a:ext cx="5016500" cy="2032000"/>
          </a:xfrm>
          <a:custGeom>
            <a:avLst/>
            <a:gdLst/>
            <a:ahLst/>
            <a:cxnLst/>
            <a:rect l="l" t="t" r="r" b="b"/>
            <a:pathLst>
              <a:path w="5016500" h="2032000">
                <a:moveTo>
                  <a:pt x="4889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905000"/>
                </a:lnTo>
                <a:lnTo>
                  <a:pt x="9971" y="1954461"/>
                </a:lnTo>
                <a:lnTo>
                  <a:pt x="37172" y="1994827"/>
                </a:lnTo>
                <a:lnTo>
                  <a:pt x="77538" y="2022028"/>
                </a:lnTo>
                <a:lnTo>
                  <a:pt x="127000" y="2032000"/>
                </a:lnTo>
                <a:lnTo>
                  <a:pt x="4889500" y="2032000"/>
                </a:lnTo>
                <a:lnTo>
                  <a:pt x="4938961" y="2022028"/>
                </a:lnTo>
                <a:lnTo>
                  <a:pt x="4979327" y="1994827"/>
                </a:lnTo>
                <a:lnTo>
                  <a:pt x="5006528" y="1954461"/>
                </a:lnTo>
                <a:lnTo>
                  <a:pt x="5016500" y="1905000"/>
                </a:lnTo>
                <a:lnTo>
                  <a:pt x="5016500" y="127000"/>
                </a:lnTo>
                <a:lnTo>
                  <a:pt x="5006528" y="77538"/>
                </a:lnTo>
                <a:lnTo>
                  <a:pt x="4979327" y="37172"/>
                </a:lnTo>
                <a:lnTo>
                  <a:pt x="4938961" y="9971"/>
                </a:lnTo>
                <a:lnTo>
                  <a:pt x="4889500" y="0"/>
                </a:lnTo>
                <a:close/>
              </a:path>
            </a:pathLst>
          </a:custGeom>
          <a:solidFill>
            <a:srgbClr val="EDF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15100" y="2501900"/>
            <a:ext cx="967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6725B"/>
                </a:solidFill>
                <a:latin typeface="Arial"/>
                <a:cs typeface="Arial"/>
              </a:rPr>
              <a:t>BENEFITS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2400" y="2821939"/>
            <a:ext cx="4667885" cy="186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63245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Reduces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risk exposure by adapting routes around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flagged segments.</a:t>
            </a:r>
            <a:endParaRPr sz="1200">
              <a:latin typeface="Arial MT"/>
              <a:cs typeface="Arial MT"/>
            </a:endParaRPr>
          </a:p>
          <a:p>
            <a:pPr marL="190500" marR="5080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Supports collision avoidance for dynamic obstacles and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unmarked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lane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conditions.</a:t>
            </a:r>
            <a:endParaRPr sz="1200">
              <a:latin typeface="Arial MT"/>
              <a:cs typeface="Arial MT"/>
            </a:endParaRPr>
          </a:p>
          <a:p>
            <a:pPr marL="191135" indent="-1784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Concise structured alerts instead of raw model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output.</a:t>
            </a:r>
            <a:endParaRPr sz="1200">
              <a:latin typeface="Arial MT"/>
              <a:cs typeface="Arial MT"/>
            </a:endParaRPr>
          </a:p>
          <a:p>
            <a:pPr marL="190500" marR="179070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Warnings persist during connectivity loss via last-known +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static risk.</a:t>
            </a:r>
            <a:endParaRPr sz="1200">
              <a:latin typeface="Arial MT"/>
              <a:cs typeface="Arial MT"/>
            </a:endParaRPr>
          </a:p>
          <a:p>
            <a:pPr marL="190500" marR="309880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Lightweight design limits compute and LLM use to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meaningful transitions.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5800" y="4857750"/>
            <a:ext cx="597662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Prototype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scope: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decision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support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alerts;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no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assumption</a:t>
            </a:r>
            <a:r>
              <a:rPr sz="115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full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vehicle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66666"/>
                </a:solidFill>
                <a:latin typeface="Arial MT"/>
                <a:cs typeface="Arial MT"/>
              </a:rPr>
              <a:t>actuation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 control.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3521" y="431037"/>
            <a:ext cx="4001135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45"/>
              </a:lnSpc>
            </a:pPr>
            <a:r>
              <a:rPr sz="2700" b="1" dirty="0">
                <a:latin typeface="Times New Roman"/>
                <a:cs typeface="Times New Roman"/>
              </a:rPr>
              <a:t>IMPACT</a:t>
            </a:r>
            <a:r>
              <a:rPr sz="2700" b="1" spc="-9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AND</a:t>
            </a:r>
            <a:r>
              <a:rPr sz="2700" b="1" spc="-9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BENEFITS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4000" y="317500"/>
            <a:ext cx="10414000" cy="1333500"/>
            <a:chOff x="254000" y="317500"/>
            <a:chExt cx="10414000" cy="1333500"/>
          </a:xfrm>
        </p:grpSpPr>
        <p:sp>
          <p:nvSpPr>
            <p:cNvPr id="20" name="object 20"/>
            <p:cNvSpPr/>
            <p:nvPr/>
          </p:nvSpPr>
          <p:spPr>
            <a:xfrm>
              <a:off x="254000" y="317499"/>
              <a:ext cx="10414000" cy="1333500"/>
            </a:xfrm>
            <a:custGeom>
              <a:avLst/>
              <a:gdLst/>
              <a:ahLst/>
              <a:cxnLst/>
              <a:rect l="l" t="t" r="r" b="b"/>
              <a:pathLst>
                <a:path w="10414000" h="1333500">
                  <a:moveTo>
                    <a:pt x="1841500" y="63500"/>
                  </a:moveTo>
                  <a:lnTo>
                    <a:pt x="0" y="63500"/>
                  </a:lnTo>
                  <a:lnTo>
                    <a:pt x="0" y="1333500"/>
                  </a:lnTo>
                  <a:lnTo>
                    <a:pt x="1841500" y="1333500"/>
                  </a:lnTo>
                  <a:lnTo>
                    <a:pt x="1841500" y="63500"/>
                  </a:lnTo>
                  <a:close/>
                </a:path>
                <a:path w="10414000" h="1333500">
                  <a:moveTo>
                    <a:pt x="10414000" y="0"/>
                  </a:moveTo>
                  <a:lnTo>
                    <a:pt x="2540000" y="0"/>
                  </a:lnTo>
                  <a:lnTo>
                    <a:pt x="2540000" y="1270000"/>
                  </a:lnTo>
                  <a:lnTo>
                    <a:pt x="10414000" y="1270000"/>
                  </a:lnTo>
                  <a:lnTo>
                    <a:pt x="1041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5600" y="508000"/>
              <a:ext cx="1231900" cy="1041400"/>
            </a:xfrm>
            <a:custGeom>
              <a:avLst/>
              <a:gdLst/>
              <a:ahLst/>
              <a:cxnLst/>
              <a:rect l="l" t="t" r="r" b="b"/>
              <a:pathLst>
                <a:path w="1231900" h="1041400">
                  <a:moveTo>
                    <a:pt x="1231900" y="520700"/>
                  </a:moveTo>
                  <a:lnTo>
                    <a:pt x="1229639" y="475771"/>
                  </a:lnTo>
                  <a:lnTo>
                    <a:pt x="1222979" y="431904"/>
                  </a:lnTo>
                  <a:lnTo>
                    <a:pt x="1212106" y="389254"/>
                  </a:lnTo>
                  <a:lnTo>
                    <a:pt x="1197204" y="347979"/>
                  </a:lnTo>
                  <a:lnTo>
                    <a:pt x="1178459" y="308234"/>
                  </a:lnTo>
                  <a:lnTo>
                    <a:pt x="1156054" y="270175"/>
                  </a:lnTo>
                  <a:lnTo>
                    <a:pt x="1130175" y="233959"/>
                  </a:lnTo>
                  <a:lnTo>
                    <a:pt x="1101008" y="199742"/>
                  </a:lnTo>
                  <a:lnTo>
                    <a:pt x="1068735" y="167681"/>
                  </a:lnTo>
                  <a:lnTo>
                    <a:pt x="1033544" y="137931"/>
                  </a:lnTo>
                  <a:lnTo>
                    <a:pt x="995617" y="110650"/>
                  </a:lnTo>
                  <a:lnTo>
                    <a:pt x="955141" y="85992"/>
                  </a:lnTo>
                  <a:lnTo>
                    <a:pt x="912301" y="64116"/>
                  </a:lnTo>
                  <a:lnTo>
                    <a:pt x="867280" y="45176"/>
                  </a:lnTo>
                  <a:lnTo>
                    <a:pt x="820265" y="29329"/>
                  </a:lnTo>
                  <a:lnTo>
                    <a:pt x="771439" y="16732"/>
                  </a:lnTo>
                  <a:lnTo>
                    <a:pt x="720988" y="7540"/>
                  </a:lnTo>
                  <a:lnTo>
                    <a:pt x="669096" y="1911"/>
                  </a:lnTo>
                  <a:lnTo>
                    <a:pt x="615950" y="0"/>
                  </a:lnTo>
                  <a:lnTo>
                    <a:pt x="562803" y="1911"/>
                  </a:lnTo>
                  <a:lnTo>
                    <a:pt x="510912" y="7540"/>
                  </a:lnTo>
                  <a:lnTo>
                    <a:pt x="460461" y="16732"/>
                  </a:lnTo>
                  <a:lnTo>
                    <a:pt x="411635" y="29329"/>
                  </a:lnTo>
                  <a:lnTo>
                    <a:pt x="364620" y="45176"/>
                  </a:lnTo>
                  <a:lnTo>
                    <a:pt x="319599" y="64116"/>
                  </a:lnTo>
                  <a:lnTo>
                    <a:pt x="276759" y="85992"/>
                  </a:lnTo>
                  <a:lnTo>
                    <a:pt x="236283" y="110650"/>
                  </a:lnTo>
                  <a:lnTo>
                    <a:pt x="198356" y="137931"/>
                  </a:lnTo>
                  <a:lnTo>
                    <a:pt x="163165" y="167681"/>
                  </a:lnTo>
                  <a:lnTo>
                    <a:pt x="130892" y="199742"/>
                  </a:lnTo>
                  <a:lnTo>
                    <a:pt x="101724" y="233959"/>
                  </a:lnTo>
                  <a:lnTo>
                    <a:pt x="75845" y="270175"/>
                  </a:lnTo>
                  <a:lnTo>
                    <a:pt x="53441" y="308234"/>
                  </a:lnTo>
                  <a:lnTo>
                    <a:pt x="34695" y="347979"/>
                  </a:lnTo>
                  <a:lnTo>
                    <a:pt x="19793" y="389254"/>
                  </a:lnTo>
                  <a:lnTo>
                    <a:pt x="8920" y="431904"/>
                  </a:lnTo>
                  <a:lnTo>
                    <a:pt x="2260" y="475771"/>
                  </a:lnTo>
                  <a:lnTo>
                    <a:pt x="0" y="520700"/>
                  </a:lnTo>
                  <a:lnTo>
                    <a:pt x="2260" y="565628"/>
                  </a:lnTo>
                  <a:lnTo>
                    <a:pt x="8920" y="609495"/>
                  </a:lnTo>
                  <a:lnTo>
                    <a:pt x="19793" y="652145"/>
                  </a:lnTo>
                  <a:lnTo>
                    <a:pt x="34695" y="693420"/>
                  </a:lnTo>
                  <a:lnTo>
                    <a:pt x="53441" y="733165"/>
                  </a:lnTo>
                  <a:lnTo>
                    <a:pt x="75845" y="771224"/>
                  </a:lnTo>
                  <a:lnTo>
                    <a:pt x="101724" y="807440"/>
                  </a:lnTo>
                  <a:lnTo>
                    <a:pt x="130892" y="841657"/>
                  </a:lnTo>
                  <a:lnTo>
                    <a:pt x="163165" y="873718"/>
                  </a:lnTo>
                  <a:lnTo>
                    <a:pt x="198356" y="903468"/>
                  </a:lnTo>
                  <a:lnTo>
                    <a:pt x="236283" y="930749"/>
                  </a:lnTo>
                  <a:lnTo>
                    <a:pt x="276759" y="955407"/>
                  </a:lnTo>
                  <a:lnTo>
                    <a:pt x="319599" y="977283"/>
                  </a:lnTo>
                  <a:lnTo>
                    <a:pt x="364620" y="996223"/>
                  </a:lnTo>
                  <a:lnTo>
                    <a:pt x="411635" y="1012070"/>
                  </a:lnTo>
                  <a:lnTo>
                    <a:pt x="460461" y="1024667"/>
                  </a:lnTo>
                  <a:lnTo>
                    <a:pt x="510912" y="1033859"/>
                  </a:lnTo>
                  <a:lnTo>
                    <a:pt x="562803" y="1039488"/>
                  </a:lnTo>
                  <a:lnTo>
                    <a:pt x="615950" y="1041400"/>
                  </a:lnTo>
                  <a:lnTo>
                    <a:pt x="669096" y="1039488"/>
                  </a:lnTo>
                  <a:lnTo>
                    <a:pt x="720988" y="1033859"/>
                  </a:lnTo>
                  <a:lnTo>
                    <a:pt x="771439" y="1024667"/>
                  </a:lnTo>
                  <a:lnTo>
                    <a:pt x="820265" y="1012070"/>
                  </a:lnTo>
                  <a:lnTo>
                    <a:pt x="867280" y="996223"/>
                  </a:lnTo>
                  <a:lnTo>
                    <a:pt x="912301" y="977283"/>
                  </a:lnTo>
                  <a:lnTo>
                    <a:pt x="955141" y="955407"/>
                  </a:lnTo>
                  <a:lnTo>
                    <a:pt x="995617" y="930749"/>
                  </a:lnTo>
                  <a:lnTo>
                    <a:pt x="1033544" y="903468"/>
                  </a:lnTo>
                  <a:lnTo>
                    <a:pt x="1068735" y="873718"/>
                  </a:lnTo>
                  <a:lnTo>
                    <a:pt x="1101008" y="841657"/>
                  </a:lnTo>
                  <a:lnTo>
                    <a:pt x="1130175" y="807440"/>
                  </a:lnTo>
                  <a:lnTo>
                    <a:pt x="1156054" y="771224"/>
                  </a:lnTo>
                  <a:lnTo>
                    <a:pt x="1178459" y="733165"/>
                  </a:lnTo>
                  <a:lnTo>
                    <a:pt x="1197204" y="693420"/>
                  </a:lnTo>
                  <a:lnTo>
                    <a:pt x="1212106" y="652145"/>
                  </a:lnTo>
                  <a:lnTo>
                    <a:pt x="1222979" y="609495"/>
                  </a:lnTo>
                  <a:lnTo>
                    <a:pt x="1229639" y="565628"/>
                  </a:lnTo>
                  <a:lnTo>
                    <a:pt x="1231900" y="5207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77105" y="876300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4590821" y="381000"/>
            <a:ext cx="4026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00000"/>
                </a:solidFill>
              </a:rPr>
              <a:t>IMPACT</a:t>
            </a:r>
            <a:r>
              <a:rPr sz="2700" spc="-9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AND</a:t>
            </a:r>
            <a:r>
              <a:rPr sz="2700" spc="-90" dirty="0">
                <a:solidFill>
                  <a:srgbClr val="000000"/>
                </a:solidFill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BENEFITS</a:t>
            </a:r>
            <a:endParaRPr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7154" y="280738"/>
            <a:ext cx="692404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29"/>
              </a:lnSpc>
            </a:pPr>
            <a:r>
              <a:rPr sz="3600" b="1" dirty="0">
                <a:latin typeface="Times New Roman"/>
                <a:cs typeface="Times New Roman"/>
              </a:rPr>
              <a:t>RESEARCH</a:t>
            </a:r>
            <a:r>
              <a:rPr sz="3600" b="1" spc="64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REFERENCES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675" y="2869006"/>
            <a:ext cx="818388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750" dirty="0">
                <a:latin typeface="Arial MT"/>
                <a:cs typeface="Arial MT"/>
              </a:rPr>
              <a:t>•</a:t>
            </a:r>
            <a:r>
              <a:rPr sz="2750" spc="180" dirty="0">
                <a:latin typeface="Arial MT"/>
                <a:cs typeface="Arial MT"/>
              </a:rPr>
              <a:t>  </a:t>
            </a:r>
            <a:r>
              <a:rPr sz="2750" dirty="0">
                <a:latin typeface="Arial MT"/>
                <a:cs typeface="Arial MT"/>
              </a:rPr>
              <a:t>Details</a:t>
            </a:r>
            <a:r>
              <a:rPr sz="2750" spc="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/</a:t>
            </a:r>
            <a:r>
              <a:rPr sz="2750" spc="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Links</a:t>
            </a:r>
            <a:r>
              <a:rPr sz="2750" spc="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reference</a:t>
            </a:r>
            <a:r>
              <a:rPr sz="2750" spc="16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and</a:t>
            </a:r>
            <a:r>
              <a:rPr sz="2750" spc="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research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work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137" y="252475"/>
            <a:ext cx="1248410" cy="809625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9132" y="282971"/>
            <a:ext cx="553085" cy="782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710"/>
              </a:lnSpc>
            </a:pPr>
            <a:r>
              <a:rPr sz="1800" spc="-20" dirty="0">
                <a:latin typeface="Calibri"/>
                <a:cs typeface="Calibri"/>
              </a:rPr>
              <a:t>Your</a:t>
            </a:r>
            <a:endParaRPr sz="1800">
              <a:latin typeface="Calibri"/>
              <a:cs typeface="Calibri"/>
            </a:endParaRPr>
          </a:p>
          <a:p>
            <a:pPr indent="28575">
              <a:lnSpc>
                <a:spcPct val="100800"/>
              </a:lnSpc>
            </a:pPr>
            <a:r>
              <a:rPr sz="1800" spc="-20" dirty="0">
                <a:latin typeface="Calibri"/>
                <a:cs typeface="Calibri"/>
              </a:rPr>
              <a:t>Team Name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9643" y="18314"/>
            <a:ext cx="2197539" cy="103017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17500" y="1524000"/>
            <a:ext cx="11620500" cy="4508500"/>
          </a:xfrm>
          <a:custGeom>
            <a:avLst/>
            <a:gdLst/>
            <a:ahLst/>
            <a:cxnLst/>
            <a:rect l="l" t="t" r="r" b="b"/>
            <a:pathLst>
              <a:path w="11620500" h="4508500">
                <a:moveTo>
                  <a:pt x="11620500" y="0"/>
                </a:moveTo>
                <a:lnTo>
                  <a:pt x="0" y="0"/>
                </a:lnTo>
                <a:lnTo>
                  <a:pt x="0" y="4508500"/>
                </a:lnTo>
                <a:lnTo>
                  <a:pt x="11620500" y="4508500"/>
                </a:lnTo>
                <a:lnTo>
                  <a:pt x="1162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67000" y="444500"/>
            <a:ext cx="7874000" cy="1016000"/>
          </a:xfrm>
          <a:custGeom>
            <a:avLst/>
            <a:gdLst/>
            <a:ahLst/>
            <a:cxnLst/>
            <a:rect l="l" t="t" r="r" b="b"/>
            <a:pathLst>
              <a:path w="7874000" h="1016000">
                <a:moveTo>
                  <a:pt x="7874000" y="0"/>
                </a:moveTo>
                <a:lnTo>
                  <a:pt x="0" y="0"/>
                </a:lnTo>
                <a:lnTo>
                  <a:pt x="0" y="1016000"/>
                </a:lnTo>
                <a:lnTo>
                  <a:pt x="7874000" y="1016000"/>
                </a:lnTo>
                <a:lnTo>
                  <a:pt x="787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41381" y="431037"/>
            <a:ext cx="5125720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45"/>
              </a:lnSpc>
            </a:pPr>
            <a:r>
              <a:rPr sz="2700" b="1" dirty="0">
                <a:latin typeface="Times New Roman"/>
                <a:cs typeface="Times New Roman"/>
              </a:rPr>
              <a:t>RESEARCH AND </a:t>
            </a:r>
            <a:r>
              <a:rPr sz="2700" b="1" spc="-10" dirty="0">
                <a:latin typeface="Times New Roman"/>
                <a:cs typeface="Times New Roman"/>
              </a:rPr>
              <a:t>REFERENCES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800" y="1841500"/>
            <a:ext cx="8293100" cy="372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u="sng" dirty="0">
                <a:solidFill>
                  <a:srgbClr val="235289"/>
                </a:solidFill>
                <a:uFill>
                  <a:solidFill>
                    <a:srgbClr val="21A0FF"/>
                  </a:solidFill>
                </a:uFill>
                <a:latin typeface="Arial"/>
                <a:cs typeface="Arial"/>
              </a:rPr>
              <a:t>REFERENCE </a:t>
            </a:r>
            <a:r>
              <a:rPr sz="1900" b="1" u="sng" spc="-20" dirty="0">
                <a:solidFill>
                  <a:srgbClr val="235289"/>
                </a:solidFill>
                <a:uFill>
                  <a:solidFill>
                    <a:srgbClr val="21A0FF"/>
                  </a:solidFill>
                </a:uFill>
                <a:latin typeface="Arial"/>
                <a:cs typeface="Arial"/>
              </a:rPr>
              <a:t>BASE</a:t>
            </a:r>
            <a:endParaRPr sz="1900">
              <a:latin typeface="Arial"/>
              <a:cs typeface="Arial"/>
            </a:endParaRPr>
          </a:p>
          <a:p>
            <a:pPr marL="647065" indent="-570865">
              <a:lnSpc>
                <a:spcPct val="100000"/>
              </a:lnSpc>
              <a:spcBef>
                <a:spcPts val="1920"/>
              </a:spcBef>
              <a:buClr>
                <a:srgbClr val="235289"/>
              </a:buClr>
              <a:buSzPct val="130769"/>
              <a:buFont typeface="Arial"/>
              <a:buAutoNum type="arabicPeriod"/>
              <a:tabLst>
                <a:tab pos="647065" algn="l"/>
              </a:tabLst>
            </a:pP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Smart</a:t>
            </a:r>
            <a:r>
              <a:rPr sz="130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India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Hackathon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2026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problem</a:t>
            </a:r>
            <a:r>
              <a:rPr sz="130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statement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documentation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—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SIH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26037.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Clr>
                <a:srgbClr val="235289"/>
              </a:buClr>
              <a:buFont typeface="Arial"/>
              <a:buAutoNum type="arabicPeriod"/>
            </a:pPr>
            <a:endParaRPr sz="1300">
              <a:latin typeface="Arial MT"/>
              <a:cs typeface="Arial MT"/>
            </a:endParaRPr>
          </a:p>
          <a:p>
            <a:pPr marL="647065" indent="-570865">
              <a:lnSpc>
                <a:spcPct val="100000"/>
              </a:lnSpc>
              <a:buClr>
                <a:srgbClr val="235289"/>
              </a:buClr>
              <a:buSzPct val="130769"/>
              <a:buFont typeface="Arial"/>
              <a:buAutoNum type="arabicPeriod"/>
              <a:tabLst>
                <a:tab pos="647065" algn="l"/>
              </a:tabLst>
            </a:pP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IEEE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Std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830-1998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—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Recommended</a:t>
            </a:r>
            <a:r>
              <a:rPr sz="13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Practice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Software</a:t>
            </a:r>
            <a:r>
              <a:rPr sz="13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Requirements</a:t>
            </a:r>
            <a:r>
              <a:rPr sz="13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Specifications.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Clr>
                <a:srgbClr val="235289"/>
              </a:buClr>
              <a:buFont typeface="Arial"/>
              <a:buAutoNum type="arabicPeriod"/>
            </a:pPr>
            <a:endParaRPr sz="1300">
              <a:latin typeface="Arial MT"/>
              <a:cs typeface="Arial MT"/>
            </a:endParaRPr>
          </a:p>
          <a:p>
            <a:pPr marL="647065" indent="-570865">
              <a:lnSpc>
                <a:spcPct val="100000"/>
              </a:lnSpc>
              <a:buClr>
                <a:srgbClr val="235289"/>
              </a:buClr>
              <a:buSzPct val="130769"/>
              <a:buFont typeface="Arial"/>
              <a:buAutoNum type="arabicPeriod"/>
              <a:tabLst>
                <a:tab pos="647065" algn="l"/>
              </a:tabLst>
            </a:pP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Team</a:t>
            </a:r>
            <a:r>
              <a:rPr sz="13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architecture</a:t>
            </a:r>
            <a:r>
              <a:rPr sz="13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design</a:t>
            </a:r>
            <a:r>
              <a:rPr sz="13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—</a:t>
            </a:r>
            <a:r>
              <a:rPr sz="13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six-layer</a:t>
            </a:r>
            <a:r>
              <a:rPr sz="13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architecture,</a:t>
            </a:r>
            <a:r>
              <a:rPr sz="13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UML</a:t>
            </a:r>
            <a:r>
              <a:rPr sz="13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class</a:t>
            </a:r>
            <a:r>
              <a:rPr sz="13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model,</a:t>
            </a:r>
            <a:r>
              <a:rPr sz="13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runtime</a:t>
            </a:r>
            <a:r>
              <a:rPr sz="13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flow</a:t>
            </a:r>
            <a:r>
              <a:rPr sz="13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3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execution</a:t>
            </a:r>
            <a:r>
              <a:rPr sz="13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plan.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900" b="1" u="sng" dirty="0">
                <a:solidFill>
                  <a:srgbClr val="235289"/>
                </a:solidFill>
                <a:uFill>
                  <a:solidFill>
                    <a:srgbClr val="21A0FF"/>
                  </a:solidFill>
                </a:uFill>
                <a:latin typeface="Arial"/>
                <a:cs typeface="Arial"/>
              </a:rPr>
              <a:t>DESIGN</a:t>
            </a:r>
            <a:r>
              <a:rPr sz="1900" b="1" u="sng" spc="-15" dirty="0">
                <a:solidFill>
                  <a:srgbClr val="235289"/>
                </a:solidFill>
                <a:uFill>
                  <a:solidFill>
                    <a:srgbClr val="21A0FF"/>
                  </a:solidFill>
                </a:uFill>
                <a:latin typeface="Arial"/>
                <a:cs typeface="Arial"/>
              </a:rPr>
              <a:t> </a:t>
            </a:r>
            <a:r>
              <a:rPr sz="1900" b="1" u="sng" spc="-10" dirty="0">
                <a:solidFill>
                  <a:srgbClr val="235289"/>
                </a:solidFill>
                <a:uFill>
                  <a:solidFill>
                    <a:srgbClr val="21A0FF"/>
                  </a:solidFill>
                </a:uFill>
                <a:latin typeface="Arial"/>
                <a:cs typeface="Arial"/>
              </a:rPr>
              <a:t>EVIDENCE</a:t>
            </a:r>
            <a:endParaRPr sz="1900">
              <a:latin typeface="Arial"/>
              <a:cs typeface="Arial"/>
            </a:endParaRPr>
          </a:p>
          <a:p>
            <a:pPr marL="304165" lvl="1" indent="-227965">
              <a:lnSpc>
                <a:spcPct val="100000"/>
              </a:lnSpc>
              <a:spcBef>
                <a:spcPts val="919"/>
              </a:spcBef>
              <a:buChar char="•"/>
              <a:tabLst>
                <a:tab pos="3041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Six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ordered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layers</a:t>
            </a:r>
            <a:r>
              <a:rPr sz="12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2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ingestion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2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driver</a:t>
            </a:r>
            <a:r>
              <a:rPr sz="12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output.</a:t>
            </a:r>
            <a:endParaRPr sz="1200">
              <a:latin typeface="Arial MT"/>
              <a:cs typeface="Arial MT"/>
            </a:endParaRPr>
          </a:p>
          <a:p>
            <a:pPr marL="304165" lvl="1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3041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Shared</a:t>
            </a:r>
            <a:r>
              <a:rPr sz="12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time-series</a:t>
            </a:r>
            <a:r>
              <a:rPr sz="12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state</a:t>
            </a:r>
            <a:r>
              <a:rPr sz="12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supports</a:t>
            </a:r>
            <a:r>
              <a:rPr sz="12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rising/falling</a:t>
            </a:r>
            <a:r>
              <a:rPr sz="12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risk</a:t>
            </a:r>
            <a:r>
              <a:rPr sz="12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trends.</a:t>
            </a:r>
            <a:endParaRPr sz="1200">
              <a:latin typeface="Arial MT"/>
              <a:cs typeface="Arial MT"/>
            </a:endParaRPr>
          </a:p>
          <a:p>
            <a:pPr marL="304165" lvl="1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3041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Routing</a:t>
            </a:r>
            <a:r>
              <a:rPr sz="12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remains</a:t>
            </a:r>
            <a:r>
              <a:rPr sz="12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2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graph-search</a:t>
            </a:r>
            <a:r>
              <a:rPr sz="12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responsibility;</a:t>
            </a:r>
            <a:r>
              <a:rPr sz="12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LLM</a:t>
            </a:r>
            <a:r>
              <a:rPr sz="12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sz="12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gated</a:t>
            </a:r>
            <a:r>
              <a:rPr sz="12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2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JSON-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only.</a:t>
            </a:r>
            <a:endParaRPr sz="1200">
              <a:latin typeface="Arial MT"/>
              <a:cs typeface="Arial MT"/>
            </a:endParaRPr>
          </a:p>
          <a:p>
            <a:pPr marL="304165" lvl="1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30416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Offline</a:t>
            </a:r>
            <a:r>
              <a:rPr sz="120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fallback</a:t>
            </a:r>
            <a:r>
              <a:rPr sz="12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prevents</a:t>
            </a:r>
            <a:r>
              <a:rPr sz="12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connectivity</a:t>
            </a:r>
            <a:r>
              <a:rPr sz="120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loss</a:t>
            </a:r>
            <a:r>
              <a:rPr sz="12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sz="12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becoming</a:t>
            </a:r>
            <a:r>
              <a:rPr sz="120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2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false</a:t>
            </a:r>
            <a:r>
              <a:rPr sz="12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'no</a:t>
            </a:r>
            <a:r>
              <a:rPr sz="120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warning'</a:t>
            </a:r>
            <a:r>
              <a:rPr sz="12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state.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Content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source: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supplied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SRS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+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architecture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documents.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Layout: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supplied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SIH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2026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66666"/>
                </a:solidFill>
                <a:latin typeface="Arial MT"/>
                <a:cs typeface="Arial MT"/>
              </a:rPr>
              <a:t>presentation</a:t>
            </a:r>
            <a:r>
              <a:rPr sz="1050" spc="7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66666"/>
                </a:solidFill>
                <a:latin typeface="Arial MT"/>
                <a:cs typeface="Arial MT"/>
              </a:rPr>
              <a:t>template.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805" y="905842"/>
            <a:ext cx="75120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1381" y="431037"/>
            <a:ext cx="5125720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45"/>
              </a:lnSpc>
            </a:pPr>
            <a:r>
              <a:rPr sz="2700" b="1" dirty="0">
                <a:latin typeface="Times New Roman"/>
                <a:cs typeface="Times New Roman"/>
              </a:rPr>
              <a:t>RESEARCH AND </a:t>
            </a:r>
            <a:r>
              <a:rPr sz="2700" b="1" spc="-10" dirty="0">
                <a:latin typeface="Times New Roman"/>
                <a:cs typeface="Times New Roman"/>
              </a:rPr>
              <a:t>REFERENCES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94000" y="317500"/>
            <a:ext cx="7874000" cy="1270000"/>
          </a:xfrm>
          <a:custGeom>
            <a:avLst/>
            <a:gdLst/>
            <a:ahLst/>
            <a:cxnLst/>
            <a:rect l="l" t="t" r="r" b="b"/>
            <a:pathLst>
              <a:path w="7874000" h="1270000">
                <a:moveTo>
                  <a:pt x="7874000" y="0"/>
                </a:moveTo>
                <a:lnTo>
                  <a:pt x="0" y="0"/>
                </a:lnTo>
                <a:lnTo>
                  <a:pt x="0" y="1270000"/>
                </a:lnTo>
                <a:lnTo>
                  <a:pt x="7874000" y="1270000"/>
                </a:lnTo>
                <a:lnTo>
                  <a:pt x="787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54000" y="381000"/>
            <a:ext cx="1841500" cy="1270000"/>
            <a:chOff x="254000" y="381000"/>
            <a:chExt cx="1841500" cy="1270000"/>
          </a:xfrm>
        </p:grpSpPr>
        <p:sp>
          <p:nvSpPr>
            <p:cNvPr id="16" name="object 16"/>
            <p:cNvSpPr/>
            <p:nvPr/>
          </p:nvSpPr>
          <p:spPr>
            <a:xfrm>
              <a:off x="254000" y="381000"/>
              <a:ext cx="1841500" cy="1270000"/>
            </a:xfrm>
            <a:custGeom>
              <a:avLst/>
              <a:gdLst/>
              <a:ahLst/>
              <a:cxnLst/>
              <a:rect l="l" t="t" r="r" b="b"/>
              <a:pathLst>
                <a:path w="1841500" h="1270000">
                  <a:moveTo>
                    <a:pt x="1841500" y="0"/>
                  </a:moveTo>
                  <a:lnTo>
                    <a:pt x="0" y="0"/>
                  </a:lnTo>
                  <a:lnTo>
                    <a:pt x="0" y="1270000"/>
                  </a:lnTo>
                  <a:lnTo>
                    <a:pt x="1841500" y="1270000"/>
                  </a:lnTo>
                  <a:lnTo>
                    <a:pt x="184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5600" y="508000"/>
              <a:ext cx="1231900" cy="1041400"/>
            </a:xfrm>
            <a:custGeom>
              <a:avLst/>
              <a:gdLst/>
              <a:ahLst/>
              <a:cxnLst/>
              <a:rect l="l" t="t" r="r" b="b"/>
              <a:pathLst>
                <a:path w="1231900" h="1041400">
                  <a:moveTo>
                    <a:pt x="1231900" y="520700"/>
                  </a:moveTo>
                  <a:lnTo>
                    <a:pt x="1229639" y="475771"/>
                  </a:lnTo>
                  <a:lnTo>
                    <a:pt x="1222979" y="431904"/>
                  </a:lnTo>
                  <a:lnTo>
                    <a:pt x="1212106" y="389254"/>
                  </a:lnTo>
                  <a:lnTo>
                    <a:pt x="1197204" y="347979"/>
                  </a:lnTo>
                  <a:lnTo>
                    <a:pt x="1178459" y="308234"/>
                  </a:lnTo>
                  <a:lnTo>
                    <a:pt x="1156054" y="270175"/>
                  </a:lnTo>
                  <a:lnTo>
                    <a:pt x="1130175" y="233959"/>
                  </a:lnTo>
                  <a:lnTo>
                    <a:pt x="1101008" y="199742"/>
                  </a:lnTo>
                  <a:lnTo>
                    <a:pt x="1068735" y="167681"/>
                  </a:lnTo>
                  <a:lnTo>
                    <a:pt x="1033544" y="137931"/>
                  </a:lnTo>
                  <a:lnTo>
                    <a:pt x="995617" y="110650"/>
                  </a:lnTo>
                  <a:lnTo>
                    <a:pt x="955141" y="85992"/>
                  </a:lnTo>
                  <a:lnTo>
                    <a:pt x="912301" y="64116"/>
                  </a:lnTo>
                  <a:lnTo>
                    <a:pt x="867280" y="45176"/>
                  </a:lnTo>
                  <a:lnTo>
                    <a:pt x="820265" y="29329"/>
                  </a:lnTo>
                  <a:lnTo>
                    <a:pt x="771439" y="16732"/>
                  </a:lnTo>
                  <a:lnTo>
                    <a:pt x="720988" y="7540"/>
                  </a:lnTo>
                  <a:lnTo>
                    <a:pt x="669096" y="1911"/>
                  </a:lnTo>
                  <a:lnTo>
                    <a:pt x="615950" y="0"/>
                  </a:lnTo>
                  <a:lnTo>
                    <a:pt x="562803" y="1911"/>
                  </a:lnTo>
                  <a:lnTo>
                    <a:pt x="510912" y="7540"/>
                  </a:lnTo>
                  <a:lnTo>
                    <a:pt x="460461" y="16732"/>
                  </a:lnTo>
                  <a:lnTo>
                    <a:pt x="411635" y="29329"/>
                  </a:lnTo>
                  <a:lnTo>
                    <a:pt x="364620" y="45176"/>
                  </a:lnTo>
                  <a:lnTo>
                    <a:pt x="319599" y="64116"/>
                  </a:lnTo>
                  <a:lnTo>
                    <a:pt x="276759" y="85992"/>
                  </a:lnTo>
                  <a:lnTo>
                    <a:pt x="236283" y="110650"/>
                  </a:lnTo>
                  <a:lnTo>
                    <a:pt x="198356" y="137931"/>
                  </a:lnTo>
                  <a:lnTo>
                    <a:pt x="163165" y="167681"/>
                  </a:lnTo>
                  <a:lnTo>
                    <a:pt x="130892" y="199742"/>
                  </a:lnTo>
                  <a:lnTo>
                    <a:pt x="101724" y="233959"/>
                  </a:lnTo>
                  <a:lnTo>
                    <a:pt x="75845" y="270175"/>
                  </a:lnTo>
                  <a:lnTo>
                    <a:pt x="53441" y="308234"/>
                  </a:lnTo>
                  <a:lnTo>
                    <a:pt x="34695" y="347979"/>
                  </a:lnTo>
                  <a:lnTo>
                    <a:pt x="19793" y="389254"/>
                  </a:lnTo>
                  <a:lnTo>
                    <a:pt x="8920" y="431904"/>
                  </a:lnTo>
                  <a:lnTo>
                    <a:pt x="2260" y="475771"/>
                  </a:lnTo>
                  <a:lnTo>
                    <a:pt x="0" y="520700"/>
                  </a:lnTo>
                  <a:lnTo>
                    <a:pt x="2260" y="565628"/>
                  </a:lnTo>
                  <a:lnTo>
                    <a:pt x="8920" y="609495"/>
                  </a:lnTo>
                  <a:lnTo>
                    <a:pt x="19793" y="652145"/>
                  </a:lnTo>
                  <a:lnTo>
                    <a:pt x="34695" y="693420"/>
                  </a:lnTo>
                  <a:lnTo>
                    <a:pt x="53441" y="733165"/>
                  </a:lnTo>
                  <a:lnTo>
                    <a:pt x="75845" y="771224"/>
                  </a:lnTo>
                  <a:lnTo>
                    <a:pt x="101724" y="807440"/>
                  </a:lnTo>
                  <a:lnTo>
                    <a:pt x="130892" y="841657"/>
                  </a:lnTo>
                  <a:lnTo>
                    <a:pt x="163165" y="873718"/>
                  </a:lnTo>
                  <a:lnTo>
                    <a:pt x="198356" y="903468"/>
                  </a:lnTo>
                  <a:lnTo>
                    <a:pt x="236283" y="930749"/>
                  </a:lnTo>
                  <a:lnTo>
                    <a:pt x="276759" y="955407"/>
                  </a:lnTo>
                  <a:lnTo>
                    <a:pt x="319599" y="977283"/>
                  </a:lnTo>
                  <a:lnTo>
                    <a:pt x="364620" y="996223"/>
                  </a:lnTo>
                  <a:lnTo>
                    <a:pt x="411635" y="1012070"/>
                  </a:lnTo>
                  <a:lnTo>
                    <a:pt x="460461" y="1024667"/>
                  </a:lnTo>
                  <a:lnTo>
                    <a:pt x="510912" y="1033859"/>
                  </a:lnTo>
                  <a:lnTo>
                    <a:pt x="562803" y="1039488"/>
                  </a:lnTo>
                  <a:lnTo>
                    <a:pt x="615950" y="1041400"/>
                  </a:lnTo>
                  <a:lnTo>
                    <a:pt x="669096" y="1039488"/>
                  </a:lnTo>
                  <a:lnTo>
                    <a:pt x="720988" y="1033859"/>
                  </a:lnTo>
                  <a:lnTo>
                    <a:pt x="771439" y="1024667"/>
                  </a:lnTo>
                  <a:lnTo>
                    <a:pt x="820265" y="1012070"/>
                  </a:lnTo>
                  <a:lnTo>
                    <a:pt x="867280" y="996223"/>
                  </a:lnTo>
                  <a:lnTo>
                    <a:pt x="912301" y="977283"/>
                  </a:lnTo>
                  <a:lnTo>
                    <a:pt x="955141" y="955407"/>
                  </a:lnTo>
                  <a:lnTo>
                    <a:pt x="995617" y="930749"/>
                  </a:lnTo>
                  <a:lnTo>
                    <a:pt x="1033544" y="903468"/>
                  </a:lnTo>
                  <a:lnTo>
                    <a:pt x="1068735" y="873718"/>
                  </a:lnTo>
                  <a:lnTo>
                    <a:pt x="1101008" y="841657"/>
                  </a:lnTo>
                  <a:lnTo>
                    <a:pt x="1130175" y="807440"/>
                  </a:lnTo>
                  <a:lnTo>
                    <a:pt x="1156054" y="771224"/>
                  </a:lnTo>
                  <a:lnTo>
                    <a:pt x="1178459" y="733165"/>
                  </a:lnTo>
                  <a:lnTo>
                    <a:pt x="1197204" y="693420"/>
                  </a:lnTo>
                  <a:lnTo>
                    <a:pt x="1212106" y="652145"/>
                  </a:lnTo>
                  <a:lnTo>
                    <a:pt x="1222979" y="609495"/>
                  </a:lnTo>
                  <a:lnTo>
                    <a:pt x="1229639" y="565628"/>
                  </a:lnTo>
                  <a:lnTo>
                    <a:pt x="1231900" y="5207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7105" y="876300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12121"/>
                </a:solidFill>
                <a:latin typeface="Arial"/>
                <a:cs typeface="Arial"/>
              </a:rPr>
              <a:t>EUREKA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4028681" y="381000"/>
            <a:ext cx="51511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00000"/>
                </a:solidFill>
              </a:rPr>
              <a:t>RESEARCH AND </a:t>
            </a:r>
            <a:r>
              <a:rPr sz="2700" spc="-10" dirty="0">
                <a:solidFill>
                  <a:srgbClr val="000000"/>
                </a:solidFill>
              </a:rPr>
              <a:t>REFERENCES</a:t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855</Words>
  <Application>Microsoft Office PowerPoint</Application>
  <PresentationFormat>Widescreen</PresentationFormat>
  <Paragraphs>153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Times New Roman</vt:lpstr>
      <vt:lpstr>Wingdings</vt:lpstr>
      <vt:lpstr>Office Theme</vt:lpstr>
      <vt:lpstr>SMART INDIA HACKATHON 2026</vt:lpstr>
      <vt:lpstr>Vehicle Sat-Nav Hazard Detection &amp; Rerouting System</vt:lpstr>
      <vt:lpstr>Vehicle Sat-Nav Hazard Detection &amp; Rerouting System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Ayush Chand [CSE (ARTIFICIAL INTELLIGENCE AND MACHINE LEARNING) - 2024]</cp:lastModifiedBy>
  <cp:revision>2</cp:revision>
  <dcterms:created xsi:type="dcterms:W3CDTF">2026-09-08T06:05:34Z</dcterms:created>
  <dcterms:modified xsi:type="dcterms:W3CDTF">2026-09-08T06:14:48Z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2026-09-08T00:00:00Z</vt:filetime>
  </property>
  <property fmtid="{D5CDD505-2E9C-101B-9397-08002B2CF9AE}" pid="4" name="LastSaved">
    <vt:filetime>2026-09-08T00:00:00Z</vt:filetime>
  </property>
</Properties>
</file>